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DM Serif Display" pitchFamily="2" charset="0"/>
      <p:regular r:id="rId18"/>
      <p:italic r:id="rId19"/>
    </p:embeddedFont>
    <p:embeddedFont>
      <p:font typeface="Segoe UI" panose="020B0502040204020203" pitchFamily="34" charset="0"/>
      <p:regular r:id="rId20"/>
      <p:bold r:id="rId21"/>
      <p:italic r:id="rId22"/>
      <p:boldItalic r:id="rId23"/>
    </p:embeddedFont>
  </p:embeddedFontLst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0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"/>
            <a:ext cx="713232" cy="950976"/>
          </a:xfrm>
          <a:prstGeom prst="rect">
            <a:avLst/>
          </a:prstGeom>
        </p:spPr>
      </p:pic>
      <p:sp>
        <p:nvSpPr>
          <p:cNvPr id="3" name="Forma 3"/>
          <p:cNvSpPr/>
          <p:nvPr/>
        </p:nvSpPr>
        <p:spPr>
          <a:xfrm>
            <a:off x="1507316" y="246888"/>
            <a:ext cx="5760721" cy="7589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2500" b="1" spc="60" dirty="0">
                <a:solidFill>
                  <a:srgbClr val="F5EBD8"/>
                </a:solidFill>
                <a:latin typeface="Segoe UI"/>
                <a:cs typeface="Segoe UI"/>
              </a:rPr>
              <a:t>UNIVERSIDAD NACIONAL DE SAN CRISTÓBAL DE HUAMANGA</a:t>
            </a:r>
          </a:p>
        </p:txBody>
      </p:sp>
      <p:sp>
        <p:nvSpPr>
          <p:cNvPr id="4" name="Forma 4"/>
          <p:cNvSpPr/>
          <p:nvPr/>
        </p:nvSpPr>
        <p:spPr>
          <a:xfrm>
            <a:off x="1507317" y="1005840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PE" sz="1500" dirty="0">
                <a:solidFill>
                  <a:srgbClr val="B7B3A8"/>
                </a:solidFill>
                <a:latin typeface="Segoe UI"/>
                <a:cs typeface="Segoe UI"/>
              </a:rPr>
              <a:t>Facultad de Ingeniería de Minas, Geología y Civil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PE" sz="1500" dirty="0">
                <a:solidFill>
                  <a:srgbClr val="B7B3A8"/>
                </a:solidFill>
                <a:latin typeface="Segoe UI"/>
                <a:cs typeface="Segoe UI"/>
              </a:rPr>
              <a:t>Escuela Profesional de Ingeniería de Sistemas</a:t>
            </a:r>
          </a:p>
        </p:txBody>
      </p:sp>
      <p:sp>
        <p:nvSpPr>
          <p:cNvPr id="5" name="Forma 5"/>
          <p:cNvSpPr/>
          <p:nvPr/>
        </p:nvSpPr>
        <p:spPr>
          <a:xfrm>
            <a:off x="623235" y="6003004"/>
            <a:ext cx="3383280" cy="329184"/>
          </a:xfrm>
          <a:prstGeom prst="roundRect">
            <a:avLst>
              <a:gd name="adj" fmla="val 50000"/>
            </a:avLst>
          </a:prstGeom>
          <a:solidFill>
            <a:srgbClr val="FF665A"/>
          </a:solidFill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dirty="0">
                <a:solidFill>
                  <a:srgbClr val="172554"/>
                </a:solidFill>
                <a:latin typeface="Segoe UI"/>
                <a:cs typeface="Segoe UI"/>
              </a:rPr>
              <a:t>ARQUITECTURA DE SOFTWAR · IS-488</a:t>
            </a:r>
          </a:p>
        </p:txBody>
      </p:sp>
      <p:sp>
        <p:nvSpPr>
          <p:cNvPr id="6" name="Forma 6"/>
          <p:cNvSpPr/>
          <p:nvPr/>
        </p:nvSpPr>
        <p:spPr>
          <a:xfrm>
            <a:off x="623235" y="1714500"/>
            <a:ext cx="6766560" cy="21031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4200" i="1" cap="all" dirty="0">
                <a:solidFill>
                  <a:srgbClr val="F5EBD8"/>
                </a:solidFill>
                <a:latin typeface="DM Serif Display"/>
                <a:cs typeface="DM Serif Display"/>
              </a:rPr>
              <a:t>BABELHUB: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4200" i="1" cap="all" dirty="0">
                <a:solidFill>
                  <a:srgbClr val="F5EBD8"/>
                </a:solidFill>
                <a:latin typeface="DM Serif Display"/>
                <a:cs typeface="DM Serif Display"/>
              </a:rPr>
              <a:t>DE LOS REQUISITOS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4200" i="1" cap="all" dirty="0">
                <a:solidFill>
                  <a:srgbClr val="FF665A"/>
                </a:solidFill>
                <a:latin typeface="DM Serif Display"/>
                <a:cs typeface="DM Serif Display"/>
              </a:rPr>
              <a:t>A LA ARQUITECTURA</a:t>
            </a:r>
          </a:p>
        </p:txBody>
      </p:sp>
      <p:sp>
        <p:nvSpPr>
          <p:cNvPr id="7" name="Forma 7"/>
          <p:cNvSpPr/>
          <p:nvPr/>
        </p:nvSpPr>
        <p:spPr>
          <a:xfrm>
            <a:off x="623235" y="3606783"/>
            <a:ext cx="6035040" cy="6858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dirty="0">
                <a:solidFill>
                  <a:srgbClr val="B7B3A8"/>
                </a:solidFill>
                <a:latin typeface="Segoe UI"/>
                <a:cs typeface="Segoe UI"/>
              </a:rPr>
              <a:t>Tienda en línea e inventario multi-sucursal para una red de librerías.</a:t>
            </a:r>
          </a:p>
        </p:txBody>
      </p:sp>
      <p:sp>
        <p:nvSpPr>
          <p:cNvPr id="8" name="Forma 8"/>
          <p:cNvSpPr/>
          <p:nvPr/>
        </p:nvSpPr>
        <p:spPr>
          <a:xfrm>
            <a:off x="7589520" y="5726414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2600" b="1" dirty="0">
                <a:solidFill>
                  <a:srgbClr val="F5EBD8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9" name="Forma 9"/>
          <p:cNvSpPr/>
          <p:nvPr/>
        </p:nvSpPr>
        <p:spPr>
          <a:xfrm>
            <a:off x="7589520" y="616532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B7B3A8"/>
                </a:solidFill>
                <a:latin typeface="Segoe UI"/>
                <a:cs typeface="Segoe UI"/>
              </a:rPr>
              <a:t>servicios</a:t>
            </a:r>
          </a:p>
        </p:txBody>
      </p:sp>
      <p:sp>
        <p:nvSpPr>
          <p:cNvPr id="10" name="Forma 10"/>
          <p:cNvSpPr/>
          <p:nvPr/>
        </p:nvSpPr>
        <p:spPr>
          <a:xfrm>
            <a:off x="9326880" y="5726414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2600" b="1" dirty="0">
                <a:solidFill>
                  <a:srgbClr val="F5EBD8"/>
                </a:solidFill>
                <a:latin typeface="Segoe UI"/>
                <a:cs typeface="Segoe UI"/>
              </a:rPr>
              <a:t>19</a:t>
            </a:r>
          </a:p>
        </p:txBody>
      </p:sp>
      <p:sp>
        <p:nvSpPr>
          <p:cNvPr id="11" name="Forma 11"/>
          <p:cNvSpPr/>
          <p:nvPr/>
        </p:nvSpPr>
        <p:spPr>
          <a:xfrm>
            <a:off x="9326880" y="616532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B7B3A8"/>
                </a:solidFill>
                <a:latin typeface="Segoe UI"/>
                <a:cs typeface="Segoe UI"/>
              </a:rPr>
              <a:t>specs aprobadas</a:t>
            </a:r>
          </a:p>
        </p:txBody>
      </p:sp>
      <p:sp>
        <p:nvSpPr>
          <p:cNvPr id="12" name="Forma 12"/>
          <p:cNvSpPr/>
          <p:nvPr/>
        </p:nvSpPr>
        <p:spPr>
          <a:xfrm>
            <a:off x="11064240" y="5726414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2600" b="1" dirty="0">
                <a:solidFill>
                  <a:srgbClr val="F5EBD8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3" name="Forma 13"/>
          <p:cNvSpPr/>
          <p:nvPr/>
        </p:nvSpPr>
        <p:spPr>
          <a:xfrm>
            <a:off x="11064240" y="616532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B7B3A8"/>
                </a:solidFill>
                <a:latin typeface="Segoe UI"/>
                <a:cs typeface="Segoe UI"/>
              </a:rPr>
              <a:t>niveles C4</a:t>
            </a:r>
          </a:p>
        </p:txBody>
      </p:sp>
      <p:sp>
        <p:nvSpPr>
          <p:cNvPr id="14" name="Forma 14"/>
          <p:cNvSpPr/>
          <p:nvPr/>
        </p:nvSpPr>
        <p:spPr>
          <a:xfrm>
            <a:off x="623235" y="4538679"/>
            <a:ext cx="6949440" cy="1027287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PE" sz="1200" dirty="0">
                <a:solidFill>
                  <a:srgbClr val="B7B3A8"/>
                </a:solidFill>
                <a:latin typeface="Segoe UI"/>
                <a:cs typeface="Segoe UI"/>
              </a:rPr>
              <a:t>Estudiante: Diego Rodrigo Amiquero Antonio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PE" sz="1200" dirty="0">
                <a:solidFill>
                  <a:srgbClr val="B7B3A8"/>
                </a:solidFill>
                <a:latin typeface="Segoe UI"/>
                <a:cs typeface="Segoe UI"/>
              </a:rPr>
              <a:t>Docente: Ing. Lizbeth </a:t>
            </a:r>
            <a:r>
              <a:rPr lang="es-PE" sz="1200" dirty="0" err="1">
                <a:solidFill>
                  <a:srgbClr val="B7B3A8"/>
                </a:solidFill>
                <a:latin typeface="Segoe UI"/>
                <a:cs typeface="Segoe UI"/>
              </a:rPr>
              <a:t>Jaico</a:t>
            </a:r>
            <a:r>
              <a:rPr lang="es-PE" sz="1200" dirty="0">
                <a:solidFill>
                  <a:srgbClr val="B7B3A8"/>
                </a:solidFill>
                <a:latin typeface="Segoe UI"/>
                <a:cs typeface="Segoe UI"/>
              </a:rPr>
              <a:t> Quispe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PE" sz="1200" dirty="0">
                <a:solidFill>
                  <a:srgbClr val="B7B3A8"/>
                </a:solidFill>
                <a:latin typeface="Segoe UI"/>
                <a:cs typeface="Segoe UI"/>
              </a:rPr>
              <a:t>Curso: Arquitectura de software IS-488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PE" sz="1200" dirty="0">
                <a:solidFill>
                  <a:srgbClr val="B7B3A8"/>
                </a:solidFill>
                <a:latin typeface="Segoe UI"/>
                <a:cs typeface="Segoe UI"/>
              </a:rPr>
              <a:t>Ayacucho, 2026</a:t>
            </a:r>
          </a:p>
        </p:txBody>
      </p:sp>
      <p:pic>
        <p:nvPicPr>
          <p:cNvPr id="15" name="Imagen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60000">
            <a:off x="7223760" y="1417320"/>
            <a:ext cx="2194560" cy="3291840"/>
          </a:xfrm>
          <a:prstGeom prst="rect">
            <a:avLst/>
          </a:prstGeom>
        </p:spPr>
      </p:pic>
      <p:pic>
        <p:nvPicPr>
          <p:cNvPr id="16" name="Imagen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8549640" y="868680"/>
            <a:ext cx="2286000" cy="3429000"/>
          </a:xfrm>
          <a:prstGeom prst="rect">
            <a:avLst/>
          </a:prstGeom>
        </p:spPr>
      </p:pic>
      <p:pic>
        <p:nvPicPr>
          <p:cNvPr id="17" name="Imagen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0000">
            <a:off x="9601200" y="2286000"/>
            <a:ext cx="2194560" cy="32918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640080" y="155448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F665A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cxnSp>
        <p:nvCxnSpPr>
          <p:cNvPr id="3" name="Linea 3"/>
          <p:cNvCxnSpPr/>
          <p:nvPr/>
        </p:nvCxnSpPr>
        <p:spPr>
          <a:xfrm>
            <a:off x="704088" y="228600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4" name="Linea 4"/>
          <p:cNvCxnSpPr/>
          <p:nvPr/>
        </p:nvCxnSpPr>
        <p:spPr>
          <a:xfrm>
            <a:off x="905256" y="228600"/>
            <a:ext cx="0" cy="192024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5" name="Linea 5"/>
          <p:cNvCxnSpPr/>
          <p:nvPr/>
        </p:nvCxnSpPr>
        <p:spPr>
          <a:xfrm flipH="1">
            <a:off x="704088" y="420624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6" name="Linea 6"/>
          <p:cNvCxnSpPr/>
          <p:nvPr/>
        </p:nvCxnSpPr>
        <p:spPr>
          <a:xfrm flipV="1">
            <a:off x="704088" y="310896"/>
            <a:ext cx="0" cy="109728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7" name="Linea 7"/>
          <p:cNvCxnSpPr/>
          <p:nvPr/>
        </p:nvCxnSpPr>
        <p:spPr>
          <a:xfrm>
            <a:off x="704088" y="310896"/>
            <a:ext cx="118872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sp>
        <p:nvSpPr>
          <p:cNvPr id="8" name="Forma 8"/>
          <p:cNvSpPr/>
          <p:nvPr/>
        </p:nvSpPr>
        <p:spPr>
          <a:xfrm>
            <a:off x="1078992" y="128016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800" dirty="0">
                <a:solidFill>
                  <a:srgbClr val="F5EBD8"/>
                </a:solidFill>
                <a:latin typeface="DM Serif Display"/>
                <a:cs typeface="DM Serif Display"/>
              </a:rPr>
              <a:t>BabelHub</a:t>
            </a:r>
          </a:p>
        </p:txBody>
      </p:sp>
      <p:sp>
        <p:nvSpPr>
          <p:cNvPr id="9" name="Forma 9"/>
          <p:cNvSpPr/>
          <p:nvPr/>
        </p:nvSpPr>
        <p:spPr>
          <a:xfrm>
            <a:off x="10771632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Cierre</a:t>
            </a:r>
          </a:p>
        </p:txBody>
      </p:sp>
      <p:sp>
        <p:nvSpPr>
          <p:cNvPr id="10" name="Forma 10"/>
          <p:cNvSpPr/>
          <p:nvPr/>
        </p:nvSpPr>
        <p:spPr>
          <a:xfrm>
            <a:off x="10232136" y="182880"/>
            <a:ext cx="466344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C4</a:t>
            </a:r>
          </a:p>
        </p:txBody>
      </p:sp>
      <p:sp>
        <p:nvSpPr>
          <p:cNvPr id="11" name="Forma 11"/>
          <p:cNvSpPr/>
          <p:nvPr/>
        </p:nvSpPr>
        <p:spPr>
          <a:xfrm>
            <a:off x="9381744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Diseño</a:t>
            </a:r>
          </a:p>
        </p:txBody>
      </p:sp>
      <p:sp>
        <p:nvSpPr>
          <p:cNvPr id="12" name="Forma 12"/>
          <p:cNvSpPr/>
          <p:nvPr/>
        </p:nvSpPr>
        <p:spPr>
          <a:xfrm>
            <a:off x="8065008" y="182880"/>
            <a:ext cx="1243584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Arquitectura</a:t>
            </a:r>
          </a:p>
        </p:txBody>
      </p:sp>
      <p:sp>
        <p:nvSpPr>
          <p:cNvPr id="13" name="Forma 13"/>
          <p:cNvSpPr/>
          <p:nvPr/>
        </p:nvSpPr>
        <p:spPr>
          <a:xfrm>
            <a:off x="7059168" y="182880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1B2A57"/>
          </a:solidFill>
          <a:ln w="12700">
            <a:solidFill>
              <a:srgbClr val="FF665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F5EBD8"/>
                </a:solidFill>
                <a:latin typeface="Segoe UI"/>
                <a:cs typeface="Segoe UI"/>
              </a:rPr>
              <a:t>Análisis</a:t>
            </a:r>
          </a:p>
        </p:txBody>
      </p:sp>
      <p:cxnSp>
        <p:nvCxnSpPr>
          <p:cNvPr id="14" name="Linea 14"/>
          <p:cNvCxnSpPr/>
          <p:nvPr/>
        </p:nvCxnSpPr>
        <p:spPr>
          <a:xfrm>
            <a:off x="640080" y="640080"/>
            <a:ext cx="10908792" cy="0"/>
          </a:xfrm>
          <a:prstGeom prst="line">
            <a:avLst/>
          </a:prstGeom>
          <a:ln w="9525" cap="rnd">
            <a:solidFill>
              <a:srgbClr val="36457A"/>
            </a:solidFill>
            <a:round/>
          </a:ln>
        </p:spPr>
      </p:cxnSp>
      <p:sp>
        <p:nvSpPr>
          <p:cNvPr id="15" name="Forma 15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400" i="1" cap="all" dirty="0">
                <a:solidFill>
                  <a:srgbClr val="F5EBD8"/>
                </a:solidFill>
                <a:latin typeface="DM Serif Display"/>
                <a:cs typeface="DM Serif Display"/>
              </a:rPr>
              <a:t>UNA LIBRERÍA </a:t>
            </a:r>
            <a:r>
              <a:rPr lang="es-PE" sz="3400" i="1" cap="all" dirty="0">
                <a:solidFill>
                  <a:srgbClr val="FF665A"/>
                </a:solidFill>
                <a:latin typeface="DM Serif Display"/>
                <a:cs typeface="DM Serif Display"/>
              </a:rPr>
              <a:t>SIN STOCK REAL</a:t>
            </a:r>
          </a:p>
        </p:txBody>
      </p:sp>
      <p:sp>
        <p:nvSpPr>
          <p:cNvPr id="16" name="Forma 16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450" dirty="0">
                <a:solidFill>
                  <a:srgbClr val="B7B3A8"/>
                </a:solidFill>
                <a:latin typeface="Segoe UI"/>
                <a:cs typeface="Segoe UI"/>
              </a:rPr>
              <a:t>No sabe cuántos ejemplares tiene cada sucursal ni desde cuál atender o trasladar un pedido.</a:t>
            </a:r>
          </a:p>
        </p:txBody>
      </p:sp>
      <p:sp>
        <p:nvSpPr>
          <p:cNvPr id="17" name="Forma 17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Arquitectura de Software (IS-488) · UNSCH</a:t>
            </a:r>
          </a:p>
        </p:txBody>
      </p:sp>
      <p:sp>
        <p:nvSpPr>
          <p:cNvPr id="18" name="Forma 18"/>
          <p:cNvSpPr/>
          <p:nvPr/>
        </p:nvSpPr>
        <p:spPr>
          <a:xfrm>
            <a:off x="10241280" y="6473952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02 / 15</a:t>
            </a:r>
          </a:p>
        </p:txBody>
      </p:sp>
      <p:sp>
        <p:nvSpPr>
          <p:cNvPr id="19" name="Forma 19"/>
          <p:cNvSpPr/>
          <p:nvPr/>
        </p:nvSpPr>
        <p:spPr>
          <a:xfrm>
            <a:off x="640080" y="2103120"/>
            <a:ext cx="3474720" cy="137160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0" name="Forma 20"/>
          <p:cNvSpPr/>
          <p:nvPr/>
        </p:nvSpPr>
        <p:spPr>
          <a:xfrm>
            <a:off x="822960" y="214884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3400" dirty="0">
                <a:solidFill>
                  <a:srgbClr val="FF665A"/>
                </a:solidFill>
                <a:latin typeface="DM Serif Display"/>
                <a:cs typeface="DM Serif Display"/>
              </a:rPr>
              <a:t>+91 %</a:t>
            </a:r>
          </a:p>
        </p:txBody>
      </p:sp>
      <p:sp>
        <p:nvSpPr>
          <p:cNvPr id="21" name="Forma 21"/>
          <p:cNvSpPr/>
          <p:nvPr/>
        </p:nvSpPr>
        <p:spPr>
          <a:xfrm>
            <a:off x="822960" y="274320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00" dirty="0">
                <a:solidFill>
                  <a:srgbClr val="F5EBD8"/>
                </a:solidFill>
                <a:latin typeface="Segoe UI"/>
                <a:cs typeface="Segoe UI"/>
              </a:rPr>
              <a:t>de los ingresos editoriales del Perú sigue siendo del libro impreso, mientras crece la venta en línea.</a:t>
            </a:r>
          </a:p>
        </p:txBody>
      </p:sp>
      <p:sp>
        <p:nvSpPr>
          <p:cNvPr id="22" name="Forma 22"/>
          <p:cNvSpPr/>
          <p:nvPr/>
        </p:nvSpPr>
        <p:spPr>
          <a:xfrm>
            <a:off x="4361688" y="2103120"/>
            <a:ext cx="3474720" cy="137160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3" name="Forma 23"/>
          <p:cNvSpPr/>
          <p:nvPr/>
        </p:nvSpPr>
        <p:spPr>
          <a:xfrm>
            <a:off x="4544568" y="214884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3400" dirty="0">
                <a:solidFill>
                  <a:srgbClr val="FF665A"/>
                </a:solidFill>
                <a:latin typeface="DM Serif Display"/>
                <a:cs typeface="DM Serif Display"/>
              </a:rPr>
              <a:t>35+</a:t>
            </a:r>
          </a:p>
        </p:txBody>
      </p:sp>
      <p:sp>
        <p:nvSpPr>
          <p:cNvPr id="24" name="Forma 24"/>
          <p:cNvSpPr/>
          <p:nvPr/>
        </p:nvSpPr>
        <p:spPr>
          <a:xfrm>
            <a:off x="4544568" y="274320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00" dirty="0">
                <a:solidFill>
                  <a:srgbClr val="F5EBD8"/>
                </a:solidFill>
                <a:latin typeface="Segoe UI"/>
                <a:cs typeface="Segoe UI"/>
              </a:rPr>
              <a:t>tiendas de Crisol ya ofrecen recojo en tienda: el reto es la logística entre sedes.</a:t>
            </a:r>
          </a:p>
        </p:txBody>
      </p:sp>
      <p:sp>
        <p:nvSpPr>
          <p:cNvPr id="25" name="Forma 25"/>
          <p:cNvSpPr/>
          <p:nvPr/>
        </p:nvSpPr>
        <p:spPr>
          <a:xfrm>
            <a:off x="8083296" y="2103120"/>
            <a:ext cx="3474720" cy="137160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6" name="Forma 26"/>
          <p:cNvSpPr/>
          <p:nvPr/>
        </p:nvSpPr>
        <p:spPr>
          <a:xfrm>
            <a:off x="8266176" y="214884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3400" dirty="0">
                <a:solidFill>
                  <a:srgbClr val="FF665A"/>
                </a:solidFill>
                <a:latin typeface="DM Serif Display"/>
                <a:cs typeface="DM Serif Display"/>
              </a:rPr>
              <a:t>×2</a:t>
            </a:r>
          </a:p>
        </p:txBody>
      </p:sp>
      <p:sp>
        <p:nvSpPr>
          <p:cNvPr id="27" name="Forma 27"/>
          <p:cNvSpPr/>
          <p:nvPr/>
        </p:nvSpPr>
        <p:spPr>
          <a:xfrm>
            <a:off x="8266176" y="274320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00" dirty="0">
                <a:solidFill>
                  <a:srgbClr val="F5EBD8"/>
                </a:solidFill>
                <a:latin typeface="Segoe UI"/>
                <a:cs typeface="Segoe UI"/>
              </a:rPr>
              <a:t>ventas de Buscalibre en provincias frente al promedio nacional: hay demanda fuera de Lima.</a:t>
            </a:r>
          </a:p>
        </p:txBody>
      </p:sp>
      <p:sp>
        <p:nvSpPr>
          <p:cNvPr id="28" name="Forma 28"/>
          <p:cNvSpPr/>
          <p:nvPr/>
        </p:nvSpPr>
        <p:spPr>
          <a:xfrm>
            <a:off x="4480560" y="3749040"/>
            <a:ext cx="3200400" cy="530352"/>
          </a:xfrm>
          <a:prstGeom prst="roundRect">
            <a:avLst>
              <a:gd name="adj" fmla="val 2500"/>
            </a:avLst>
          </a:prstGeom>
          <a:solidFill>
            <a:srgbClr val="36C8D4"/>
          </a:solidFill>
          <a:ln>
            <a:noFill/>
          </a:ln>
        </p:spPr>
        <p:txBody>
          <a:bodyPr wrap="square" lIns="128016" tIns="128016" rIns="128016" bIns="12801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600" b="1" dirty="0">
                <a:solidFill>
                  <a:srgbClr val="0F1A3D"/>
                </a:solidFill>
                <a:latin typeface="Segoe UI"/>
                <a:cs typeface="Segoe UI"/>
              </a:rPr>
              <a:t>Tienda en línea</a:t>
            </a:r>
          </a:p>
        </p:txBody>
      </p:sp>
      <p:cxnSp>
        <p:nvCxnSpPr>
          <p:cNvPr id="29" name="Linea 29"/>
          <p:cNvCxnSpPr/>
          <p:nvPr/>
        </p:nvCxnSpPr>
        <p:spPr>
          <a:xfrm flipH="1">
            <a:off x="1490472" y="4279392"/>
            <a:ext cx="4590288" cy="429768"/>
          </a:xfrm>
          <a:prstGeom prst="line">
            <a:avLst/>
          </a:prstGeom>
          <a:ln w="15875" cap="rnd">
            <a:solidFill>
              <a:srgbClr val="36C8D4"/>
            </a:solidFill>
            <a:round/>
          </a:ln>
        </p:spPr>
      </p:cxnSp>
      <p:sp>
        <p:nvSpPr>
          <p:cNvPr id="30" name="Forma 30"/>
          <p:cNvSpPr/>
          <p:nvPr/>
        </p:nvSpPr>
        <p:spPr>
          <a:xfrm>
            <a:off x="640080" y="4709160"/>
            <a:ext cx="1700784" cy="47548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Lima</a:t>
            </a:r>
          </a:p>
        </p:txBody>
      </p:sp>
      <p:cxnSp>
        <p:nvCxnSpPr>
          <p:cNvPr id="31" name="Linea 31"/>
          <p:cNvCxnSpPr/>
          <p:nvPr/>
        </p:nvCxnSpPr>
        <p:spPr>
          <a:xfrm flipH="1">
            <a:off x="3310128" y="4279392"/>
            <a:ext cx="2770632" cy="429768"/>
          </a:xfrm>
          <a:prstGeom prst="line">
            <a:avLst/>
          </a:prstGeom>
          <a:ln w="15875" cap="rnd">
            <a:solidFill>
              <a:srgbClr val="36C8D4"/>
            </a:solidFill>
            <a:round/>
          </a:ln>
        </p:spPr>
      </p:cxnSp>
      <p:sp>
        <p:nvSpPr>
          <p:cNvPr id="32" name="Forma 32"/>
          <p:cNvSpPr/>
          <p:nvPr/>
        </p:nvSpPr>
        <p:spPr>
          <a:xfrm>
            <a:off x="2459736" y="4709160"/>
            <a:ext cx="1700784" cy="47548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Arequipa</a:t>
            </a:r>
          </a:p>
        </p:txBody>
      </p:sp>
      <p:cxnSp>
        <p:nvCxnSpPr>
          <p:cNvPr id="33" name="Linea 33"/>
          <p:cNvCxnSpPr/>
          <p:nvPr/>
        </p:nvCxnSpPr>
        <p:spPr>
          <a:xfrm flipH="1">
            <a:off x="5129784" y="4279392"/>
            <a:ext cx="950976" cy="429768"/>
          </a:xfrm>
          <a:prstGeom prst="line">
            <a:avLst/>
          </a:prstGeom>
          <a:ln w="15875" cap="rnd">
            <a:solidFill>
              <a:srgbClr val="36C8D4"/>
            </a:solidFill>
            <a:round/>
          </a:ln>
        </p:spPr>
      </p:cxnSp>
      <p:sp>
        <p:nvSpPr>
          <p:cNvPr id="34" name="Forma 34"/>
          <p:cNvSpPr/>
          <p:nvPr/>
        </p:nvSpPr>
        <p:spPr>
          <a:xfrm>
            <a:off x="4279392" y="4709160"/>
            <a:ext cx="1700784" cy="47548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Trujillo</a:t>
            </a:r>
          </a:p>
        </p:txBody>
      </p:sp>
      <p:cxnSp>
        <p:nvCxnSpPr>
          <p:cNvPr id="35" name="Linea 35"/>
          <p:cNvCxnSpPr/>
          <p:nvPr/>
        </p:nvCxnSpPr>
        <p:spPr>
          <a:xfrm>
            <a:off x="6080760" y="4279392"/>
            <a:ext cx="868680" cy="429768"/>
          </a:xfrm>
          <a:prstGeom prst="line">
            <a:avLst/>
          </a:prstGeom>
          <a:ln w="15875" cap="rnd">
            <a:solidFill>
              <a:srgbClr val="36C8D4"/>
            </a:solidFill>
            <a:round/>
          </a:ln>
        </p:spPr>
      </p:cxnSp>
      <p:sp>
        <p:nvSpPr>
          <p:cNvPr id="36" name="Forma 36"/>
          <p:cNvSpPr/>
          <p:nvPr/>
        </p:nvSpPr>
        <p:spPr>
          <a:xfrm>
            <a:off x="6099048" y="4709160"/>
            <a:ext cx="1700784" cy="47548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Cusco</a:t>
            </a:r>
          </a:p>
        </p:txBody>
      </p:sp>
      <p:cxnSp>
        <p:nvCxnSpPr>
          <p:cNvPr id="37" name="Linea 37"/>
          <p:cNvCxnSpPr/>
          <p:nvPr/>
        </p:nvCxnSpPr>
        <p:spPr>
          <a:xfrm>
            <a:off x="6080760" y="4279392"/>
            <a:ext cx="2688336" cy="429768"/>
          </a:xfrm>
          <a:prstGeom prst="line">
            <a:avLst/>
          </a:prstGeom>
          <a:ln w="15875" cap="rnd">
            <a:solidFill>
              <a:srgbClr val="36C8D4"/>
            </a:solidFill>
            <a:round/>
          </a:ln>
        </p:spPr>
      </p:cxnSp>
      <p:sp>
        <p:nvSpPr>
          <p:cNvPr id="38" name="Forma 38"/>
          <p:cNvSpPr/>
          <p:nvPr/>
        </p:nvSpPr>
        <p:spPr>
          <a:xfrm>
            <a:off x="7918704" y="4709160"/>
            <a:ext cx="1700784" cy="47548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Piura</a:t>
            </a:r>
          </a:p>
        </p:txBody>
      </p:sp>
      <p:cxnSp>
        <p:nvCxnSpPr>
          <p:cNvPr id="39" name="Linea 39"/>
          <p:cNvCxnSpPr/>
          <p:nvPr/>
        </p:nvCxnSpPr>
        <p:spPr>
          <a:xfrm>
            <a:off x="6080760" y="4279392"/>
            <a:ext cx="4507992" cy="429768"/>
          </a:xfrm>
          <a:prstGeom prst="line">
            <a:avLst/>
          </a:prstGeom>
          <a:ln w="15875" cap="rnd">
            <a:solidFill>
              <a:srgbClr val="36C8D4"/>
            </a:solidFill>
            <a:round/>
          </a:ln>
        </p:spPr>
      </p:cxnSp>
      <p:sp>
        <p:nvSpPr>
          <p:cNvPr id="40" name="Forma 40"/>
          <p:cNvSpPr/>
          <p:nvPr/>
        </p:nvSpPr>
        <p:spPr>
          <a:xfrm>
            <a:off x="9738360" y="4709160"/>
            <a:ext cx="1700784" cy="47548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Ayacucho</a:t>
            </a:r>
          </a:p>
        </p:txBody>
      </p:sp>
      <p:sp>
        <p:nvSpPr>
          <p:cNvPr id="41" name="Forma 41"/>
          <p:cNvSpPr/>
          <p:nvPr/>
        </p:nvSpPr>
        <p:spPr>
          <a:xfrm>
            <a:off x="640080" y="5440680"/>
            <a:ext cx="3474720" cy="365760"/>
          </a:xfrm>
          <a:prstGeom prst="roundRect">
            <a:avLst>
              <a:gd name="adj" fmla="val 50000"/>
            </a:avLst>
          </a:prstGeom>
          <a:noFill/>
          <a:ln w="22225">
            <a:solidFill>
              <a:srgbClr val="FF665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b="1" dirty="0">
                <a:solidFill>
                  <a:srgbClr val="F5EBD8"/>
                </a:solidFill>
                <a:latin typeface="Segoe UI"/>
                <a:cs typeface="Segoe UI"/>
              </a:rPr>
              <a:t>Sobreventa</a:t>
            </a:r>
          </a:p>
        </p:txBody>
      </p:sp>
      <p:sp>
        <p:nvSpPr>
          <p:cNvPr id="42" name="Forma 42"/>
          <p:cNvSpPr/>
          <p:nvPr/>
        </p:nvSpPr>
        <p:spPr>
          <a:xfrm>
            <a:off x="4361688" y="5440680"/>
            <a:ext cx="3474720" cy="365760"/>
          </a:xfrm>
          <a:prstGeom prst="roundRect">
            <a:avLst>
              <a:gd name="adj" fmla="val 50000"/>
            </a:avLst>
          </a:prstGeom>
          <a:noFill/>
          <a:ln w="22225">
            <a:solidFill>
              <a:srgbClr val="36C8D4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b="1" dirty="0">
                <a:solidFill>
                  <a:srgbClr val="F5EBD8"/>
                </a:solidFill>
                <a:latin typeface="Segoe UI"/>
                <a:cs typeface="Segoe UI"/>
              </a:rPr>
              <a:t>Venta perdida</a:t>
            </a:r>
          </a:p>
        </p:txBody>
      </p:sp>
      <p:sp>
        <p:nvSpPr>
          <p:cNvPr id="43" name="Forma 43"/>
          <p:cNvSpPr/>
          <p:nvPr/>
        </p:nvSpPr>
        <p:spPr>
          <a:xfrm>
            <a:off x="8083296" y="5440680"/>
            <a:ext cx="3474720" cy="365760"/>
          </a:xfrm>
          <a:prstGeom prst="roundRect">
            <a:avLst>
              <a:gd name="adj" fmla="val 50000"/>
            </a:avLst>
          </a:prstGeom>
          <a:noFill/>
          <a:ln w="22225">
            <a:solidFill>
              <a:srgbClr val="A78BF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b="1" dirty="0">
                <a:solidFill>
                  <a:srgbClr val="F5EBD8"/>
                </a:solidFill>
                <a:latin typeface="Segoe UI"/>
                <a:cs typeface="Segoe UI"/>
              </a:rPr>
              <a:t>Pedido sin estado en un traslado</a:t>
            </a:r>
          </a:p>
        </p:txBody>
      </p:sp>
      <p:sp>
        <p:nvSpPr>
          <p:cNvPr id="44" name="Forma 44"/>
          <p:cNvSpPr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Patrón de referencia: Multi-Source Inventory (Adobe Commerce). Fuentes: PwC (2025), Librerías Crisol y Gestión (2025).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640080" y="155448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F665A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cxnSp>
        <p:nvCxnSpPr>
          <p:cNvPr id="3" name="Linea 3"/>
          <p:cNvCxnSpPr/>
          <p:nvPr/>
        </p:nvCxnSpPr>
        <p:spPr>
          <a:xfrm>
            <a:off x="704088" y="228600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4" name="Linea 4"/>
          <p:cNvCxnSpPr/>
          <p:nvPr/>
        </p:nvCxnSpPr>
        <p:spPr>
          <a:xfrm>
            <a:off x="905256" y="228600"/>
            <a:ext cx="0" cy="192024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5" name="Linea 5"/>
          <p:cNvCxnSpPr/>
          <p:nvPr/>
        </p:nvCxnSpPr>
        <p:spPr>
          <a:xfrm flipH="1">
            <a:off x="704088" y="420624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6" name="Linea 6"/>
          <p:cNvCxnSpPr/>
          <p:nvPr/>
        </p:nvCxnSpPr>
        <p:spPr>
          <a:xfrm flipV="1">
            <a:off x="704088" y="310896"/>
            <a:ext cx="0" cy="109728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7" name="Linea 7"/>
          <p:cNvCxnSpPr/>
          <p:nvPr/>
        </p:nvCxnSpPr>
        <p:spPr>
          <a:xfrm>
            <a:off x="704088" y="310896"/>
            <a:ext cx="118872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sp>
        <p:nvSpPr>
          <p:cNvPr id="8" name="Forma 8"/>
          <p:cNvSpPr/>
          <p:nvPr/>
        </p:nvSpPr>
        <p:spPr>
          <a:xfrm>
            <a:off x="1078992" y="128016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800" dirty="0">
                <a:solidFill>
                  <a:srgbClr val="F5EBD8"/>
                </a:solidFill>
                <a:latin typeface="DM Serif Display"/>
                <a:cs typeface="DM Serif Display"/>
              </a:rPr>
              <a:t>BabelHub</a:t>
            </a:r>
          </a:p>
        </p:txBody>
      </p:sp>
      <p:sp>
        <p:nvSpPr>
          <p:cNvPr id="9" name="Forma 9"/>
          <p:cNvSpPr/>
          <p:nvPr/>
        </p:nvSpPr>
        <p:spPr>
          <a:xfrm>
            <a:off x="10771632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Cierre</a:t>
            </a:r>
          </a:p>
        </p:txBody>
      </p:sp>
      <p:sp>
        <p:nvSpPr>
          <p:cNvPr id="10" name="Forma 10"/>
          <p:cNvSpPr/>
          <p:nvPr/>
        </p:nvSpPr>
        <p:spPr>
          <a:xfrm>
            <a:off x="10232136" y="182880"/>
            <a:ext cx="466344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C4</a:t>
            </a:r>
          </a:p>
        </p:txBody>
      </p:sp>
      <p:sp>
        <p:nvSpPr>
          <p:cNvPr id="11" name="Forma 11"/>
          <p:cNvSpPr/>
          <p:nvPr/>
        </p:nvSpPr>
        <p:spPr>
          <a:xfrm>
            <a:off x="9381744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Diseño</a:t>
            </a:r>
          </a:p>
        </p:txBody>
      </p:sp>
      <p:sp>
        <p:nvSpPr>
          <p:cNvPr id="12" name="Forma 12"/>
          <p:cNvSpPr/>
          <p:nvPr/>
        </p:nvSpPr>
        <p:spPr>
          <a:xfrm>
            <a:off x="8065008" y="182880"/>
            <a:ext cx="1243584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Arquitectura</a:t>
            </a:r>
          </a:p>
        </p:txBody>
      </p:sp>
      <p:sp>
        <p:nvSpPr>
          <p:cNvPr id="13" name="Forma 13"/>
          <p:cNvSpPr/>
          <p:nvPr/>
        </p:nvSpPr>
        <p:spPr>
          <a:xfrm>
            <a:off x="7059168" y="182880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1B2A57"/>
          </a:solidFill>
          <a:ln w="12700">
            <a:solidFill>
              <a:srgbClr val="FF665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F5EBD8"/>
                </a:solidFill>
                <a:latin typeface="Segoe UI"/>
                <a:cs typeface="Segoe UI"/>
              </a:rPr>
              <a:t>Análisis</a:t>
            </a:r>
          </a:p>
        </p:txBody>
      </p:sp>
      <p:cxnSp>
        <p:nvCxnSpPr>
          <p:cNvPr id="14" name="Linea 14"/>
          <p:cNvCxnSpPr/>
          <p:nvPr/>
        </p:nvCxnSpPr>
        <p:spPr>
          <a:xfrm>
            <a:off x="640080" y="640080"/>
            <a:ext cx="10908792" cy="0"/>
          </a:xfrm>
          <a:prstGeom prst="line">
            <a:avLst/>
          </a:prstGeom>
          <a:ln w="9525" cap="rnd">
            <a:solidFill>
              <a:srgbClr val="36457A"/>
            </a:solidFill>
            <a:round/>
          </a:ln>
        </p:spPr>
      </p:cxnSp>
      <p:sp>
        <p:nvSpPr>
          <p:cNvPr id="15" name="Forma 15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400" i="1" cap="all" dirty="0">
                <a:solidFill>
                  <a:srgbClr val="F5EBD8"/>
                </a:solidFill>
                <a:latin typeface="DM Serif Display"/>
                <a:cs typeface="DM Serif Display"/>
              </a:rPr>
              <a:t>DE LAS NECESIDADES A LOS </a:t>
            </a:r>
            <a:r>
              <a:rPr lang="es-PE" sz="3400" i="1" cap="all" dirty="0">
                <a:solidFill>
                  <a:srgbClr val="FF665A"/>
                </a:solidFill>
                <a:latin typeface="DM Serif Display"/>
                <a:cs typeface="DM Serif Display"/>
              </a:rPr>
              <a:t>REQUISITOS</a:t>
            </a:r>
          </a:p>
        </p:txBody>
      </p:sp>
      <p:sp>
        <p:nvSpPr>
          <p:cNvPr id="16" name="Forma 16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Arquitectura de Software (IS-488) · UNSCH</a:t>
            </a:r>
          </a:p>
        </p:txBody>
      </p:sp>
      <p:sp>
        <p:nvSpPr>
          <p:cNvPr id="17" name="Forma 17"/>
          <p:cNvSpPr/>
          <p:nvPr/>
        </p:nvSpPr>
        <p:spPr>
          <a:xfrm>
            <a:off x="10241280" y="6473952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03 / 15</a:t>
            </a:r>
          </a:p>
        </p:txBody>
      </p:sp>
      <p:sp>
        <p:nvSpPr>
          <p:cNvPr id="18" name="Forma 18"/>
          <p:cNvSpPr/>
          <p:nvPr/>
        </p:nvSpPr>
        <p:spPr>
          <a:xfrm>
            <a:off x="640080" y="1783080"/>
            <a:ext cx="2651760" cy="10972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19" name="Forma 19"/>
          <p:cNvSpPr/>
          <p:nvPr/>
        </p:nvSpPr>
        <p:spPr>
          <a:xfrm>
            <a:off x="804672" y="18745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cap="all" spc="80" dirty="0">
                <a:solidFill>
                  <a:srgbClr val="B7B3A8"/>
                </a:solidFill>
                <a:latin typeface="Segoe UI"/>
                <a:cs typeface="Segoe UI"/>
              </a:rPr>
              <a:t>NECESIDADES</a:t>
            </a:r>
          </a:p>
        </p:txBody>
      </p:sp>
      <p:sp>
        <p:nvSpPr>
          <p:cNvPr id="20" name="Forma 20"/>
          <p:cNvSpPr/>
          <p:nvPr/>
        </p:nvSpPr>
        <p:spPr>
          <a:xfrm>
            <a:off x="804672" y="214884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3200" b="1" dirty="0">
                <a:solidFill>
                  <a:srgbClr val="F5EBD8"/>
                </a:solidFill>
                <a:latin typeface="Segoe UI"/>
                <a:cs typeface="Segoe UI"/>
              </a:rPr>
              <a:t>18</a:t>
            </a:r>
          </a:p>
        </p:txBody>
      </p:sp>
      <p:sp>
        <p:nvSpPr>
          <p:cNvPr id="21" name="Forma 21"/>
          <p:cNvSpPr/>
          <p:nvPr/>
        </p:nvSpPr>
        <p:spPr>
          <a:xfrm>
            <a:off x="3419856" y="1783080"/>
            <a:ext cx="2651760" cy="10972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2" name="Forma 22"/>
          <p:cNvSpPr/>
          <p:nvPr/>
        </p:nvSpPr>
        <p:spPr>
          <a:xfrm>
            <a:off x="3584448" y="18745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cap="all" spc="80" dirty="0">
                <a:solidFill>
                  <a:srgbClr val="B7B3A8"/>
                </a:solidFill>
                <a:latin typeface="Segoe UI"/>
                <a:cs typeface="Segoe UI"/>
              </a:rPr>
              <a:t>FUNCIONALES</a:t>
            </a:r>
          </a:p>
        </p:txBody>
      </p:sp>
      <p:sp>
        <p:nvSpPr>
          <p:cNvPr id="23" name="Forma 23"/>
          <p:cNvSpPr/>
          <p:nvPr/>
        </p:nvSpPr>
        <p:spPr>
          <a:xfrm>
            <a:off x="3584448" y="214884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3200" b="1" dirty="0">
                <a:solidFill>
                  <a:srgbClr val="F5EBD8"/>
                </a:solidFill>
                <a:latin typeface="Segoe UI"/>
                <a:cs typeface="Segoe UI"/>
              </a:rPr>
              <a:t>29</a:t>
            </a:r>
          </a:p>
        </p:txBody>
      </p:sp>
      <p:sp>
        <p:nvSpPr>
          <p:cNvPr id="24" name="Forma 24"/>
          <p:cNvSpPr/>
          <p:nvPr/>
        </p:nvSpPr>
        <p:spPr>
          <a:xfrm>
            <a:off x="6199632" y="1783080"/>
            <a:ext cx="2651760" cy="10972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5" name="Forma 25"/>
          <p:cNvSpPr/>
          <p:nvPr/>
        </p:nvSpPr>
        <p:spPr>
          <a:xfrm>
            <a:off x="6364224" y="18745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cap="all" spc="80" dirty="0">
                <a:solidFill>
                  <a:srgbClr val="B7B3A8"/>
                </a:solidFill>
                <a:latin typeface="Segoe UI"/>
                <a:cs typeface="Segoe UI"/>
              </a:rPr>
              <a:t>NO FUNCIONALES</a:t>
            </a:r>
          </a:p>
        </p:txBody>
      </p:sp>
      <p:sp>
        <p:nvSpPr>
          <p:cNvPr id="26" name="Forma 26"/>
          <p:cNvSpPr/>
          <p:nvPr/>
        </p:nvSpPr>
        <p:spPr>
          <a:xfrm>
            <a:off x="6364224" y="214884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3200" b="1" dirty="0">
                <a:solidFill>
                  <a:srgbClr val="FF665A"/>
                </a:solidFill>
                <a:latin typeface="Segoe UI"/>
                <a:cs typeface="Segoe UI"/>
              </a:rPr>
              <a:t>28</a:t>
            </a:r>
          </a:p>
        </p:txBody>
      </p:sp>
      <p:sp>
        <p:nvSpPr>
          <p:cNvPr id="27" name="Forma 27"/>
          <p:cNvSpPr/>
          <p:nvPr/>
        </p:nvSpPr>
        <p:spPr>
          <a:xfrm>
            <a:off x="8979408" y="1783080"/>
            <a:ext cx="2651760" cy="10972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8" name="Forma 28"/>
          <p:cNvSpPr/>
          <p:nvPr/>
        </p:nvSpPr>
        <p:spPr>
          <a:xfrm>
            <a:off x="9144000" y="18745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cap="all" spc="80" dirty="0">
                <a:solidFill>
                  <a:srgbClr val="B7B3A8"/>
                </a:solidFill>
                <a:latin typeface="Segoe UI"/>
                <a:cs typeface="Segoe UI"/>
              </a:rPr>
              <a:t>RESTRICCIONES</a:t>
            </a:r>
          </a:p>
        </p:txBody>
      </p:sp>
      <p:sp>
        <p:nvSpPr>
          <p:cNvPr id="29" name="Forma 29"/>
          <p:cNvSpPr/>
          <p:nvPr/>
        </p:nvSpPr>
        <p:spPr>
          <a:xfrm>
            <a:off x="9144000" y="214884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3200" b="1" dirty="0">
                <a:solidFill>
                  <a:srgbClr val="F5EBD8"/>
                </a:solidFill>
                <a:latin typeface="Segoe UI"/>
                <a:cs typeface="Segoe UI"/>
              </a:rPr>
              <a:t>18</a:t>
            </a:r>
          </a:p>
        </p:txBody>
      </p:sp>
      <p:sp>
        <p:nvSpPr>
          <p:cNvPr id="30" name="Forma 30"/>
          <p:cNvSpPr/>
          <p:nvPr/>
        </p:nvSpPr>
        <p:spPr>
          <a:xfrm>
            <a:off x="640080" y="3063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spc="80" dirty="0">
                <a:solidFill>
                  <a:srgbClr val="B7B3A8"/>
                </a:solidFill>
                <a:latin typeface="Segoe UI"/>
                <a:cs typeface="Segoe UI"/>
              </a:rPr>
              <a:t>PROCESOS QUE CUBRE</a:t>
            </a:r>
          </a:p>
        </p:txBody>
      </p:sp>
      <p:sp>
        <p:nvSpPr>
          <p:cNvPr id="31" name="Forma 31"/>
          <p:cNvSpPr/>
          <p:nvPr/>
        </p:nvSpPr>
        <p:spPr>
          <a:xfrm>
            <a:off x="640080" y="3383280"/>
            <a:ext cx="2880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6457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00" b="1" dirty="0">
                <a:solidFill>
                  <a:srgbClr val="F5EBD8"/>
                </a:solidFill>
                <a:latin typeface="Segoe UI"/>
                <a:cs typeface="Segoe UI"/>
              </a:rPr>
              <a:t>Catálogo</a:t>
            </a:r>
          </a:p>
        </p:txBody>
      </p:sp>
      <p:sp>
        <p:nvSpPr>
          <p:cNvPr id="32" name="Forma 32"/>
          <p:cNvSpPr/>
          <p:nvPr/>
        </p:nvSpPr>
        <p:spPr>
          <a:xfrm>
            <a:off x="3657600" y="3383280"/>
            <a:ext cx="2880360" cy="4572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F665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00" b="1" dirty="0">
                <a:solidFill>
                  <a:srgbClr val="F5EBD8"/>
                </a:solidFill>
                <a:latin typeface="Segoe UI"/>
                <a:cs typeface="Segoe UI"/>
              </a:rPr>
              <a:t>Inventario multi-sucursal</a:t>
            </a:r>
          </a:p>
        </p:txBody>
      </p:sp>
      <p:sp>
        <p:nvSpPr>
          <p:cNvPr id="33" name="Forma 33"/>
          <p:cNvSpPr/>
          <p:nvPr/>
        </p:nvSpPr>
        <p:spPr>
          <a:xfrm>
            <a:off x="640080" y="4041648"/>
            <a:ext cx="2880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6457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00" b="1" dirty="0">
                <a:solidFill>
                  <a:srgbClr val="F5EBD8"/>
                </a:solidFill>
                <a:latin typeface="Segoe UI"/>
                <a:cs typeface="Segoe UI"/>
              </a:rPr>
              <a:t>Carrito y checkout</a:t>
            </a:r>
          </a:p>
        </p:txBody>
      </p:sp>
      <p:sp>
        <p:nvSpPr>
          <p:cNvPr id="34" name="Forma 34"/>
          <p:cNvSpPr/>
          <p:nvPr/>
        </p:nvSpPr>
        <p:spPr>
          <a:xfrm>
            <a:off x="3657600" y="4041648"/>
            <a:ext cx="2880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6457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00" b="1" dirty="0">
                <a:solidFill>
                  <a:srgbClr val="F5EBD8"/>
                </a:solidFill>
                <a:latin typeface="Segoe UI"/>
                <a:cs typeface="Segoe UI"/>
              </a:rPr>
              <a:t>Pedidos, envíos y devoluciones</a:t>
            </a:r>
          </a:p>
        </p:txBody>
      </p:sp>
      <p:sp>
        <p:nvSpPr>
          <p:cNvPr id="35" name="Forma 35"/>
          <p:cNvSpPr/>
          <p:nvPr/>
        </p:nvSpPr>
        <p:spPr>
          <a:xfrm>
            <a:off x="640080" y="4700016"/>
            <a:ext cx="2880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6457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00" b="1" dirty="0">
                <a:solidFill>
                  <a:srgbClr val="F5EBD8"/>
                </a:solidFill>
                <a:latin typeface="Segoe UI"/>
                <a:cs typeface="Segoe UI"/>
              </a:rPr>
              <a:t>Libros digitales</a:t>
            </a:r>
          </a:p>
        </p:txBody>
      </p:sp>
      <p:sp>
        <p:nvSpPr>
          <p:cNvPr id="36" name="Forma 36"/>
          <p:cNvSpPr/>
          <p:nvPr/>
        </p:nvSpPr>
        <p:spPr>
          <a:xfrm>
            <a:off x="3657600" y="4700016"/>
            <a:ext cx="2880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6457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00" b="1" dirty="0">
                <a:solidFill>
                  <a:srgbClr val="F5EBD8"/>
                </a:solidFill>
                <a:latin typeface="Segoe UI"/>
                <a:cs typeface="Segoe UI"/>
              </a:rPr>
              <a:t>Asistente de compra</a:t>
            </a:r>
          </a:p>
        </p:txBody>
      </p:sp>
      <p:sp>
        <p:nvSpPr>
          <p:cNvPr id="37" name="Forma 37"/>
          <p:cNvSpPr/>
          <p:nvPr/>
        </p:nvSpPr>
        <p:spPr>
          <a:xfrm>
            <a:off x="640080" y="5358384"/>
            <a:ext cx="2880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6457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00" b="1" dirty="0">
                <a:solidFill>
                  <a:srgbClr val="F5EBD8"/>
                </a:solidFill>
                <a:latin typeface="Segoe UI"/>
                <a:cs typeface="Segoe UI"/>
              </a:rPr>
              <a:t>Identidad y cumplimiento</a:t>
            </a:r>
          </a:p>
        </p:txBody>
      </p:sp>
      <p:sp>
        <p:nvSpPr>
          <p:cNvPr id="38" name="Forma 38"/>
          <p:cNvSpPr/>
          <p:nvPr/>
        </p:nvSpPr>
        <p:spPr>
          <a:xfrm>
            <a:off x="6812280" y="3063240"/>
            <a:ext cx="4736592" cy="233172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9" name="Forma 39"/>
          <p:cNvSpPr/>
          <p:nvPr/>
        </p:nvSpPr>
        <p:spPr>
          <a:xfrm>
            <a:off x="7040880" y="315468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700" dirty="0">
                <a:solidFill>
                  <a:srgbClr val="F5EBD8"/>
                </a:solidFill>
                <a:latin typeface="DM Serif Display"/>
                <a:cs typeface="DM Serif Display"/>
              </a:rPr>
              <a:t>Condiciones del proyecto</a:t>
            </a:r>
          </a:p>
        </p:txBody>
      </p:sp>
      <p:sp>
        <p:nvSpPr>
          <p:cNvPr id="40" name="Forma 40"/>
          <p:cNvSpPr/>
          <p:nvPr/>
        </p:nvSpPr>
        <p:spPr>
          <a:xfrm>
            <a:off x="7040880" y="3611880"/>
            <a:ext cx="4297680" cy="2560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665A"/>
              </a:buClr>
              <a:buFont typeface="Arial"/>
              <a:buChar char="•"/>
            </a:pPr>
            <a:r>
              <a:rPr lang="es-PE" sz="1300" dirty="0">
                <a:solidFill>
                  <a:srgbClr val="F5EBD8"/>
                </a:solidFill>
                <a:latin typeface="Segoe UI"/>
                <a:cs typeface="Segoe UI"/>
              </a:rPr>
              <a:t>Costo mínimo: Oracle Free Tier y servicios gratuitos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665A"/>
              </a:buClr>
              <a:buFont typeface="Arial"/>
              <a:buChar char="•"/>
            </a:pPr>
            <a:r>
              <a:rPr lang="es-PE" sz="1300" dirty="0">
                <a:solidFill>
                  <a:srgbClr val="F5EBD8"/>
                </a:solidFill>
                <a:latin typeface="Segoe UI"/>
                <a:cs typeface="Segoe UI"/>
              </a:rPr>
              <a:t>De 5 a 10 sucursales, hasta unas 20 sin rediseñar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665A"/>
              </a:buClr>
              <a:buFont typeface="Arial"/>
              <a:buChar char="•"/>
            </a:pPr>
            <a:r>
              <a:rPr lang="es-PE" sz="1300" dirty="0">
                <a:solidFill>
                  <a:srgbClr val="F5EBD8"/>
                </a:solidFill>
                <a:latin typeface="Segoe UI"/>
                <a:cs typeface="Segoe UI"/>
              </a:rPr>
              <a:t>Marco legal: Ley N.° 29733 y Libro de Reclamaciones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665A"/>
              </a:buClr>
              <a:buFont typeface="Arial"/>
              <a:buChar char="•"/>
            </a:pPr>
            <a:r>
              <a:rPr lang="es-PE" sz="1300" dirty="0">
                <a:solidFill>
                  <a:srgbClr val="F5EBD8"/>
                </a:solidFill>
                <a:latin typeface="Segoe UI"/>
                <a:cs typeface="Segoe UI"/>
              </a:rPr>
              <a:t>Fuera de esta versión: indicadores (RF21) y app móvil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640080" y="155448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F665A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cxnSp>
        <p:nvCxnSpPr>
          <p:cNvPr id="3" name="Linea 3"/>
          <p:cNvCxnSpPr/>
          <p:nvPr/>
        </p:nvCxnSpPr>
        <p:spPr>
          <a:xfrm>
            <a:off x="704088" y="228600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4" name="Linea 4"/>
          <p:cNvCxnSpPr/>
          <p:nvPr/>
        </p:nvCxnSpPr>
        <p:spPr>
          <a:xfrm>
            <a:off x="905256" y="228600"/>
            <a:ext cx="0" cy="192024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5" name="Linea 5"/>
          <p:cNvCxnSpPr/>
          <p:nvPr/>
        </p:nvCxnSpPr>
        <p:spPr>
          <a:xfrm flipH="1">
            <a:off x="704088" y="420624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6" name="Linea 6"/>
          <p:cNvCxnSpPr/>
          <p:nvPr/>
        </p:nvCxnSpPr>
        <p:spPr>
          <a:xfrm flipV="1">
            <a:off x="704088" y="310896"/>
            <a:ext cx="0" cy="109728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7" name="Linea 7"/>
          <p:cNvCxnSpPr/>
          <p:nvPr/>
        </p:nvCxnSpPr>
        <p:spPr>
          <a:xfrm>
            <a:off x="704088" y="310896"/>
            <a:ext cx="118872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sp>
        <p:nvSpPr>
          <p:cNvPr id="8" name="Forma 8"/>
          <p:cNvSpPr/>
          <p:nvPr/>
        </p:nvSpPr>
        <p:spPr>
          <a:xfrm>
            <a:off x="1078992" y="128016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800" dirty="0">
                <a:solidFill>
                  <a:srgbClr val="F5EBD8"/>
                </a:solidFill>
                <a:latin typeface="DM Serif Display"/>
                <a:cs typeface="DM Serif Display"/>
              </a:rPr>
              <a:t>BabelHub</a:t>
            </a:r>
          </a:p>
        </p:txBody>
      </p:sp>
      <p:sp>
        <p:nvSpPr>
          <p:cNvPr id="9" name="Forma 9"/>
          <p:cNvSpPr/>
          <p:nvPr/>
        </p:nvSpPr>
        <p:spPr>
          <a:xfrm>
            <a:off x="10771632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Cierre</a:t>
            </a:r>
          </a:p>
        </p:txBody>
      </p:sp>
      <p:sp>
        <p:nvSpPr>
          <p:cNvPr id="10" name="Forma 10"/>
          <p:cNvSpPr/>
          <p:nvPr/>
        </p:nvSpPr>
        <p:spPr>
          <a:xfrm>
            <a:off x="10232136" y="182880"/>
            <a:ext cx="466344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C4</a:t>
            </a:r>
          </a:p>
        </p:txBody>
      </p:sp>
      <p:sp>
        <p:nvSpPr>
          <p:cNvPr id="11" name="Forma 11"/>
          <p:cNvSpPr/>
          <p:nvPr/>
        </p:nvSpPr>
        <p:spPr>
          <a:xfrm>
            <a:off x="9381744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Diseño</a:t>
            </a:r>
          </a:p>
        </p:txBody>
      </p:sp>
      <p:sp>
        <p:nvSpPr>
          <p:cNvPr id="12" name="Forma 12"/>
          <p:cNvSpPr/>
          <p:nvPr/>
        </p:nvSpPr>
        <p:spPr>
          <a:xfrm>
            <a:off x="8065008" y="182880"/>
            <a:ext cx="1243584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Arquitectura</a:t>
            </a:r>
          </a:p>
        </p:txBody>
      </p:sp>
      <p:sp>
        <p:nvSpPr>
          <p:cNvPr id="13" name="Forma 13"/>
          <p:cNvSpPr/>
          <p:nvPr/>
        </p:nvSpPr>
        <p:spPr>
          <a:xfrm>
            <a:off x="7059168" y="182880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1B2A57"/>
          </a:solidFill>
          <a:ln w="12700">
            <a:solidFill>
              <a:srgbClr val="FF665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F5EBD8"/>
                </a:solidFill>
                <a:latin typeface="Segoe UI"/>
                <a:cs typeface="Segoe UI"/>
              </a:rPr>
              <a:t>Análisis</a:t>
            </a:r>
          </a:p>
        </p:txBody>
      </p:sp>
      <p:cxnSp>
        <p:nvCxnSpPr>
          <p:cNvPr id="14" name="Linea 14"/>
          <p:cNvCxnSpPr/>
          <p:nvPr/>
        </p:nvCxnSpPr>
        <p:spPr>
          <a:xfrm>
            <a:off x="640080" y="640080"/>
            <a:ext cx="10908792" cy="0"/>
          </a:xfrm>
          <a:prstGeom prst="line">
            <a:avLst/>
          </a:prstGeom>
          <a:ln w="9525" cap="rnd">
            <a:solidFill>
              <a:srgbClr val="36457A"/>
            </a:solidFill>
            <a:round/>
          </a:ln>
        </p:spPr>
      </p:cxnSp>
      <p:sp>
        <p:nvSpPr>
          <p:cNvPr id="15" name="Forma 15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400" i="1" cap="all" dirty="0">
                <a:solidFill>
                  <a:srgbClr val="F5EBD8"/>
                </a:solidFill>
                <a:latin typeface="DM Serif Display"/>
                <a:cs typeface="DM Serif Display"/>
              </a:rPr>
              <a:t>LA CALIDAD </a:t>
            </a:r>
            <a:r>
              <a:rPr lang="es-PE" sz="3400" i="1" cap="all" dirty="0">
                <a:solidFill>
                  <a:srgbClr val="FF665A"/>
                </a:solidFill>
                <a:latin typeface="DM Serif Display"/>
                <a:cs typeface="DM Serif Display"/>
              </a:rPr>
              <a:t>DEFINE</a:t>
            </a:r>
            <a:r>
              <a:rPr lang="es-PE" sz="3400" i="1" cap="all" dirty="0">
                <a:solidFill>
                  <a:srgbClr val="F5EBD8"/>
                </a:solidFill>
                <a:latin typeface="DM Serif Display"/>
                <a:cs typeface="DM Serif Display"/>
              </a:rPr>
              <a:t> LA ARQUITECTURA</a:t>
            </a:r>
          </a:p>
        </p:txBody>
      </p:sp>
      <p:sp>
        <p:nvSpPr>
          <p:cNvPr id="16" name="Forma 16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Arquitectura de Software (IS-488) · UNSCH</a:t>
            </a:r>
          </a:p>
        </p:txBody>
      </p:sp>
      <p:sp>
        <p:nvSpPr>
          <p:cNvPr id="17" name="Forma 17"/>
          <p:cNvSpPr/>
          <p:nvPr/>
        </p:nvSpPr>
        <p:spPr>
          <a:xfrm>
            <a:off x="10241280" y="6473952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04 / 15</a:t>
            </a:r>
          </a:p>
        </p:txBody>
      </p:sp>
      <p:sp>
        <p:nvSpPr>
          <p:cNvPr id="18" name="Forma 18"/>
          <p:cNvSpPr/>
          <p:nvPr/>
        </p:nvSpPr>
        <p:spPr>
          <a:xfrm>
            <a:off x="640080" y="1783080"/>
            <a:ext cx="3840480" cy="33832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31750">
            <a:solidFill>
              <a:srgbClr val="FF665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19" name="Forma 19"/>
          <p:cNvSpPr/>
          <p:nvPr/>
        </p:nvSpPr>
        <p:spPr>
          <a:xfrm>
            <a:off x="868680" y="192024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665A"/>
          </a:solidFill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950" b="1" dirty="0">
                <a:solidFill>
                  <a:srgbClr val="172554"/>
                </a:solidFill>
                <a:latin typeface="Segoe UI"/>
                <a:cs typeface="Segoe UI"/>
              </a:rPr>
              <a:t>CRÍTICA</a:t>
            </a:r>
          </a:p>
        </p:txBody>
      </p:sp>
      <p:sp>
        <p:nvSpPr>
          <p:cNvPr id="20" name="Forma 20"/>
          <p:cNvSpPr/>
          <p:nvPr/>
        </p:nvSpPr>
        <p:spPr>
          <a:xfrm>
            <a:off x="868680" y="2331720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2100" dirty="0">
                <a:solidFill>
                  <a:srgbClr val="F5EBD8"/>
                </a:solidFill>
                <a:latin typeface="DM Serif Display"/>
                <a:cs typeface="DM Serif Display"/>
              </a:rPr>
              <a:t>AC01 Consistencia de inventario</a:t>
            </a:r>
          </a:p>
        </p:txBody>
      </p:sp>
      <p:sp>
        <p:nvSpPr>
          <p:cNvPr id="21" name="Forma 21"/>
          <p:cNvSpPr/>
          <p:nvPr/>
        </p:nvSpPr>
        <p:spPr>
          <a:xfrm>
            <a:off x="868680" y="3200400"/>
            <a:ext cx="3383280" cy="10058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00" dirty="0">
                <a:solidFill>
                  <a:srgbClr val="B7B3A8"/>
                </a:solidFill>
                <a:latin typeface="Segoe UI"/>
                <a:cs typeface="Segoe UI"/>
              </a:rPr>
              <a:t>Dos clientes compran la última unidad a la vez: se concede una reserva y se rechaza la otra.</a:t>
            </a:r>
          </a:p>
        </p:txBody>
      </p:sp>
      <p:sp>
        <p:nvSpPr>
          <p:cNvPr id="22" name="Forma 22"/>
          <p:cNvSpPr/>
          <p:nvPr/>
        </p:nvSpPr>
        <p:spPr>
          <a:xfrm>
            <a:off x="868680" y="4251960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400" b="1" dirty="0">
                <a:solidFill>
                  <a:srgbClr val="A9E85E"/>
                </a:solidFill>
                <a:latin typeface="Segoe UI"/>
                <a:cs typeface="Segoe UI"/>
              </a:rPr>
              <a:t>0 casos de stock vendible negativo en pruebas de concurrencia</a:t>
            </a:r>
          </a:p>
        </p:txBody>
      </p:sp>
      <p:sp>
        <p:nvSpPr>
          <p:cNvPr id="23" name="Forma 23"/>
          <p:cNvSpPr/>
          <p:nvPr/>
        </p:nvSpPr>
        <p:spPr>
          <a:xfrm>
            <a:off x="4663440" y="1783080"/>
            <a:ext cx="2194560" cy="160020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4" name="Forma 24"/>
          <p:cNvSpPr/>
          <p:nvPr/>
        </p:nvSpPr>
        <p:spPr>
          <a:xfrm>
            <a:off x="4800600" y="189280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950" b="1" spc="50" dirty="0">
                <a:solidFill>
                  <a:srgbClr val="FF665A"/>
                </a:solidFill>
                <a:latin typeface="Segoe UI"/>
                <a:cs typeface="Segoe UI"/>
              </a:rPr>
              <a:t>AC02 RENDIMIENTO</a:t>
            </a:r>
          </a:p>
        </p:txBody>
      </p:sp>
      <p:sp>
        <p:nvSpPr>
          <p:cNvPr id="25" name="Forma 25"/>
          <p:cNvSpPr/>
          <p:nvPr/>
        </p:nvSpPr>
        <p:spPr>
          <a:xfrm>
            <a:off x="4800600" y="2423160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dirty="0">
                <a:solidFill>
                  <a:srgbClr val="F5EBD8"/>
                </a:solidFill>
                <a:latin typeface="Segoe UI"/>
                <a:cs typeface="Segoe UI"/>
              </a:rPr>
              <a:t>p95 &lt; 500 ms con 50 usuarios</a:t>
            </a:r>
          </a:p>
        </p:txBody>
      </p:sp>
      <p:sp>
        <p:nvSpPr>
          <p:cNvPr id="26" name="Forma 26"/>
          <p:cNvSpPr/>
          <p:nvPr/>
        </p:nvSpPr>
        <p:spPr>
          <a:xfrm>
            <a:off x="6995160" y="1783080"/>
            <a:ext cx="2194560" cy="160020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7" name="Forma 27"/>
          <p:cNvSpPr/>
          <p:nvPr/>
        </p:nvSpPr>
        <p:spPr>
          <a:xfrm>
            <a:off x="7132320" y="189280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950" b="1" spc="50" dirty="0">
                <a:solidFill>
                  <a:srgbClr val="FF665A"/>
                </a:solidFill>
                <a:latin typeface="Segoe UI"/>
                <a:cs typeface="Segoe UI"/>
              </a:rPr>
              <a:t>AC03 DISPONIBILIDAD</a:t>
            </a:r>
          </a:p>
        </p:txBody>
      </p:sp>
      <p:sp>
        <p:nvSpPr>
          <p:cNvPr id="28" name="Forma 28"/>
          <p:cNvSpPr/>
          <p:nvPr/>
        </p:nvSpPr>
        <p:spPr>
          <a:xfrm>
            <a:off x="7132320" y="2423160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dirty="0">
                <a:solidFill>
                  <a:srgbClr val="F5EBD8"/>
                </a:solidFill>
                <a:latin typeface="Segoe UI"/>
                <a:cs typeface="Segoe UI"/>
              </a:rPr>
              <a:t>≥ 99 %; el checkout informa en vez de cobrar a ciegas</a:t>
            </a:r>
          </a:p>
        </p:txBody>
      </p:sp>
      <p:sp>
        <p:nvSpPr>
          <p:cNvPr id="29" name="Forma 29"/>
          <p:cNvSpPr/>
          <p:nvPr/>
        </p:nvSpPr>
        <p:spPr>
          <a:xfrm>
            <a:off x="9326880" y="1783080"/>
            <a:ext cx="2194560" cy="160020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0" name="Forma 30"/>
          <p:cNvSpPr/>
          <p:nvPr/>
        </p:nvSpPr>
        <p:spPr>
          <a:xfrm>
            <a:off x="9464040" y="189280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950" b="1" spc="50" dirty="0">
                <a:solidFill>
                  <a:srgbClr val="FF665A"/>
                </a:solidFill>
                <a:latin typeface="Segoe UI"/>
                <a:cs typeface="Segoe UI"/>
              </a:rPr>
              <a:t>AC05 · AC09 · AC11 · AC13</a:t>
            </a:r>
          </a:p>
        </p:txBody>
      </p:sp>
      <p:sp>
        <p:nvSpPr>
          <p:cNvPr id="31" name="Forma 31"/>
          <p:cNvSpPr/>
          <p:nvPr/>
        </p:nvSpPr>
        <p:spPr>
          <a:xfrm>
            <a:off x="9464040" y="2423160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dirty="0">
                <a:solidFill>
                  <a:srgbClr val="F5EBD8"/>
                </a:solidFill>
                <a:latin typeface="Segoe UI"/>
                <a:cs typeface="Segoe UI"/>
              </a:rPr>
              <a:t>Seguridad, contenido digital, privacidad y abuso</a:t>
            </a:r>
          </a:p>
        </p:txBody>
      </p:sp>
      <p:sp>
        <p:nvSpPr>
          <p:cNvPr id="32" name="Forma 32"/>
          <p:cNvSpPr/>
          <p:nvPr/>
        </p:nvSpPr>
        <p:spPr>
          <a:xfrm>
            <a:off x="4663440" y="3520440"/>
            <a:ext cx="2194560" cy="160020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3" name="Forma 33"/>
          <p:cNvSpPr/>
          <p:nvPr/>
        </p:nvSpPr>
        <p:spPr>
          <a:xfrm>
            <a:off x="4800600" y="363016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950" b="1" spc="50" dirty="0">
                <a:solidFill>
                  <a:srgbClr val="FF665A"/>
                </a:solidFill>
                <a:latin typeface="Segoe UI"/>
                <a:cs typeface="Segoe UI"/>
              </a:rPr>
              <a:t>AC10 ACCESIBILIDAD</a:t>
            </a:r>
          </a:p>
        </p:txBody>
      </p:sp>
      <p:sp>
        <p:nvSpPr>
          <p:cNvPr id="34" name="Forma 34"/>
          <p:cNvSpPr/>
          <p:nvPr/>
        </p:nvSpPr>
        <p:spPr>
          <a:xfrm>
            <a:off x="4800600" y="4160520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dirty="0">
                <a:solidFill>
                  <a:srgbClr val="F5EBD8"/>
                </a:solidFill>
                <a:latin typeface="Segoe UI"/>
                <a:cs typeface="Segoe UI"/>
              </a:rPr>
              <a:t>WCAG 2.2 AA: 0 fallos críticos</a:t>
            </a:r>
          </a:p>
        </p:txBody>
      </p:sp>
      <p:sp>
        <p:nvSpPr>
          <p:cNvPr id="35" name="Forma 35"/>
          <p:cNvSpPr/>
          <p:nvPr/>
        </p:nvSpPr>
        <p:spPr>
          <a:xfrm>
            <a:off x="6995160" y="3520440"/>
            <a:ext cx="2194560" cy="160020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6" name="Forma 36"/>
          <p:cNvSpPr/>
          <p:nvPr/>
        </p:nvSpPr>
        <p:spPr>
          <a:xfrm>
            <a:off x="7132320" y="363016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950" b="1" spc="50" dirty="0">
                <a:solidFill>
                  <a:srgbClr val="FF665A"/>
                </a:solidFill>
                <a:latin typeface="Segoe UI"/>
                <a:cs typeface="Segoe UI"/>
              </a:rPr>
              <a:t>AC04 · AC06 · AC07</a:t>
            </a:r>
          </a:p>
        </p:txBody>
      </p:sp>
      <p:sp>
        <p:nvSpPr>
          <p:cNvPr id="37" name="Forma 37"/>
          <p:cNvSpPr/>
          <p:nvPr/>
        </p:nvSpPr>
        <p:spPr>
          <a:xfrm>
            <a:off x="7132320" y="4160520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dirty="0">
                <a:solidFill>
                  <a:srgbClr val="F5EBD8"/>
                </a:solidFill>
                <a:latin typeface="Segoe UI"/>
                <a:cs typeface="Segoe UI"/>
              </a:rPr>
              <a:t>Escalar, mantener y portar sin rediseño</a:t>
            </a:r>
          </a:p>
        </p:txBody>
      </p:sp>
      <p:sp>
        <p:nvSpPr>
          <p:cNvPr id="38" name="Forma 38"/>
          <p:cNvSpPr/>
          <p:nvPr/>
        </p:nvSpPr>
        <p:spPr>
          <a:xfrm>
            <a:off x="9326880" y="3520440"/>
            <a:ext cx="2194560" cy="160020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9" name="Forma 39"/>
          <p:cNvSpPr/>
          <p:nvPr/>
        </p:nvSpPr>
        <p:spPr>
          <a:xfrm>
            <a:off x="9464040" y="363016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950" b="1" spc="50" dirty="0">
                <a:solidFill>
                  <a:srgbClr val="FF665A"/>
                </a:solidFill>
                <a:latin typeface="Segoe UI"/>
                <a:cs typeface="Segoe UI"/>
              </a:rPr>
              <a:t>AC08 · AC12 · AC14</a:t>
            </a:r>
          </a:p>
        </p:txBody>
      </p:sp>
      <p:sp>
        <p:nvSpPr>
          <p:cNvPr id="40" name="Forma 40"/>
          <p:cNvSpPr/>
          <p:nvPr/>
        </p:nvSpPr>
        <p:spPr>
          <a:xfrm>
            <a:off x="9464040" y="4160520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dirty="0">
                <a:solidFill>
                  <a:srgbClr val="F5EBD8"/>
                </a:solidFill>
                <a:latin typeface="Segoe UI"/>
                <a:cs typeface="Segoe UI"/>
              </a:rPr>
              <a:t>Usabilidad, recuperación y compatibilidad</a:t>
            </a:r>
          </a:p>
        </p:txBody>
      </p:sp>
      <p:sp>
        <p:nvSpPr>
          <p:cNvPr id="41" name="Forma 41"/>
          <p:cNvSpPr/>
          <p:nvPr/>
        </p:nvSpPr>
        <p:spPr>
          <a:xfrm>
            <a:off x="640080" y="5394960"/>
            <a:ext cx="10908792" cy="777240"/>
          </a:xfrm>
          <a:prstGeom prst="roundRect">
            <a:avLst>
              <a:gd name="adj" fmla="val 2500"/>
            </a:avLst>
          </a:prstGeom>
          <a:solidFill>
            <a:srgbClr val="1B2A57"/>
          </a:solidFill>
          <a:ln w="12700">
            <a:solidFill>
              <a:srgbClr val="36457A"/>
            </a:solidFill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dirty="0">
                <a:solidFill>
                  <a:srgbClr val="F5EBD8"/>
                </a:solidFill>
                <a:latin typeface="Segoe UI"/>
                <a:cs typeface="Segoe UI"/>
              </a:rPr>
              <a:t>Tensión principal: la disponibilidad (AC03) y la eficiencia (AC07) chocan con los recursos gratuitos. Se acepta ≥ 99 % sin redundancia, con reinicio automático, degradación controlada y respaldos.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640080" y="155448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F665A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cxnSp>
        <p:nvCxnSpPr>
          <p:cNvPr id="3" name="Linea 3"/>
          <p:cNvCxnSpPr/>
          <p:nvPr/>
        </p:nvCxnSpPr>
        <p:spPr>
          <a:xfrm>
            <a:off x="704088" y="228600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4" name="Linea 4"/>
          <p:cNvCxnSpPr/>
          <p:nvPr/>
        </p:nvCxnSpPr>
        <p:spPr>
          <a:xfrm>
            <a:off x="905256" y="228600"/>
            <a:ext cx="0" cy="192024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5" name="Linea 5"/>
          <p:cNvCxnSpPr/>
          <p:nvPr/>
        </p:nvCxnSpPr>
        <p:spPr>
          <a:xfrm flipH="1">
            <a:off x="704088" y="420624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6" name="Linea 6"/>
          <p:cNvCxnSpPr/>
          <p:nvPr/>
        </p:nvCxnSpPr>
        <p:spPr>
          <a:xfrm flipV="1">
            <a:off x="704088" y="310896"/>
            <a:ext cx="0" cy="109728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7" name="Linea 7"/>
          <p:cNvCxnSpPr/>
          <p:nvPr/>
        </p:nvCxnSpPr>
        <p:spPr>
          <a:xfrm>
            <a:off x="704088" y="310896"/>
            <a:ext cx="118872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sp>
        <p:nvSpPr>
          <p:cNvPr id="8" name="Forma 8"/>
          <p:cNvSpPr/>
          <p:nvPr/>
        </p:nvSpPr>
        <p:spPr>
          <a:xfrm>
            <a:off x="1078992" y="128016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800" dirty="0">
                <a:solidFill>
                  <a:srgbClr val="F5EBD8"/>
                </a:solidFill>
                <a:latin typeface="DM Serif Display"/>
                <a:cs typeface="DM Serif Display"/>
              </a:rPr>
              <a:t>BabelHub</a:t>
            </a:r>
          </a:p>
        </p:txBody>
      </p:sp>
      <p:sp>
        <p:nvSpPr>
          <p:cNvPr id="9" name="Forma 9"/>
          <p:cNvSpPr/>
          <p:nvPr/>
        </p:nvSpPr>
        <p:spPr>
          <a:xfrm>
            <a:off x="10771632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Cierre</a:t>
            </a:r>
          </a:p>
        </p:txBody>
      </p:sp>
      <p:sp>
        <p:nvSpPr>
          <p:cNvPr id="10" name="Forma 10"/>
          <p:cNvSpPr/>
          <p:nvPr/>
        </p:nvSpPr>
        <p:spPr>
          <a:xfrm>
            <a:off x="10232136" y="182880"/>
            <a:ext cx="466344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C4</a:t>
            </a:r>
          </a:p>
        </p:txBody>
      </p:sp>
      <p:sp>
        <p:nvSpPr>
          <p:cNvPr id="11" name="Forma 11"/>
          <p:cNvSpPr/>
          <p:nvPr/>
        </p:nvSpPr>
        <p:spPr>
          <a:xfrm>
            <a:off x="9381744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Diseño</a:t>
            </a:r>
          </a:p>
        </p:txBody>
      </p:sp>
      <p:sp>
        <p:nvSpPr>
          <p:cNvPr id="12" name="Forma 12"/>
          <p:cNvSpPr/>
          <p:nvPr/>
        </p:nvSpPr>
        <p:spPr>
          <a:xfrm>
            <a:off x="8065008" y="182880"/>
            <a:ext cx="1243584" cy="274320"/>
          </a:xfrm>
          <a:prstGeom prst="roundRect">
            <a:avLst>
              <a:gd name="adj" fmla="val 50000"/>
            </a:avLst>
          </a:prstGeom>
          <a:solidFill>
            <a:srgbClr val="1B2A57"/>
          </a:solidFill>
          <a:ln w="12700">
            <a:solidFill>
              <a:srgbClr val="FF665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F5EBD8"/>
                </a:solidFill>
                <a:latin typeface="Segoe UI"/>
                <a:cs typeface="Segoe UI"/>
              </a:rPr>
              <a:t>Arquitectura</a:t>
            </a:r>
          </a:p>
        </p:txBody>
      </p:sp>
      <p:sp>
        <p:nvSpPr>
          <p:cNvPr id="13" name="Forma 13"/>
          <p:cNvSpPr/>
          <p:nvPr/>
        </p:nvSpPr>
        <p:spPr>
          <a:xfrm>
            <a:off x="7059168" y="182880"/>
            <a:ext cx="932688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Análisis</a:t>
            </a:r>
          </a:p>
        </p:txBody>
      </p:sp>
      <p:cxnSp>
        <p:nvCxnSpPr>
          <p:cNvPr id="14" name="Linea 14"/>
          <p:cNvCxnSpPr/>
          <p:nvPr/>
        </p:nvCxnSpPr>
        <p:spPr>
          <a:xfrm>
            <a:off x="640080" y="640080"/>
            <a:ext cx="10908792" cy="0"/>
          </a:xfrm>
          <a:prstGeom prst="line">
            <a:avLst/>
          </a:prstGeom>
          <a:ln w="9525" cap="rnd">
            <a:solidFill>
              <a:srgbClr val="36457A"/>
            </a:solidFill>
            <a:round/>
          </a:ln>
        </p:spPr>
      </p:cxnSp>
      <p:sp>
        <p:nvSpPr>
          <p:cNvPr id="15" name="Forma 15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400" i="1" cap="all" dirty="0">
                <a:solidFill>
                  <a:srgbClr val="F5EBD8"/>
                </a:solidFill>
                <a:latin typeface="DM Serif Display"/>
                <a:cs typeface="DM Serif Display"/>
              </a:rPr>
              <a:t>DE LOS DRIVERS A LAS </a:t>
            </a:r>
            <a:r>
              <a:rPr lang="es-PE" sz="3400" i="1" cap="all" dirty="0">
                <a:solidFill>
                  <a:srgbClr val="FF665A"/>
                </a:solidFill>
                <a:latin typeface="DM Serif Display"/>
                <a:cs typeface="DM Serif Display"/>
              </a:rPr>
              <a:t>DECISIONES</a:t>
            </a:r>
          </a:p>
        </p:txBody>
      </p:sp>
      <p:sp>
        <p:nvSpPr>
          <p:cNvPr id="16" name="Forma 16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Arquitectura de Software (IS-488) · UNSCH</a:t>
            </a:r>
          </a:p>
        </p:txBody>
      </p:sp>
      <p:sp>
        <p:nvSpPr>
          <p:cNvPr id="17" name="Forma 17"/>
          <p:cNvSpPr/>
          <p:nvPr/>
        </p:nvSpPr>
        <p:spPr>
          <a:xfrm>
            <a:off x="10241280" y="6473952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05 / 15</a:t>
            </a:r>
          </a:p>
        </p:txBody>
      </p:sp>
      <p:sp>
        <p:nvSpPr>
          <p:cNvPr id="18" name="Forma 18"/>
          <p:cNvSpPr/>
          <p:nvPr/>
        </p:nvSpPr>
        <p:spPr>
          <a:xfrm>
            <a:off x="640080" y="1783080"/>
            <a:ext cx="1261872" cy="8686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19" name="Forma 19"/>
          <p:cNvSpPr/>
          <p:nvPr/>
        </p:nvSpPr>
        <p:spPr>
          <a:xfrm>
            <a:off x="685800" y="1847088"/>
            <a:ext cx="1170432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Necesidades</a:t>
            </a:r>
          </a:p>
        </p:txBody>
      </p:sp>
      <p:sp>
        <p:nvSpPr>
          <p:cNvPr id="20" name="Forma 20"/>
          <p:cNvSpPr/>
          <p:nvPr/>
        </p:nvSpPr>
        <p:spPr>
          <a:xfrm>
            <a:off x="685800" y="2240280"/>
            <a:ext cx="1170432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NN01–NN18</a:t>
            </a:r>
          </a:p>
        </p:txBody>
      </p:sp>
      <p:cxnSp>
        <p:nvCxnSpPr>
          <p:cNvPr id="21" name="Linea 21"/>
          <p:cNvCxnSpPr/>
          <p:nvPr/>
        </p:nvCxnSpPr>
        <p:spPr>
          <a:xfrm>
            <a:off x="1901952" y="2212848"/>
            <a:ext cx="118872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22" name="Forma 22"/>
          <p:cNvSpPr/>
          <p:nvPr/>
        </p:nvSpPr>
        <p:spPr>
          <a:xfrm>
            <a:off x="2020824" y="1783080"/>
            <a:ext cx="1261872" cy="8686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3" name="Forma 23"/>
          <p:cNvSpPr/>
          <p:nvPr/>
        </p:nvSpPr>
        <p:spPr>
          <a:xfrm>
            <a:off x="2066544" y="1847088"/>
            <a:ext cx="1170432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Requisitos</a:t>
            </a:r>
          </a:p>
        </p:txBody>
      </p:sp>
      <p:sp>
        <p:nvSpPr>
          <p:cNvPr id="24" name="Forma 24"/>
          <p:cNvSpPr/>
          <p:nvPr/>
        </p:nvSpPr>
        <p:spPr>
          <a:xfrm>
            <a:off x="2066544" y="2240280"/>
            <a:ext cx="1170432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RF · RNF · RC</a:t>
            </a:r>
          </a:p>
        </p:txBody>
      </p:sp>
      <p:cxnSp>
        <p:nvCxnSpPr>
          <p:cNvPr id="25" name="Linea 25"/>
          <p:cNvCxnSpPr/>
          <p:nvPr/>
        </p:nvCxnSpPr>
        <p:spPr>
          <a:xfrm>
            <a:off x="3282696" y="2212848"/>
            <a:ext cx="118872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26" name="Forma 26"/>
          <p:cNvSpPr/>
          <p:nvPr/>
        </p:nvSpPr>
        <p:spPr>
          <a:xfrm>
            <a:off x="3401568" y="1783080"/>
            <a:ext cx="1261872" cy="8686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7" name="Forma 27"/>
          <p:cNvSpPr/>
          <p:nvPr/>
        </p:nvSpPr>
        <p:spPr>
          <a:xfrm>
            <a:off x="3447288" y="1847088"/>
            <a:ext cx="1170432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Atributos</a:t>
            </a:r>
          </a:p>
        </p:txBody>
      </p:sp>
      <p:sp>
        <p:nvSpPr>
          <p:cNvPr id="28" name="Forma 28"/>
          <p:cNvSpPr/>
          <p:nvPr/>
        </p:nvSpPr>
        <p:spPr>
          <a:xfrm>
            <a:off x="3447288" y="2240280"/>
            <a:ext cx="1170432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AC01–AC14</a:t>
            </a:r>
          </a:p>
        </p:txBody>
      </p:sp>
      <p:cxnSp>
        <p:nvCxnSpPr>
          <p:cNvPr id="29" name="Linea 29"/>
          <p:cNvCxnSpPr/>
          <p:nvPr/>
        </p:nvCxnSpPr>
        <p:spPr>
          <a:xfrm>
            <a:off x="4663440" y="2212848"/>
            <a:ext cx="118872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30" name="Forma 30"/>
          <p:cNvSpPr/>
          <p:nvPr/>
        </p:nvSpPr>
        <p:spPr>
          <a:xfrm>
            <a:off x="4782312" y="1783080"/>
            <a:ext cx="1261872" cy="8686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1" name="Forma 31"/>
          <p:cNvSpPr/>
          <p:nvPr/>
        </p:nvSpPr>
        <p:spPr>
          <a:xfrm>
            <a:off x="4828032" y="1847088"/>
            <a:ext cx="1170432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Drivers</a:t>
            </a:r>
          </a:p>
        </p:txBody>
      </p:sp>
      <p:sp>
        <p:nvSpPr>
          <p:cNvPr id="32" name="Forma 32"/>
          <p:cNvSpPr/>
          <p:nvPr/>
        </p:nvSpPr>
        <p:spPr>
          <a:xfrm>
            <a:off x="4828032" y="2240280"/>
            <a:ext cx="1170432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DA01–DA17</a:t>
            </a:r>
          </a:p>
        </p:txBody>
      </p:sp>
      <p:cxnSp>
        <p:nvCxnSpPr>
          <p:cNvPr id="33" name="Linea 33"/>
          <p:cNvCxnSpPr/>
          <p:nvPr/>
        </p:nvCxnSpPr>
        <p:spPr>
          <a:xfrm>
            <a:off x="6044184" y="2212848"/>
            <a:ext cx="118872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34" name="Forma 34"/>
          <p:cNvSpPr/>
          <p:nvPr/>
        </p:nvSpPr>
        <p:spPr>
          <a:xfrm>
            <a:off x="6163056" y="1783080"/>
            <a:ext cx="1261872" cy="868680"/>
          </a:xfrm>
          <a:prstGeom prst="roundRect">
            <a:avLst>
              <a:gd name="adj" fmla="val 2500"/>
            </a:avLst>
          </a:prstGeom>
          <a:solidFill>
            <a:srgbClr val="FF665A"/>
          </a:solidFill>
          <a:ln>
            <a:noFill/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5" name="Forma 35"/>
          <p:cNvSpPr/>
          <p:nvPr/>
        </p:nvSpPr>
        <p:spPr>
          <a:xfrm>
            <a:off x="6208776" y="1847088"/>
            <a:ext cx="1170432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172554"/>
                </a:solidFill>
                <a:latin typeface="Segoe UI"/>
                <a:cs typeface="Segoe UI"/>
              </a:rPr>
              <a:t>Decisiones</a:t>
            </a:r>
          </a:p>
        </p:txBody>
      </p:sp>
      <p:sp>
        <p:nvSpPr>
          <p:cNvPr id="36" name="Forma 36"/>
          <p:cNvSpPr/>
          <p:nvPr/>
        </p:nvSpPr>
        <p:spPr>
          <a:xfrm>
            <a:off x="6208776" y="2240280"/>
            <a:ext cx="1170432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172554"/>
                </a:solidFill>
                <a:latin typeface="Segoe UI"/>
                <a:cs typeface="Segoe UI"/>
              </a:rPr>
              <a:t>AD01–AD30</a:t>
            </a:r>
          </a:p>
        </p:txBody>
      </p:sp>
      <p:cxnSp>
        <p:nvCxnSpPr>
          <p:cNvPr id="37" name="Linea 37"/>
          <p:cNvCxnSpPr/>
          <p:nvPr/>
        </p:nvCxnSpPr>
        <p:spPr>
          <a:xfrm>
            <a:off x="7424928" y="2212848"/>
            <a:ext cx="118872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38" name="Forma 38"/>
          <p:cNvSpPr/>
          <p:nvPr/>
        </p:nvSpPr>
        <p:spPr>
          <a:xfrm>
            <a:off x="7543800" y="1783080"/>
            <a:ext cx="1261872" cy="8686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9" name="Forma 39"/>
          <p:cNvSpPr/>
          <p:nvPr/>
        </p:nvSpPr>
        <p:spPr>
          <a:xfrm>
            <a:off x="7589520" y="1847088"/>
            <a:ext cx="1170432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Estilo</a:t>
            </a:r>
          </a:p>
        </p:txBody>
      </p:sp>
      <p:sp>
        <p:nvSpPr>
          <p:cNvPr id="40" name="Forma 40"/>
          <p:cNvSpPr/>
          <p:nvPr/>
        </p:nvSpPr>
        <p:spPr>
          <a:xfrm>
            <a:off x="7589520" y="2240280"/>
            <a:ext cx="1170432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servicios + capas</a:t>
            </a:r>
          </a:p>
        </p:txBody>
      </p:sp>
      <p:cxnSp>
        <p:nvCxnSpPr>
          <p:cNvPr id="41" name="Linea 41"/>
          <p:cNvCxnSpPr/>
          <p:nvPr/>
        </p:nvCxnSpPr>
        <p:spPr>
          <a:xfrm>
            <a:off x="8805672" y="2212848"/>
            <a:ext cx="118872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42" name="Forma 42"/>
          <p:cNvSpPr/>
          <p:nvPr/>
        </p:nvSpPr>
        <p:spPr>
          <a:xfrm>
            <a:off x="8924544" y="1783080"/>
            <a:ext cx="1261872" cy="8686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43" name="Forma 43"/>
          <p:cNvSpPr/>
          <p:nvPr/>
        </p:nvSpPr>
        <p:spPr>
          <a:xfrm>
            <a:off x="8970264" y="1847088"/>
            <a:ext cx="1170432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Modelo C4</a:t>
            </a:r>
          </a:p>
        </p:txBody>
      </p:sp>
      <p:sp>
        <p:nvSpPr>
          <p:cNvPr id="44" name="Forma 44"/>
          <p:cNvSpPr/>
          <p:nvPr/>
        </p:nvSpPr>
        <p:spPr>
          <a:xfrm>
            <a:off x="8970264" y="2240280"/>
            <a:ext cx="1170432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3 niveles</a:t>
            </a:r>
          </a:p>
        </p:txBody>
      </p:sp>
      <p:cxnSp>
        <p:nvCxnSpPr>
          <p:cNvPr id="45" name="Linea 45"/>
          <p:cNvCxnSpPr/>
          <p:nvPr/>
        </p:nvCxnSpPr>
        <p:spPr>
          <a:xfrm>
            <a:off x="10186416" y="2212848"/>
            <a:ext cx="118872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46" name="Forma 46"/>
          <p:cNvSpPr/>
          <p:nvPr/>
        </p:nvSpPr>
        <p:spPr>
          <a:xfrm>
            <a:off x="10305288" y="1783080"/>
            <a:ext cx="1261872" cy="8686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47" name="Forma 47"/>
          <p:cNvSpPr/>
          <p:nvPr/>
        </p:nvSpPr>
        <p:spPr>
          <a:xfrm>
            <a:off x="10351008" y="1847088"/>
            <a:ext cx="1170432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Specs</a:t>
            </a:r>
          </a:p>
        </p:txBody>
      </p:sp>
      <p:sp>
        <p:nvSpPr>
          <p:cNvPr id="48" name="Forma 48"/>
          <p:cNvSpPr/>
          <p:nvPr/>
        </p:nvSpPr>
        <p:spPr>
          <a:xfrm>
            <a:off x="10351008" y="2240280"/>
            <a:ext cx="1170432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19 aprobadas</a:t>
            </a:r>
          </a:p>
        </p:txBody>
      </p:sp>
      <p:sp>
        <p:nvSpPr>
          <p:cNvPr id="49" name="Forma 49"/>
          <p:cNvSpPr/>
          <p:nvPr/>
        </p:nvSpPr>
        <p:spPr>
          <a:xfrm>
            <a:off x="640080" y="2926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spc="80" dirty="0">
                <a:solidFill>
                  <a:srgbClr val="B7B3A8"/>
                </a:solidFill>
                <a:latin typeface="Segoe UI"/>
                <a:cs typeface="Segoe UI"/>
              </a:rPr>
              <a:t>TRES DRIVERS Y LO QUE PROVOCAN</a:t>
            </a:r>
          </a:p>
        </p:txBody>
      </p:sp>
      <p:sp>
        <p:nvSpPr>
          <p:cNvPr id="50" name="Forma 50"/>
          <p:cNvSpPr/>
          <p:nvPr/>
        </p:nvSpPr>
        <p:spPr>
          <a:xfrm>
            <a:off x="640080" y="3291840"/>
            <a:ext cx="3108960" cy="82296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22225">
            <a:solidFill>
              <a:srgbClr val="FF665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51" name="Forma 51"/>
          <p:cNvSpPr/>
          <p:nvPr/>
        </p:nvSpPr>
        <p:spPr>
          <a:xfrm>
            <a:off x="777240" y="334670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dirty="0">
                <a:solidFill>
                  <a:srgbClr val="FF665A"/>
                </a:solidFill>
                <a:latin typeface="Segoe UI"/>
                <a:cs typeface="Segoe UI"/>
              </a:rPr>
              <a:t>DA01</a:t>
            </a:r>
          </a:p>
        </p:txBody>
      </p:sp>
      <p:sp>
        <p:nvSpPr>
          <p:cNvPr id="52" name="Forma 52"/>
          <p:cNvSpPr/>
          <p:nvPr/>
        </p:nvSpPr>
        <p:spPr>
          <a:xfrm>
            <a:off x="777240" y="3621024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500" dirty="0">
                <a:solidFill>
                  <a:srgbClr val="F5EBD8"/>
                </a:solidFill>
                <a:latin typeface="DM Serif Display"/>
                <a:cs typeface="DM Serif Display"/>
              </a:rPr>
              <a:t>Evitar la sobreventa</a:t>
            </a:r>
          </a:p>
        </p:txBody>
      </p:sp>
      <p:cxnSp>
        <p:nvCxnSpPr>
          <p:cNvPr id="53" name="Linea 53"/>
          <p:cNvCxnSpPr/>
          <p:nvPr/>
        </p:nvCxnSpPr>
        <p:spPr>
          <a:xfrm>
            <a:off x="3749040" y="3703320"/>
            <a:ext cx="274320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54" name="Forma 54"/>
          <p:cNvSpPr/>
          <p:nvPr/>
        </p:nvSpPr>
        <p:spPr>
          <a:xfrm>
            <a:off x="4023360" y="3291840"/>
            <a:ext cx="4663440" cy="82296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00" dirty="0">
                <a:solidFill>
                  <a:srgbClr val="F5EBD8"/>
                </a:solidFill>
                <a:latin typeface="Segoe UI"/>
                <a:cs typeface="Segoe UI"/>
              </a:rPr>
              <a:t>Servicio y base de datos propios con reservas transaccionales</a:t>
            </a:r>
          </a:p>
        </p:txBody>
      </p:sp>
      <p:cxnSp>
        <p:nvCxnSpPr>
          <p:cNvPr id="55" name="Linea 55"/>
          <p:cNvCxnSpPr/>
          <p:nvPr/>
        </p:nvCxnSpPr>
        <p:spPr>
          <a:xfrm>
            <a:off x="8686800" y="3703320"/>
            <a:ext cx="274320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56" name="Forma 56"/>
          <p:cNvSpPr/>
          <p:nvPr/>
        </p:nvSpPr>
        <p:spPr>
          <a:xfrm>
            <a:off x="8961120" y="3291840"/>
            <a:ext cx="2587752" cy="822960"/>
          </a:xfrm>
          <a:prstGeom prst="roundRect">
            <a:avLst>
              <a:gd name="adj" fmla="val 2500"/>
            </a:avLst>
          </a:prstGeom>
          <a:solidFill>
            <a:srgbClr val="1B2A57"/>
          </a:solidFill>
          <a:ln w="12700">
            <a:solidFill>
              <a:srgbClr val="36457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AD01 · AD03 · AD08 · AD23</a:t>
            </a:r>
          </a:p>
        </p:txBody>
      </p:sp>
      <p:sp>
        <p:nvSpPr>
          <p:cNvPr id="57" name="Forma 57"/>
          <p:cNvSpPr/>
          <p:nvPr/>
        </p:nvSpPr>
        <p:spPr>
          <a:xfrm>
            <a:off x="640080" y="4251960"/>
            <a:ext cx="3108960" cy="82296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22225">
            <a:solidFill>
              <a:srgbClr val="36C8D4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58" name="Forma 58"/>
          <p:cNvSpPr/>
          <p:nvPr/>
        </p:nvSpPr>
        <p:spPr>
          <a:xfrm>
            <a:off x="777240" y="430682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dirty="0">
                <a:solidFill>
                  <a:srgbClr val="36C8D4"/>
                </a:solidFill>
                <a:latin typeface="Segoe UI"/>
                <a:cs typeface="Segoe UI"/>
              </a:rPr>
              <a:t>DA09</a:t>
            </a:r>
          </a:p>
        </p:txBody>
      </p:sp>
      <p:sp>
        <p:nvSpPr>
          <p:cNvPr id="59" name="Forma 59"/>
          <p:cNvSpPr/>
          <p:nvPr/>
        </p:nvSpPr>
        <p:spPr>
          <a:xfrm>
            <a:off x="777240" y="4581144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500" dirty="0">
                <a:solidFill>
                  <a:srgbClr val="F5EBD8"/>
                </a:solidFill>
                <a:latin typeface="DM Serif Display"/>
                <a:cs typeface="DM Serif Display"/>
              </a:rPr>
              <a:t>Recursos gratuitos ARM</a:t>
            </a:r>
          </a:p>
        </p:txBody>
      </p:sp>
      <p:cxnSp>
        <p:nvCxnSpPr>
          <p:cNvPr id="60" name="Linea 60"/>
          <p:cNvCxnSpPr/>
          <p:nvPr/>
        </p:nvCxnSpPr>
        <p:spPr>
          <a:xfrm>
            <a:off x="3749040" y="4663440"/>
            <a:ext cx="274320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61" name="Forma 61"/>
          <p:cNvSpPr/>
          <p:nvPr/>
        </p:nvSpPr>
        <p:spPr>
          <a:xfrm>
            <a:off x="4023360" y="4251960"/>
            <a:ext cx="4663440" cy="82296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00" dirty="0">
                <a:solidFill>
                  <a:srgbClr val="F5EBD8"/>
                </a:solidFill>
                <a:latin typeface="Segoe UI"/>
                <a:cs typeface="Segoe UI"/>
              </a:rPr>
              <a:t>Pocos servicios gruesos y dos VMs, con la base aparte</a:t>
            </a:r>
          </a:p>
        </p:txBody>
      </p:sp>
      <p:cxnSp>
        <p:nvCxnSpPr>
          <p:cNvPr id="62" name="Linea 62"/>
          <p:cNvCxnSpPr/>
          <p:nvPr/>
        </p:nvCxnSpPr>
        <p:spPr>
          <a:xfrm>
            <a:off x="8686800" y="4663440"/>
            <a:ext cx="274320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63" name="Forma 63"/>
          <p:cNvSpPr/>
          <p:nvPr/>
        </p:nvSpPr>
        <p:spPr>
          <a:xfrm>
            <a:off x="8961120" y="4251960"/>
            <a:ext cx="2587752" cy="822960"/>
          </a:xfrm>
          <a:prstGeom prst="roundRect">
            <a:avLst>
              <a:gd name="adj" fmla="val 2500"/>
            </a:avLst>
          </a:prstGeom>
          <a:solidFill>
            <a:srgbClr val="1B2A57"/>
          </a:solidFill>
          <a:ln w="12700">
            <a:solidFill>
              <a:srgbClr val="36457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AD02 · AD10 a AD14</a:t>
            </a:r>
          </a:p>
        </p:txBody>
      </p:sp>
      <p:sp>
        <p:nvSpPr>
          <p:cNvPr id="64" name="Forma 64"/>
          <p:cNvSpPr/>
          <p:nvPr/>
        </p:nvSpPr>
        <p:spPr>
          <a:xfrm>
            <a:off x="640080" y="5212080"/>
            <a:ext cx="3108960" cy="82296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22225">
            <a:solidFill>
              <a:srgbClr val="A78BF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65" name="Forma 65"/>
          <p:cNvSpPr/>
          <p:nvPr/>
        </p:nvSpPr>
        <p:spPr>
          <a:xfrm>
            <a:off x="777240" y="526694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dirty="0">
                <a:solidFill>
                  <a:srgbClr val="A78BFA"/>
                </a:solidFill>
                <a:latin typeface="Segoe UI"/>
                <a:cs typeface="Segoe UI"/>
              </a:rPr>
              <a:t>DA05</a:t>
            </a:r>
          </a:p>
        </p:txBody>
      </p:sp>
      <p:sp>
        <p:nvSpPr>
          <p:cNvPr id="66" name="Forma 66"/>
          <p:cNvSpPr/>
          <p:nvPr/>
        </p:nvSpPr>
        <p:spPr>
          <a:xfrm>
            <a:off x="777240" y="5541264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500" dirty="0">
                <a:solidFill>
                  <a:srgbClr val="F5EBD8"/>
                </a:solidFill>
                <a:latin typeface="DM Serif Display"/>
                <a:cs typeface="DM Serif Display"/>
              </a:rPr>
              <a:t>Acceso por sucursal</a:t>
            </a:r>
          </a:p>
        </p:txBody>
      </p:sp>
      <p:cxnSp>
        <p:nvCxnSpPr>
          <p:cNvPr id="67" name="Linea 67"/>
          <p:cNvCxnSpPr/>
          <p:nvPr/>
        </p:nvCxnSpPr>
        <p:spPr>
          <a:xfrm>
            <a:off x="3749040" y="5623560"/>
            <a:ext cx="274320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68" name="Forma 68"/>
          <p:cNvSpPr/>
          <p:nvPr/>
        </p:nvSpPr>
        <p:spPr>
          <a:xfrm>
            <a:off x="4023360" y="5212080"/>
            <a:ext cx="4663440" cy="82296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00" dirty="0">
                <a:solidFill>
                  <a:srgbClr val="F5EBD8"/>
                </a:solidFill>
                <a:latin typeface="Segoe UI"/>
                <a:cs typeface="Segoe UI"/>
              </a:rPr>
              <a:t>Identidad central y token fuera del navegador</a:t>
            </a:r>
          </a:p>
        </p:txBody>
      </p:sp>
      <p:cxnSp>
        <p:nvCxnSpPr>
          <p:cNvPr id="69" name="Linea 69"/>
          <p:cNvCxnSpPr/>
          <p:nvPr/>
        </p:nvCxnSpPr>
        <p:spPr>
          <a:xfrm>
            <a:off x="8686800" y="5623560"/>
            <a:ext cx="274320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70" name="Forma 70"/>
          <p:cNvSpPr/>
          <p:nvPr/>
        </p:nvSpPr>
        <p:spPr>
          <a:xfrm>
            <a:off x="8961120" y="5212080"/>
            <a:ext cx="2587752" cy="822960"/>
          </a:xfrm>
          <a:prstGeom prst="roundRect">
            <a:avLst>
              <a:gd name="adj" fmla="val 2500"/>
            </a:avLst>
          </a:prstGeom>
          <a:solidFill>
            <a:srgbClr val="1B2A57"/>
          </a:solidFill>
          <a:ln w="12700">
            <a:solidFill>
              <a:srgbClr val="36457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AD05 · AD15 · AD22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640080" y="155448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F665A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cxnSp>
        <p:nvCxnSpPr>
          <p:cNvPr id="3" name="Linea 3"/>
          <p:cNvCxnSpPr/>
          <p:nvPr/>
        </p:nvCxnSpPr>
        <p:spPr>
          <a:xfrm>
            <a:off x="704088" y="228600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4" name="Linea 4"/>
          <p:cNvCxnSpPr/>
          <p:nvPr/>
        </p:nvCxnSpPr>
        <p:spPr>
          <a:xfrm>
            <a:off x="905256" y="228600"/>
            <a:ext cx="0" cy="192024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5" name="Linea 5"/>
          <p:cNvCxnSpPr/>
          <p:nvPr/>
        </p:nvCxnSpPr>
        <p:spPr>
          <a:xfrm flipH="1">
            <a:off x="704088" y="420624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6" name="Linea 6"/>
          <p:cNvCxnSpPr/>
          <p:nvPr/>
        </p:nvCxnSpPr>
        <p:spPr>
          <a:xfrm flipV="1">
            <a:off x="704088" y="310896"/>
            <a:ext cx="0" cy="109728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7" name="Linea 7"/>
          <p:cNvCxnSpPr/>
          <p:nvPr/>
        </p:nvCxnSpPr>
        <p:spPr>
          <a:xfrm>
            <a:off x="704088" y="310896"/>
            <a:ext cx="118872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sp>
        <p:nvSpPr>
          <p:cNvPr id="8" name="Forma 8"/>
          <p:cNvSpPr/>
          <p:nvPr/>
        </p:nvSpPr>
        <p:spPr>
          <a:xfrm>
            <a:off x="1078992" y="128016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800" dirty="0">
                <a:solidFill>
                  <a:srgbClr val="F5EBD8"/>
                </a:solidFill>
                <a:latin typeface="DM Serif Display"/>
                <a:cs typeface="DM Serif Display"/>
              </a:rPr>
              <a:t>BabelHub</a:t>
            </a:r>
          </a:p>
        </p:txBody>
      </p:sp>
      <p:sp>
        <p:nvSpPr>
          <p:cNvPr id="9" name="Forma 9"/>
          <p:cNvSpPr/>
          <p:nvPr/>
        </p:nvSpPr>
        <p:spPr>
          <a:xfrm>
            <a:off x="10771632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Cierre</a:t>
            </a:r>
          </a:p>
        </p:txBody>
      </p:sp>
      <p:sp>
        <p:nvSpPr>
          <p:cNvPr id="10" name="Forma 10"/>
          <p:cNvSpPr/>
          <p:nvPr/>
        </p:nvSpPr>
        <p:spPr>
          <a:xfrm>
            <a:off x="10232136" y="182880"/>
            <a:ext cx="466344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C4</a:t>
            </a:r>
          </a:p>
        </p:txBody>
      </p:sp>
      <p:sp>
        <p:nvSpPr>
          <p:cNvPr id="11" name="Forma 11"/>
          <p:cNvSpPr/>
          <p:nvPr/>
        </p:nvSpPr>
        <p:spPr>
          <a:xfrm>
            <a:off x="9381744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Diseño</a:t>
            </a:r>
          </a:p>
        </p:txBody>
      </p:sp>
      <p:sp>
        <p:nvSpPr>
          <p:cNvPr id="12" name="Forma 12"/>
          <p:cNvSpPr/>
          <p:nvPr/>
        </p:nvSpPr>
        <p:spPr>
          <a:xfrm>
            <a:off x="8065008" y="182880"/>
            <a:ext cx="1243584" cy="274320"/>
          </a:xfrm>
          <a:prstGeom prst="roundRect">
            <a:avLst>
              <a:gd name="adj" fmla="val 50000"/>
            </a:avLst>
          </a:prstGeom>
          <a:solidFill>
            <a:srgbClr val="1B2A57"/>
          </a:solidFill>
          <a:ln w="12700">
            <a:solidFill>
              <a:srgbClr val="FF665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F5EBD8"/>
                </a:solidFill>
                <a:latin typeface="Segoe UI"/>
                <a:cs typeface="Segoe UI"/>
              </a:rPr>
              <a:t>Arquitectura</a:t>
            </a:r>
          </a:p>
        </p:txBody>
      </p:sp>
      <p:sp>
        <p:nvSpPr>
          <p:cNvPr id="13" name="Forma 13"/>
          <p:cNvSpPr/>
          <p:nvPr/>
        </p:nvSpPr>
        <p:spPr>
          <a:xfrm>
            <a:off x="7059168" y="182880"/>
            <a:ext cx="932688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Análisis</a:t>
            </a:r>
          </a:p>
        </p:txBody>
      </p:sp>
      <p:cxnSp>
        <p:nvCxnSpPr>
          <p:cNvPr id="14" name="Linea 14"/>
          <p:cNvCxnSpPr/>
          <p:nvPr/>
        </p:nvCxnSpPr>
        <p:spPr>
          <a:xfrm>
            <a:off x="640080" y="640080"/>
            <a:ext cx="10908792" cy="0"/>
          </a:xfrm>
          <a:prstGeom prst="line">
            <a:avLst/>
          </a:prstGeom>
          <a:ln w="9525" cap="rnd">
            <a:solidFill>
              <a:srgbClr val="36457A"/>
            </a:solidFill>
            <a:round/>
          </a:ln>
        </p:spPr>
      </p:cxnSp>
      <p:sp>
        <p:nvSpPr>
          <p:cNvPr id="15" name="Forma 15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400" i="1" cap="all" dirty="0">
                <a:solidFill>
                  <a:srgbClr val="F5EBD8"/>
                </a:solidFill>
                <a:latin typeface="DM Serif Display"/>
                <a:cs typeface="DM Serif Display"/>
              </a:rPr>
              <a:t>SERVICIOS DE </a:t>
            </a:r>
            <a:r>
              <a:rPr lang="es-PE" sz="3400" i="1" cap="all" dirty="0">
                <a:solidFill>
                  <a:srgbClr val="FF665A"/>
                </a:solidFill>
                <a:latin typeface="DM Serif Display"/>
                <a:cs typeface="DM Serif Display"/>
              </a:rPr>
              <a:t>GRANO GRUESO</a:t>
            </a:r>
          </a:p>
        </p:txBody>
      </p:sp>
      <p:sp>
        <p:nvSpPr>
          <p:cNvPr id="16" name="Forma 16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Arquitectura de Software (IS-488) · UNSCH</a:t>
            </a:r>
          </a:p>
        </p:txBody>
      </p:sp>
      <p:sp>
        <p:nvSpPr>
          <p:cNvPr id="17" name="Forma 17"/>
          <p:cNvSpPr/>
          <p:nvPr/>
        </p:nvSpPr>
        <p:spPr>
          <a:xfrm>
            <a:off x="10241280" y="6473952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06 / 15</a:t>
            </a:r>
          </a:p>
        </p:txBody>
      </p:sp>
      <p:sp>
        <p:nvSpPr>
          <p:cNvPr id="18" name="Forma 18"/>
          <p:cNvSpPr/>
          <p:nvPr/>
        </p:nvSpPr>
        <p:spPr>
          <a:xfrm>
            <a:off x="640080" y="1783080"/>
            <a:ext cx="5669280" cy="278892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31750">
            <a:solidFill>
              <a:srgbClr val="FF665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19" name="Forma 19"/>
          <p:cNvSpPr/>
          <p:nvPr/>
        </p:nvSpPr>
        <p:spPr>
          <a:xfrm>
            <a:off x="868680" y="187452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900" dirty="0">
                <a:solidFill>
                  <a:srgbClr val="F5EBD8"/>
                </a:solidFill>
                <a:latin typeface="DM Serif Display"/>
                <a:cs typeface="DM Serif Display"/>
              </a:rPr>
              <a:t>Basada en servicios, con Clean Architecture por dentro</a:t>
            </a:r>
          </a:p>
        </p:txBody>
      </p:sp>
      <p:sp>
        <p:nvSpPr>
          <p:cNvPr id="20" name="Forma 20"/>
          <p:cNvSpPr/>
          <p:nvPr/>
        </p:nvSpPr>
        <p:spPr>
          <a:xfrm>
            <a:off x="868680" y="2697480"/>
            <a:ext cx="5212080" cy="18288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665A"/>
              </a:buClr>
              <a:buFont typeface="Arial"/>
              <a:buChar char="•"/>
            </a:pPr>
            <a:r>
              <a:rPr lang="es-PE" sz="1300" dirty="0">
                <a:solidFill>
                  <a:srgbClr val="F5EBD8"/>
                </a:solidFill>
                <a:latin typeface="Segoe UI"/>
                <a:cs typeface="Segoe UI"/>
              </a:rPr>
              <a:t>Por fuera: cuatro servicios y la web como cliente, con REST síncrono y una base de datos por sistema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665A"/>
              </a:buClr>
              <a:buFont typeface="Arial"/>
              <a:buChar char="•"/>
            </a:pPr>
            <a:r>
              <a:rPr lang="es-PE" sz="1300" dirty="0">
                <a:solidFill>
                  <a:srgbClr val="F5EBD8"/>
                </a:solidFill>
                <a:latin typeface="Segoe UI"/>
                <a:cs typeface="Segoe UI"/>
              </a:rPr>
              <a:t>Por dentro: cuatro capas con dependencias hacia el dominio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665A"/>
              </a:buClr>
              <a:buFont typeface="Arial"/>
              <a:buChar char="•"/>
            </a:pPr>
            <a:r>
              <a:rPr lang="es-PE" sz="1300" dirty="0">
                <a:solidFill>
                  <a:srgbClr val="F5EBD8"/>
                </a:solidFill>
                <a:latin typeface="Segoe UI"/>
                <a:cs typeface="Segoe UI"/>
              </a:rPr>
              <a:t>Restricción: 2 OCPU y 12 GB de RAM piden pocos servicios gruesos y la base en una VM aparte</a:t>
            </a:r>
          </a:p>
        </p:txBody>
      </p:sp>
      <p:sp>
        <p:nvSpPr>
          <p:cNvPr id="21" name="Forma 21"/>
          <p:cNvSpPr/>
          <p:nvPr/>
        </p:nvSpPr>
        <p:spPr>
          <a:xfrm>
            <a:off x="6492240" y="17830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spc="80" dirty="0">
                <a:solidFill>
                  <a:srgbClr val="B7B3A8"/>
                </a:solidFill>
                <a:latin typeface="Segoe UI"/>
                <a:cs typeface="Segoe UI"/>
              </a:rPr>
              <a:t>ALTERNATIVAS DESCARTADAS</a:t>
            </a:r>
          </a:p>
        </p:txBody>
      </p:sp>
      <p:sp>
        <p:nvSpPr>
          <p:cNvPr id="22" name="Forma 22"/>
          <p:cNvSpPr/>
          <p:nvPr/>
        </p:nvSpPr>
        <p:spPr>
          <a:xfrm>
            <a:off x="6492240" y="2103120"/>
            <a:ext cx="5056632" cy="54864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3" name="Forma 23"/>
          <p:cNvSpPr/>
          <p:nvPr/>
        </p:nvSpPr>
        <p:spPr>
          <a:xfrm>
            <a:off x="6629400" y="2157984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dirty="0">
                <a:solidFill>
                  <a:srgbClr val="B7B3A8"/>
                </a:solidFill>
                <a:latin typeface="Segoe UI"/>
                <a:cs typeface="Segoe UI"/>
              </a:rPr>
              <a:t>✕  </a:t>
            </a: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Monolito</a:t>
            </a:r>
            <a:r>
              <a:rPr lang="es-PE" sz="1250" dirty="0">
                <a:solidFill>
                  <a:srgbClr val="B7B3A8"/>
                </a:solidFill>
                <a:latin typeface="Segoe UI"/>
                <a:cs typeface="Segoe UI"/>
              </a:rPr>
              <a:t>: mezcla venta e inventario</a:t>
            </a:r>
          </a:p>
        </p:txBody>
      </p:sp>
      <p:sp>
        <p:nvSpPr>
          <p:cNvPr id="24" name="Forma 24"/>
          <p:cNvSpPr/>
          <p:nvPr/>
        </p:nvSpPr>
        <p:spPr>
          <a:xfrm>
            <a:off x="6492240" y="2724912"/>
            <a:ext cx="5056632" cy="54864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5" name="Forma 25"/>
          <p:cNvSpPr/>
          <p:nvPr/>
        </p:nvSpPr>
        <p:spPr>
          <a:xfrm>
            <a:off x="6629400" y="2779776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dirty="0">
                <a:solidFill>
                  <a:srgbClr val="B7B3A8"/>
                </a:solidFill>
                <a:latin typeface="Segoe UI"/>
                <a:cs typeface="Segoe UI"/>
              </a:rPr>
              <a:t>✕  </a:t>
            </a: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Microservicios finos</a:t>
            </a:r>
            <a:r>
              <a:rPr lang="es-PE" sz="1250" dirty="0">
                <a:solidFill>
                  <a:srgbClr val="B7B3A8"/>
                </a:solidFill>
                <a:latin typeface="Segoe UI"/>
                <a:cs typeface="Segoe UI"/>
              </a:rPr>
              <a:t>: no caben en 12 GB de RAM</a:t>
            </a:r>
          </a:p>
        </p:txBody>
      </p:sp>
      <p:sp>
        <p:nvSpPr>
          <p:cNvPr id="26" name="Forma 26"/>
          <p:cNvSpPr/>
          <p:nvPr/>
        </p:nvSpPr>
        <p:spPr>
          <a:xfrm>
            <a:off x="6492240" y="3346704"/>
            <a:ext cx="5056632" cy="54864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7" name="Forma 27"/>
          <p:cNvSpPr/>
          <p:nvPr/>
        </p:nvSpPr>
        <p:spPr>
          <a:xfrm>
            <a:off x="6629400" y="3401568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dirty="0">
                <a:solidFill>
                  <a:srgbClr val="B7B3A8"/>
                </a:solidFill>
                <a:latin typeface="Segoe UI"/>
                <a:cs typeface="Segoe UI"/>
              </a:rPr>
              <a:t>✕  </a:t>
            </a: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Arquitectura de eventos</a:t>
            </a:r>
            <a:r>
              <a:rPr lang="es-PE" sz="1250" dirty="0">
                <a:solidFill>
                  <a:srgbClr val="B7B3A8"/>
                </a:solidFill>
                <a:latin typeface="Segoe UI"/>
                <a:cs typeface="Segoe UI"/>
              </a:rPr>
              <a:t>: innecesaria a esta escala</a:t>
            </a:r>
          </a:p>
        </p:txBody>
      </p:sp>
      <p:sp>
        <p:nvSpPr>
          <p:cNvPr id="28" name="Forma 28"/>
          <p:cNvSpPr/>
          <p:nvPr/>
        </p:nvSpPr>
        <p:spPr>
          <a:xfrm>
            <a:off x="6492240" y="3968496"/>
            <a:ext cx="5056632" cy="54864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9" name="Forma 29"/>
          <p:cNvSpPr/>
          <p:nvPr/>
        </p:nvSpPr>
        <p:spPr>
          <a:xfrm>
            <a:off x="6629400" y="40233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dirty="0">
                <a:solidFill>
                  <a:srgbClr val="B7B3A8"/>
                </a:solidFill>
                <a:latin typeface="Segoe UI"/>
                <a:cs typeface="Segoe UI"/>
              </a:rPr>
              <a:t>✕  </a:t>
            </a: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SPA con el token en el navegador</a:t>
            </a:r>
            <a:r>
              <a:rPr lang="es-PE" sz="1250" dirty="0">
                <a:solidFill>
                  <a:srgbClr val="B7B3A8"/>
                </a:solidFill>
                <a:latin typeface="Segoe UI"/>
                <a:cs typeface="Segoe UI"/>
              </a:rPr>
              <a:t>: expone credenciales</a:t>
            </a:r>
          </a:p>
        </p:txBody>
      </p:sp>
      <p:sp>
        <p:nvSpPr>
          <p:cNvPr id="30" name="Forma 30"/>
          <p:cNvSpPr/>
          <p:nvPr/>
        </p:nvSpPr>
        <p:spPr>
          <a:xfrm>
            <a:off x="640080" y="4754880"/>
            <a:ext cx="5669280" cy="141732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1" name="Forma 31"/>
          <p:cNvSpPr/>
          <p:nvPr/>
        </p:nvSpPr>
        <p:spPr>
          <a:xfrm>
            <a:off x="822960" y="482803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spc="80" dirty="0">
                <a:solidFill>
                  <a:srgbClr val="A9E85E"/>
                </a:solidFill>
                <a:latin typeface="Segoe UI"/>
                <a:cs typeface="Segoe UI"/>
              </a:rPr>
              <a:t>VENTAJAS</a:t>
            </a:r>
          </a:p>
        </p:txBody>
      </p:sp>
      <p:sp>
        <p:nvSpPr>
          <p:cNvPr id="32" name="Forma 32"/>
          <p:cNvSpPr/>
          <p:nvPr/>
        </p:nvSpPr>
        <p:spPr>
          <a:xfrm>
            <a:off x="822960" y="5120640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665A"/>
              </a:buClr>
              <a:buFont typeface="Arial"/>
              <a:buChar char="•"/>
            </a:pPr>
            <a:r>
              <a:rPr lang="es-PE" sz="1200" dirty="0">
                <a:solidFill>
                  <a:srgbClr val="F5EBD8"/>
                </a:solidFill>
                <a:latin typeface="Segoe UI"/>
                <a:cs typeface="Segoe UI"/>
              </a:rPr>
              <a:t>Aísla el inventario, lo más crítico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665A"/>
              </a:buClr>
              <a:buFont typeface="Arial"/>
              <a:buChar char="•"/>
            </a:pPr>
            <a:r>
              <a:rPr lang="es-PE" sz="1200" dirty="0">
                <a:solidFill>
                  <a:srgbClr val="F5EBD8"/>
                </a:solidFill>
                <a:latin typeface="Segoe UI"/>
                <a:cs typeface="Segoe UI"/>
              </a:rPr>
              <a:t>Despliegue sencillo y reglas fáciles de probar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665A"/>
              </a:buClr>
              <a:buFont typeface="Arial"/>
              <a:buChar char="•"/>
            </a:pPr>
            <a:r>
              <a:rPr lang="es-PE" sz="1200" dirty="0">
                <a:solidFill>
                  <a:srgbClr val="F5EBD8"/>
                </a:solidFill>
                <a:latin typeface="Segoe UI"/>
                <a:cs typeface="Segoe UI"/>
              </a:rPr>
              <a:t>Cada sucursal nueva es un dato, no código</a:t>
            </a:r>
          </a:p>
        </p:txBody>
      </p:sp>
      <p:sp>
        <p:nvSpPr>
          <p:cNvPr id="33" name="Forma 33"/>
          <p:cNvSpPr/>
          <p:nvPr/>
        </p:nvSpPr>
        <p:spPr>
          <a:xfrm>
            <a:off x="6492240" y="4754880"/>
            <a:ext cx="5056632" cy="141732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4" name="Forma 34"/>
          <p:cNvSpPr/>
          <p:nvPr/>
        </p:nvSpPr>
        <p:spPr>
          <a:xfrm>
            <a:off x="6675120" y="482803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spc="80" dirty="0">
                <a:solidFill>
                  <a:srgbClr val="FF665A"/>
                </a:solidFill>
                <a:latin typeface="Segoe UI"/>
                <a:cs typeface="Segoe UI"/>
              </a:rPr>
              <a:t>LIMITACIONES ACEPTADAS</a:t>
            </a:r>
          </a:p>
        </p:txBody>
      </p:sp>
      <p:sp>
        <p:nvSpPr>
          <p:cNvPr id="35" name="Forma 35"/>
          <p:cNvSpPr/>
          <p:nvPr/>
        </p:nvSpPr>
        <p:spPr>
          <a:xfrm>
            <a:off x="6675120" y="5120640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665A"/>
              </a:buClr>
              <a:buFont typeface="Arial"/>
              <a:buChar char="•"/>
            </a:pPr>
            <a:r>
              <a:rPr lang="es-PE" sz="1200" dirty="0">
                <a:solidFill>
                  <a:srgbClr val="F5EBD8"/>
                </a:solidFill>
                <a:latin typeface="Segoe UI"/>
                <a:cs typeface="Segoe UI"/>
              </a:rPr>
              <a:t>E-commerce depende de Inventario (llamada síncrona)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665A"/>
              </a:buClr>
              <a:buFont typeface="Arial"/>
              <a:buChar char="•"/>
            </a:pPr>
            <a:r>
              <a:rPr lang="es-PE" sz="1200" dirty="0">
                <a:solidFill>
                  <a:srgbClr val="F5EBD8"/>
                </a:solidFill>
                <a:latin typeface="Segoe UI"/>
                <a:cs typeface="Segoe UI"/>
              </a:rPr>
              <a:t>Identidad y Redis son puntos compartidos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665A"/>
              </a:buClr>
              <a:buFont typeface="Arial"/>
              <a:buChar char="•"/>
            </a:pPr>
            <a:r>
              <a:rPr lang="es-PE" sz="1200" dirty="0">
                <a:solidFill>
                  <a:srgbClr val="F5EBD8"/>
                </a:solidFill>
                <a:latin typeface="Segoe UI"/>
                <a:cs typeface="Segoe UI"/>
              </a:rPr>
              <a:t>Más proyectos para un sistema pequeño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640080" y="155448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F665A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cxnSp>
        <p:nvCxnSpPr>
          <p:cNvPr id="3" name="Linea 3"/>
          <p:cNvCxnSpPr/>
          <p:nvPr/>
        </p:nvCxnSpPr>
        <p:spPr>
          <a:xfrm>
            <a:off x="704088" y="228600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4" name="Linea 4"/>
          <p:cNvCxnSpPr/>
          <p:nvPr/>
        </p:nvCxnSpPr>
        <p:spPr>
          <a:xfrm>
            <a:off x="905256" y="228600"/>
            <a:ext cx="0" cy="192024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5" name="Linea 5"/>
          <p:cNvCxnSpPr/>
          <p:nvPr/>
        </p:nvCxnSpPr>
        <p:spPr>
          <a:xfrm flipH="1">
            <a:off x="704088" y="420624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6" name="Linea 6"/>
          <p:cNvCxnSpPr/>
          <p:nvPr/>
        </p:nvCxnSpPr>
        <p:spPr>
          <a:xfrm flipV="1">
            <a:off x="704088" y="310896"/>
            <a:ext cx="0" cy="109728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7" name="Linea 7"/>
          <p:cNvCxnSpPr/>
          <p:nvPr/>
        </p:nvCxnSpPr>
        <p:spPr>
          <a:xfrm>
            <a:off x="704088" y="310896"/>
            <a:ext cx="118872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sp>
        <p:nvSpPr>
          <p:cNvPr id="8" name="Forma 8"/>
          <p:cNvSpPr/>
          <p:nvPr/>
        </p:nvSpPr>
        <p:spPr>
          <a:xfrm>
            <a:off x="1078992" y="128016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800" dirty="0">
                <a:solidFill>
                  <a:srgbClr val="F5EBD8"/>
                </a:solidFill>
                <a:latin typeface="DM Serif Display"/>
                <a:cs typeface="DM Serif Display"/>
              </a:rPr>
              <a:t>BabelHub</a:t>
            </a:r>
          </a:p>
        </p:txBody>
      </p:sp>
      <p:sp>
        <p:nvSpPr>
          <p:cNvPr id="9" name="Forma 9"/>
          <p:cNvSpPr/>
          <p:nvPr/>
        </p:nvSpPr>
        <p:spPr>
          <a:xfrm>
            <a:off x="10771632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Cierre</a:t>
            </a:r>
          </a:p>
        </p:txBody>
      </p:sp>
      <p:sp>
        <p:nvSpPr>
          <p:cNvPr id="10" name="Forma 10"/>
          <p:cNvSpPr/>
          <p:nvPr/>
        </p:nvSpPr>
        <p:spPr>
          <a:xfrm>
            <a:off x="10232136" y="182880"/>
            <a:ext cx="466344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C4</a:t>
            </a:r>
          </a:p>
        </p:txBody>
      </p:sp>
      <p:sp>
        <p:nvSpPr>
          <p:cNvPr id="11" name="Forma 11"/>
          <p:cNvSpPr/>
          <p:nvPr/>
        </p:nvSpPr>
        <p:spPr>
          <a:xfrm>
            <a:off x="9381744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Diseño</a:t>
            </a:r>
          </a:p>
        </p:txBody>
      </p:sp>
      <p:sp>
        <p:nvSpPr>
          <p:cNvPr id="12" name="Forma 12"/>
          <p:cNvSpPr/>
          <p:nvPr/>
        </p:nvSpPr>
        <p:spPr>
          <a:xfrm>
            <a:off x="8065008" y="182880"/>
            <a:ext cx="1243584" cy="274320"/>
          </a:xfrm>
          <a:prstGeom prst="roundRect">
            <a:avLst>
              <a:gd name="adj" fmla="val 50000"/>
            </a:avLst>
          </a:prstGeom>
          <a:solidFill>
            <a:srgbClr val="1B2A57"/>
          </a:solidFill>
          <a:ln w="12700">
            <a:solidFill>
              <a:srgbClr val="FF665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F5EBD8"/>
                </a:solidFill>
                <a:latin typeface="Segoe UI"/>
                <a:cs typeface="Segoe UI"/>
              </a:rPr>
              <a:t>Arquitectura</a:t>
            </a:r>
          </a:p>
        </p:txBody>
      </p:sp>
      <p:sp>
        <p:nvSpPr>
          <p:cNvPr id="13" name="Forma 13"/>
          <p:cNvSpPr/>
          <p:nvPr/>
        </p:nvSpPr>
        <p:spPr>
          <a:xfrm>
            <a:off x="7059168" y="182880"/>
            <a:ext cx="932688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Análisis</a:t>
            </a:r>
          </a:p>
        </p:txBody>
      </p:sp>
      <p:cxnSp>
        <p:nvCxnSpPr>
          <p:cNvPr id="14" name="Linea 14"/>
          <p:cNvCxnSpPr/>
          <p:nvPr/>
        </p:nvCxnSpPr>
        <p:spPr>
          <a:xfrm>
            <a:off x="640080" y="640080"/>
            <a:ext cx="10908792" cy="0"/>
          </a:xfrm>
          <a:prstGeom prst="line">
            <a:avLst/>
          </a:prstGeom>
          <a:ln w="9525" cap="rnd">
            <a:solidFill>
              <a:srgbClr val="36457A"/>
            </a:solidFill>
            <a:round/>
          </a:ln>
        </p:spPr>
      </p:cxnSp>
      <p:sp>
        <p:nvSpPr>
          <p:cNvPr id="15" name="Forma 15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400" i="1" cap="all" dirty="0">
                <a:solidFill>
                  <a:srgbClr val="F5EBD8"/>
                </a:solidFill>
                <a:latin typeface="DM Serif Display"/>
                <a:cs typeface="DM Serif Display"/>
              </a:rPr>
              <a:t>SEIS DECISIONES </a:t>
            </a:r>
            <a:r>
              <a:rPr lang="es-PE" sz="3400" i="1" cap="all" dirty="0">
                <a:solidFill>
                  <a:srgbClr val="FF665A"/>
                </a:solidFill>
                <a:latin typeface="DM Serif Display"/>
                <a:cs typeface="DM Serif Display"/>
              </a:rPr>
              <a:t>CLAVE</a:t>
            </a:r>
          </a:p>
        </p:txBody>
      </p:sp>
      <p:sp>
        <p:nvSpPr>
          <p:cNvPr id="16" name="Forma 16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Arquitectura de Software (IS-488) · UNSCH</a:t>
            </a:r>
          </a:p>
        </p:txBody>
      </p:sp>
      <p:sp>
        <p:nvSpPr>
          <p:cNvPr id="17" name="Forma 17"/>
          <p:cNvSpPr/>
          <p:nvPr/>
        </p:nvSpPr>
        <p:spPr>
          <a:xfrm>
            <a:off x="10241280" y="6473952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07 / 15</a:t>
            </a:r>
          </a:p>
        </p:txBody>
      </p:sp>
      <p:sp>
        <p:nvSpPr>
          <p:cNvPr id="18" name="Forma 18"/>
          <p:cNvSpPr/>
          <p:nvPr/>
        </p:nvSpPr>
        <p:spPr>
          <a:xfrm>
            <a:off x="640080" y="1783080"/>
            <a:ext cx="3474720" cy="187452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19" name="Forma 19"/>
          <p:cNvSpPr/>
          <p:nvPr/>
        </p:nvSpPr>
        <p:spPr>
          <a:xfrm>
            <a:off x="822960" y="1965960"/>
            <a:ext cx="822960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6C8D4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dirty="0">
                <a:solidFill>
                  <a:srgbClr val="36C8D4"/>
                </a:solidFill>
                <a:latin typeface="Segoe UI"/>
                <a:cs typeface="Segoe UI"/>
              </a:rPr>
              <a:t>AD01</a:t>
            </a:r>
          </a:p>
        </p:txBody>
      </p:sp>
      <p:sp>
        <p:nvSpPr>
          <p:cNvPr id="20" name="Forma 20"/>
          <p:cNvSpPr/>
          <p:nvPr/>
        </p:nvSpPr>
        <p:spPr>
          <a:xfrm>
            <a:off x="822960" y="237744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600" dirty="0">
                <a:solidFill>
                  <a:srgbClr val="F5EBD8"/>
                </a:solidFill>
                <a:latin typeface="DM Serif Display"/>
                <a:cs typeface="DM Serif Display"/>
              </a:rPr>
              <a:t>Inventario y E-commerce separados</a:t>
            </a:r>
          </a:p>
        </p:txBody>
      </p:sp>
      <p:sp>
        <p:nvSpPr>
          <p:cNvPr id="21" name="Forma 21"/>
          <p:cNvSpPr/>
          <p:nvPr/>
        </p:nvSpPr>
        <p:spPr>
          <a:xfrm>
            <a:off x="822960" y="31089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B7B3A8"/>
                </a:solidFill>
                <a:latin typeface="Segoe UI"/>
                <a:cs typeface="Segoe UI"/>
              </a:rPr>
              <a:t>✕  monolito con inventario embebido</a:t>
            </a:r>
          </a:p>
        </p:txBody>
      </p:sp>
      <p:sp>
        <p:nvSpPr>
          <p:cNvPr id="22" name="Forma 22"/>
          <p:cNvSpPr/>
          <p:nvPr/>
        </p:nvSpPr>
        <p:spPr>
          <a:xfrm>
            <a:off x="4361688" y="1783080"/>
            <a:ext cx="3474720" cy="187452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3" name="Forma 23"/>
          <p:cNvSpPr/>
          <p:nvPr/>
        </p:nvSpPr>
        <p:spPr>
          <a:xfrm>
            <a:off x="4544568" y="1965960"/>
            <a:ext cx="822960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6C8D4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dirty="0">
                <a:solidFill>
                  <a:srgbClr val="36C8D4"/>
                </a:solidFill>
                <a:latin typeface="Segoe UI"/>
                <a:cs typeface="Segoe UI"/>
              </a:rPr>
              <a:t>AD03</a:t>
            </a:r>
          </a:p>
        </p:txBody>
      </p:sp>
      <p:sp>
        <p:nvSpPr>
          <p:cNvPr id="24" name="Forma 24"/>
          <p:cNvSpPr/>
          <p:nvPr/>
        </p:nvSpPr>
        <p:spPr>
          <a:xfrm>
            <a:off x="4544568" y="237744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600" dirty="0">
                <a:solidFill>
                  <a:srgbClr val="F5EBD8"/>
                </a:solidFill>
                <a:latin typeface="DM Serif Display"/>
                <a:cs typeface="DM Serif Display"/>
              </a:rPr>
              <a:t>Una base PostgreSQL por sistema</a:t>
            </a:r>
          </a:p>
        </p:txBody>
      </p:sp>
      <p:sp>
        <p:nvSpPr>
          <p:cNvPr id="25" name="Forma 25"/>
          <p:cNvSpPr/>
          <p:nvPr/>
        </p:nvSpPr>
        <p:spPr>
          <a:xfrm>
            <a:off x="4544568" y="31089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B7B3A8"/>
                </a:solidFill>
                <a:latin typeface="Segoe UI"/>
                <a:cs typeface="Segoe UI"/>
              </a:rPr>
              <a:t>✕  una sola base compartida</a:t>
            </a:r>
          </a:p>
        </p:txBody>
      </p:sp>
      <p:sp>
        <p:nvSpPr>
          <p:cNvPr id="26" name="Forma 26"/>
          <p:cNvSpPr/>
          <p:nvPr/>
        </p:nvSpPr>
        <p:spPr>
          <a:xfrm>
            <a:off x="8083296" y="1783080"/>
            <a:ext cx="3474720" cy="187452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7" name="Forma 27"/>
          <p:cNvSpPr/>
          <p:nvPr/>
        </p:nvSpPr>
        <p:spPr>
          <a:xfrm>
            <a:off x="8266176" y="1965960"/>
            <a:ext cx="822960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6C8D4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dirty="0">
                <a:solidFill>
                  <a:srgbClr val="36C8D4"/>
                </a:solidFill>
                <a:latin typeface="Segoe UI"/>
                <a:cs typeface="Segoe UI"/>
              </a:rPr>
              <a:t>AD04</a:t>
            </a:r>
          </a:p>
        </p:txBody>
      </p:sp>
      <p:sp>
        <p:nvSpPr>
          <p:cNvPr id="28" name="Forma 28"/>
          <p:cNvSpPr/>
          <p:nvPr/>
        </p:nvSpPr>
        <p:spPr>
          <a:xfrm>
            <a:off x="8266176" y="237744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600" dirty="0">
                <a:solidFill>
                  <a:srgbClr val="F5EBD8"/>
                </a:solidFill>
                <a:latin typeface="DM Serif Display"/>
                <a:cs typeface="DM Serif Display"/>
              </a:rPr>
              <a:t>REST síncrono entre servicios</a:t>
            </a:r>
          </a:p>
        </p:txBody>
      </p:sp>
      <p:sp>
        <p:nvSpPr>
          <p:cNvPr id="29" name="Forma 29"/>
          <p:cNvSpPr/>
          <p:nvPr/>
        </p:nvSpPr>
        <p:spPr>
          <a:xfrm>
            <a:off x="8266176" y="31089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B7B3A8"/>
                </a:solidFill>
                <a:latin typeface="Segoe UI"/>
                <a:cs typeface="Segoe UI"/>
              </a:rPr>
              <a:t>✕  bus de eventos</a:t>
            </a:r>
          </a:p>
        </p:txBody>
      </p:sp>
      <p:sp>
        <p:nvSpPr>
          <p:cNvPr id="30" name="Forma 30"/>
          <p:cNvSpPr/>
          <p:nvPr/>
        </p:nvSpPr>
        <p:spPr>
          <a:xfrm>
            <a:off x="640080" y="3840480"/>
            <a:ext cx="3474720" cy="187452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31750">
            <a:solidFill>
              <a:srgbClr val="FF665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1" name="Forma 31"/>
          <p:cNvSpPr/>
          <p:nvPr/>
        </p:nvSpPr>
        <p:spPr>
          <a:xfrm>
            <a:off x="822960" y="40233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665A"/>
          </a:solidFill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dirty="0">
                <a:solidFill>
                  <a:srgbClr val="172554"/>
                </a:solidFill>
                <a:latin typeface="Segoe UI"/>
                <a:cs typeface="Segoe UI"/>
              </a:rPr>
              <a:t>AD08</a:t>
            </a:r>
          </a:p>
        </p:txBody>
      </p:sp>
      <p:sp>
        <p:nvSpPr>
          <p:cNvPr id="32" name="Forma 32"/>
          <p:cNvSpPr/>
          <p:nvPr/>
        </p:nvSpPr>
        <p:spPr>
          <a:xfrm>
            <a:off x="822960" y="443484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600" dirty="0">
                <a:solidFill>
                  <a:srgbClr val="F5EBD8"/>
                </a:solidFill>
                <a:latin typeface="DM Serif Display"/>
                <a:cs typeface="DM Serif Display"/>
              </a:rPr>
              <a:t>Reserva temporal de 15 min antes de cobrar</a:t>
            </a:r>
          </a:p>
        </p:txBody>
      </p:sp>
      <p:sp>
        <p:nvSpPr>
          <p:cNvPr id="33" name="Forma 33"/>
          <p:cNvSpPr/>
          <p:nvPr/>
        </p:nvSpPr>
        <p:spPr>
          <a:xfrm>
            <a:off x="822960" y="51663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B7B3A8"/>
                </a:solidFill>
                <a:latin typeface="Segoe UI"/>
                <a:cs typeface="Segoe UI"/>
              </a:rPr>
              <a:t>✕  reservar solo después de pagar</a:t>
            </a:r>
          </a:p>
        </p:txBody>
      </p:sp>
      <p:sp>
        <p:nvSpPr>
          <p:cNvPr id="34" name="Forma 34"/>
          <p:cNvSpPr/>
          <p:nvPr/>
        </p:nvSpPr>
        <p:spPr>
          <a:xfrm>
            <a:off x="4361688" y="3840480"/>
            <a:ext cx="3474720" cy="187452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5" name="Forma 35"/>
          <p:cNvSpPr/>
          <p:nvPr/>
        </p:nvSpPr>
        <p:spPr>
          <a:xfrm>
            <a:off x="4544568" y="4023360"/>
            <a:ext cx="822960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6C8D4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dirty="0">
                <a:solidFill>
                  <a:srgbClr val="36C8D4"/>
                </a:solidFill>
                <a:latin typeface="Segoe UI"/>
                <a:cs typeface="Segoe UI"/>
              </a:rPr>
              <a:t>AD09</a:t>
            </a:r>
          </a:p>
        </p:txBody>
      </p:sp>
      <p:sp>
        <p:nvSpPr>
          <p:cNvPr id="36" name="Forma 36"/>
          <p:cNvSpPr/>
          <p:nvPr/>
        </p:nvSpPr>
        <p:spPr>
          <a:xfrm>
            <a:off x="4544568" y="443484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600" dirty="0">
                <a:solidFill>
                  <a:srgbClr val="F5EBD8"/>
                </a:solidFill>
                <a:latin typeface="DM Serif Display"/>
                <a:cs typeface="DM Serif Display"/>
              </a:rPr>
              <a:t>Clean Architecture en cada servicio</a:t>
            </a:r>
          </a:p>
        </p:txBody>
      </p:sp>
      <p:sp>
        <p:nvSpPr>
          <p:cNvPr id="37" name="Forma 37"/>
          <p:cNvSpPr/>
          <p:nvPr/>
        </p:nvSpPr>
        <p:spPr>
          <a:xfrm>
            <a:off x="4544568" y="51663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B7B3A8"/>
                </a:solidFill>
                <a:latin typeface="Segoe UI"/>
                <a:cs typeface="Segoe UI"/>
              </a:rPr>
              <a:t>✕  capas con el dominio atado a la base</a:t>
            </a:r>
          </a:p>
        </p:txBody>
      </p:sp>
      <p:sp>
        <p:nvSpPr>
          <p:cNvPr id="38" name="Forma 38"/>
          <p:cNvSpPr/>
          <p:nvPr/>
        </p:nvSpPr>
        <p:spPr>
          <a:xfrm>
            <a:off x="8083296" y="3840480"/>
            <a:ext cx="3474720" cy="187452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9" name="Forma 39"/>
          <p:cNvSpPr/>
          <p:nvPr/>
        </p:nvSpPr>
        <p:spPr>
          <a:xfrm>
            <a:off x="8266176" y="4023360"/>
            <a:ext cx="822960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6C8D4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dirty="0">
                <a:solidFill>
                  <a:srgbClr val="36C8D4"/>
                </a:solidFill>
                <a:latin typeface="Segoe UI"/>
                <a:cs typeface="Segoe UI"/>
              </a:rPr>
              <a:t>AD15</a:t>
            </a:r>
          </a:p>
        </p:txBody>
      </p:sp>
      <p:sp>
        <p:nvSpPr>
          <p:cNvPr id="40" name="Forma 40"/>
          <p:cNvSpPr/>
          <p:nvPr/>
        </p:nvSpPr>
        <p:spPr>
          <a:xfrm>
            <a:off x="8266176" y="443484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600" dirty="0">
                <a:solidFill>
                  <a:srgbClr val="F5EBD8"/>
                </a:solidFill>
                <a:latin typeface="DM Serif Display"/>
                <a:cs typeface="DM Serif Display"/>
              </a:rPr>
              <a:t>La web llama a los servicios desde el servidor</a:t>
            </a:r>
          </a:p>
        </p:txBody>
      </p:sp>
      <p:sp>
        <p:nvSpPr>
          <p:cNvPr id="41" name="Forma 41"/>
          <p:cNvSpPr/>
          <p:nvPr/>
        </p:nvSpPr>
        <p:spPr>
          <a:xfrm>
            <a:off x="8266176" y="51663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B7B3A8"/>
                </a:solidFill>
                <a:latin typeface="Segoe UI"/>
                <a:cs typeface="Segoe UI"/>
              </a:rPr>
              <a:t>✕  SPA que expone el token</a:t>
            </a:r>
          </a:p>
        </p:txBody>
      </p:sp>
      <p:sp>
        <p:nvSpPr>
          <p:cNvPr id="42" name="Forma 42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dirty="0">
                <a:solidFill>
                  <a:srgbClr val="B7B3A8"/>
                </a:solidFill>
                <a:latin typeface="Segoe UI"/>
                <a:cs typeface="Segoe UI"/>
              </a:rPr>
              <a:t>Las 30 decisiones (AD01 a AD30) están en el apéndice; estas seis sostienen el resto.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640080" y="155448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F665A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cxnSp>
        <p:nvCxnSpPr>
          <p:cNvPr id="3" name="Linea 3"/>
          <p:cNvCxnSpPr/>
          <p:nvPr/>
        </p:nvCxnSpPr>
        <p:spPr>
          <a:xfrm>
            <a:off x="704088" y="228600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4" name="Linea 4"/>
          <p:cNvCxnSpPr/>
          <p:nvPr/>
        </p:nvCxnSpPr>
        <p:spPr>
          <a:xfrm>
            <a:off x="905256" y="228600"/>
            <a:ext cx="0" cy="192024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5" name="Linea 5"/>
          <p:cNvCxnSpPr/>
          <p:nvPr/>
        </p:nvCxnSpPr>
        <p:spPr>
          <a:xfrm flipH="1">
            <a:off x="704088" y="420624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6" name="Linea 6"/>
          <p:cNvCxnSpPr/>
          <p:nvPr/>
        </p:nvCxnSpPr>
        <p:spPr>
          <a:xfrm flipV="1">
            <a:off x="704088" y="310896"/>
            <a:ext cx="0" cy="109728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7" name="Linea 7"/>
          <p:cNvCxnSpPr/>
          <p:nvPr/>
        </p:nvCxnSpPr>
        <p:spPr>
          <a:xfrm>
            <a:off x="704088" y="310896"/>
            <a:ext cx="118872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sp>
        <p:nvSpPr>
          <p:cNvPr id="8" name="Forma 8"/>
          <p:cNvSpPr/>
          <p:nvPr/>
        </p:nvSpPr>
        <p:spPr>
          <a:xfrm>
            <a:off x="1078992" y="128016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800" dirty="0">
                <a:solidFill>
                  <a:srgbClr val="F5EBD8"/>
                </a:solidFill>
                <a:latin typeface="DM Serif Display"/>
                <a:cs typeface="DM Serif Display"/>
              </a:rPr>
              <a:t>BabelHub</a:t>
            </a:r>
          </a:p>
        </p:txBody>
      </p:sp>
      <p:sp>
        <p:nvSpPr>
          <p:cNvPr id="9" name="Forma 9"/>
          <p:cNvSpPr/>
          <p:nvPr/>
        </p:nvSpPr>
        <p:spPr>
          <a:xfrm>
            <a:off x="10771632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Cierre</a:t>
            </a:r>
          </a:p>
        </p:txBody>
      </p:sp>
      <p:sp>
        <p:nvSpPr>
          <p:cNvPr id="10" name="Forma 10"/>
          <p:cNvSpPr/>
          <p:nvPr/>
        </p:nvSpPr>
        <p:spPr>
          <a:xfrm>
            <a:off x="10232136" y="182880"/>
            <a:ext cx="466344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C4</a:t>
            </a:r>
          </a:p>
        </p:txBody>
      </p:sp>
      <p:sp>
        <p:nvSpPr>
          <p:cNvPr id="11" name="Forma 11"/>
          <p:cNvSpPr/>
          <p:nvPr/>
        </p:nvSpPr>
        <p:spPr>
          <a:xfrm>
            <a:off x="9381744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Diseño</a:t>
            </a:r>
          </a:p>
        </p:txBody>
      </p:sp>
      <p:sp>
        <p:nvSpPr>
          <p:cNvPr id="12" name="Forma 12"/>
          <p:cNvSpPr/>
          <p:nvPr/>
        </p:nvSpPr>
        <p:spPr>
          <a:xfrm>
            <a:off x="8065008" y="182880"/>
            <a:ext cx="1243584" cy="274320"/>
          </a:xfrm>
          <a:prstGeom prst="roundRect">
            <a:avLst>
              <a:gd name="adj" fmla="val 50000"/>
            </a:avLst>
          </a:prstGeom>
          <a:solidFill>
            <a:srgbClr val="1B2A57"/>
          </a:solidFill>
          <a:ln w="12700">
            <a:solidFill>
              <a:srgbClr val="FF665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F5EBD8"/>
                </a:solidFill>
                <a:latin typeface="Segoe UI"/>
                <a:cs typeface="Segoe UI"/>
              </a:rPr>
              <a:t>Arquitectura</a:t>
            </a:r>
          </a:p>
        </p:txBody>
      </p:sp>
      <p:sp>
        <p:nvSpPr>
          <p:cNvPr id="13" name="Forma 13"/>
          <p:cNvSpPr/>
          <p:nvPr/>
        </p:nvSpPr>
        <p:spPr>
          <a:xfrm>
            <a:off x="7059168" y="182880"/>
            <a:ext cx="932688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Análisis</a:t>
            </a:r>
          </a:p>
        </p:txBody>
      </p:sp>
      <p:cxnSp>
        <p:nvCxnSpPr>
          <p:cNvPr id="14" name="Linea 14"/>
          <p:cNvCxnSpPr/>
          <p:nvPr/>
        </p:nvCxnSpPr>
        <p:spPr>
          <a:xfrm>
            <a:off x="640080" y="640080"/>
            <a:ext cx="10908792" cy="0"/>
          </a:xfrm>
          <a:prstGeom prst="line">
            <a:avLst/>
          </a:prstGeom>
          <a:ln w="9525" cap="rnd">
            <a:solidFill>
              <a:srgbClr val="36457A"/>
            </a:solidFill>
            <a:round/>
          </a:ln>
        </p:spPr>
      </p:cxnSp>
      <p:sp>
        <p:nvSpPr>
          <p:cNvPr id="15" name="Forma 15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400" i="1" cap="all" dirty="0">
                <a:solidFill>
                  <a:srgbClr val="F5EBD8"/>
                </a:solidFill>
                <a:latin typeface="DM Serif Display"/>
                <a:cs typeface="DM Serif Display"/>
              </a:rPr>
              <a:t>LA ARQUITECTURA, </a:t>
            </a:r>
            <a:r>
              <a:rPr lang="es-PE" sz="3400" i="1" cap="all" dirty="0">
                <a:solidFill>
                  <a:srgbClr val="FF665A"/>
                </a:solidFill>
                <a:latin typeface="DM Serif Display"/>
                <a:cs typeface="DM Serif Display"/>
              </a:rPr>
              <a:t>DE PUNTA A PUNTA</a:t>
            </a:r>
          </a:p>
        </p:txBody>
      </p:sp>
      <p:sp>
        <p:nvSpPr>
          <p:cNvPr id="16" name="Forma 16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Arquitectura de Software (IS-488) · UNSCH</a:t>
            </a:r>
          </a:p>
        </p:txBody>
      </p:sp>
      <p:sp>
        <p:nvSpPr>
          <p:cNvPr id="17" name="Forma 17"/>
          <p:cNvSpPr/>
          <p:nvPr/>
        </p:nvSpPr>
        <p:spPr>
          <a:xfrm>
            <a:off x="10241280" y="6473952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08 / 15</a:t>
            </a:r>
          </a:p>
        </p:txBody>
      </p:sp>
      <p:sp>
        <p:nvSpPr>
          <p:cNvPr id="18" name="Forma 18"/>
          <p:cNvSpPr/>
          <p:nvPr/>
        </p:nvSpPr>
        <p:spPr>
          <a:xfrm>
            <a:off x="640080" y="1783080"/>
            <a:ext cx="2377440" cy="45720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Navegador</a:t>
            </a:r>
          </a:p>
        </p:txBody>
      </p:sp>
      <p:cxnSp>
        <p:nvCxnSpPr>
          <p:cNvPr id="19" name="Linea 19"/>
          <p:cNvCxnSpPr/>
          <p:nvPr/>
        </p:nvCxnSpPr>
        <p:spPr>
          <a:xfrm>
            <a:off x="3017520" y="2011680"/>
            <a:ext cx="411480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20" name="Forma 20"/>
          <p:cNvSpPr/>
          <p:nvPr/>
        </p:nvSpPr>
        <p:spPr>
          <a:xfrm>
            <a:off x="3429000" y="1783080"/>
            <a:ext cx="2377440" cy="45720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Cloudflare · TLS, WAF, túnel</a:t>
            </a:r>
          </a:p>
        </p:txBody>
      </p:sp>
      <p:cxnSp>
        <p:nvCxnSpPr>
          <p:cNvPr id="21" name="Linea 21"/>
          <p:cNvCxnSpPr/>
          <p:nvPr/>
        </p:nvCxnSpPr>
        <p:spPr>
          <a:xfrm>
            <a:off x="5806440" y="2011680"/>
            <a:ext cx="411480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22" name="Forma 22"/>
          <p:cNvSpPr/>
          <p:nvPr/>
        </p:nvSpPr>
        <p:spPr>
          <a:xfrm>
            <a:off x="6217920" y="1783080"/>
            <a:ext cx="2377440" cy="45720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Nginx · enrutamiento</a:t>
            </a:r>
          </a:p>
        </p:txBody>
      </p:sp>
      <p:cxnSp>
        <p:nvCxnSpPr>
          <p:cNvPr id="23" name="Linea 23"/>
          <p:cNvCxnSpPr/>
          <p:nvPr/>
        </p:nvCxnSpPr>
        <p:spPr>
          <a:xfrm>
            <a:off x="7315200" y="2240280"/>
            <a:ext cx="0" cy="36576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24" name="Forma 24"/>
          <p:cNvSpPr/>
          <p:nvPr/>
        </p:nvSpPr>
        <p:spPr>
          <a:xfrm>
            <a:off x="640080" y="2606040"/>
            <a:ext cx="8138160" cy="457200"/>
          </a:xfrm>
          <a:prstGeom prst="roundRect">
            <a:avLst>
              <a:gd name="adj" fmla="val 2500"/>
            </a:avLst>
          </a:prstGeom>
          <a:solidFill>
            <a:srgbClr val="1B2A57"/>
          </a:solidFill>
          <a:ln w="12700">
            <a:solidFill>
              <a:srgbClr val="36457A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00" dirty="0">
                <a:solidFill>
                  <a:srgbClr val="F5EBD8"/>
                </a:solidFill>
                <a:latin typeface="Segoe UI"/>
                <a:cs typeface="Segoe UI"/>
              </a:rPr>
              <a:t>BabelHub.Web · MVC Razor · áreas Tienda, Sucursal y Admin</a:t>
            </a:r>
          </a:p>
        </p:txBody>
      </p:sp>
      <p:cxnSp>
        <p:nvCxnSpPr>
          <p:cNvPr id="25" name="Linea 25"/>
          <p:cNvCxnSpPr/>
          <p:nvPr/>
        </p:nvCxnSpPr>
        <p:spPr>
          <a:xfrm>
            <a:off x="1554480" y="3063240"/>
            <a:ext cx="0" cy="32004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26" name="Forma 26"/>
          <p:cNvSpPr/>
          <p:nvPr/>
        </p:nvSpPr>
        <p:spPr>
          <a:xfrm>
            <a:off x="640080" y="3383280"/>
            <a:ext cx="1920240" cy="100584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7" name="Forma 27"/>
          <p:cNvSpPr/>
          <p:nvPr/>
        </p:nvSpPr>
        <p:spPr>
          <a:xfrm>
            <a:off x="731520" y="345643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500" dirty="0">
                <a:solidFill>
                  <a:srgbClr val="F5EBD8"/>
                </a:solidFill>
                <a:latin typeface="DM Serif Display"/>
                <a:cs typeface="DM Serif Display"/>
              </a:rPr>
              <a:t>E-commerce</a:t>
            </a:r>
          </a:p>
        </p:txBody>
      </p:sp>
      <p:sp>
        <p:nvSpPr>
          <p:cNvPr id="28" name="Forma 28"/>
          <p:cNvSpPr/>
          <p:nvPr/>
        </p:nvSpPr>
        <p:spPr>
          <a:xfrm>
            <a:off x="731520" y="384048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dirty="0">
                <a:solidFill>
                  <a:srgbClr val="B7B3A8"/>
                </a:solidFill>
                <a:latin typeface="Segoe UI"/>
                <a:cs typeface="Segoe UI"/>
              </a:rPr>
              <a:t>catálogo, carrito, pagos, pedidos</a:t>
            </a:r>
          </a:p>
        </p:txBody>
      </p:sp>
      <p:cxnSp>
        <p:nvCxnSpPr>
          <p:cNvPr id="29" name="Linea 29"/>
          <p:cNvCxnSpPr/>
          <p:nvPr/>
        </p:nvCxnSpPr>
        <p:spPr>
          <a:xfrm>
            <a:off x="3630168" y="3063240"/>
            <a:ext cx="0" cy="32004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30" name="Forma 30"/>
          <p:cNvSpPr/>
          <p:nvPr/>
        </p:nvSpPr>
        <p:spPr>
          <a:xfrm>
            <a:off x="2715768" y="3383280"/>
            <a:ext cx="1920240" cy="100584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31750">
            <a:solidFill>
              <a:srgbClr val="FF665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1" name="Forma 31"/>
          <p:cNvSpPr/>
          <p:nvPr/>
        </p:nvSpPr>
        <p:spPr>
          <a:xfrm>
            <a:off x="2807208" y="345643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500" dirty="0">
                <a:solidFill>
                  <a:srgbClr val="F5EBD8"/>
                </a:solidFill>
                <a:latin typeface="DM Serif Display"/>
                <a:cs typeface="DM Serif Display"/>
              </a:rPr>
              <a:t>Inventario</a:t>
            </a:r>
          </a:p>
        </p:txBody>
      </p:sp>
      <p:sp>
        <p:nvSpPr>
          <p:cNvPr id="32" name="Forma 32"/>
          <p:cNvSpPr/>
          <p:nvPr/>
        </p:nvSpPr>
        <p:spPr>
          <a:xfrm>
            <a:off x="2807208" y="384048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dirty="0">
                <a:solidFill>
                  <a:srgbClr val="B7B3A8"/>
                </a:solidFill>
                <a:latin typeface="Segoe UI"/>
                <a:cs typeface="Segoe UI"/>
              </a:rPr>
              <a:t>stock, reservas, traslados</a:t>
            </a:r>
          </a:p>
        </p:txBody>
      </p:sp>
      <p:cxnSp>
        <p:nvCxnSpPr>
          <p:cNvPr id="33" name="Linea 33"/>
          <p:cNvCxnSpPr/>
          <p:nvPr/>
        </p:nvCxnSpPr>
        <p:spPr>
          <a:xfrm>
            <a:off x="5705856" y="3063240"/>
            <a:ext cx="0" cy="32004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34" name="Forma 34"/>
          <p:cNvSpPr/>
          <p:nvPr/>
        </p:nvSpPr>
        <p:spPr>
          <a:xfrm>
            <a:off x="4791456" y="3383280"/>
            <a:ext cx="1920240" cy="100584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5" name="Forma 35"/>
          <p:cNvSpPr/>
          <p:nvPr/>
        </p:nvSpPr>
        <p:spPr>
          <a:xfrm>
            <a:off x="4882896" y="345643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500" dirty="0">
                <a:solidFill>
                  <a:srgbClr val="F5EBD8"/>
                </a:solidFill>
                <a:latin typeface="DM Serif Display"/>
                <a:cs typeface="DM Serif Display"/>
              </a:rPr>
              <a:t>Identidad</a:t>
            </a:r>
          </a:p>
        </p:txBody>
      </p:sp>
      <p:sp>
        <p:nvSpPr>
          <p:cNvPr id="36" name="Forma 36"/>
          <p:cNvSpPr/>
          <p:nvPr/>
        </p:nvSpPr>
        <p:spPr>
          <a:xfrm>
            <a:off x="4882896" y="384048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dirty="0">
                <a:solidFill>
                  <a:srgbClr val="B7B3A8"/>
                </a:solidFill>
                <a:latin typeface="Segoe UI"/>
                <a:cs typeface="Segoe UI"/>
              </a:rPr>
              <a:t>usuarios, roles, sucursal</a:t>
            </a:r>
          </a:p>
        </p:txBody>
      </p:sp>
      <p:cxnSp>
        <p:nvCxnSpPr>
          <p:cNvPr id="37" name="Linea 37"/>
          <p:cNvCxnSpPr/>
          <p:nvPr/>
        </p:nvCxnSpPr>
        <p:spPr>
          <a:xfrm>
            <a:off x="7781544" y="3063240"/>
            <a:ext cx="0" cy="32004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38" name="Forma 38"/>
          <p:cNvSpPr/>
          <p:nvPr/>
        </p:nvSpPr>
        <p:spPr>
          <a:xfrm>
            <a:off x="6867144" y="3383280"/>
            <a:ext cx="1920240" cy="100584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9" name="Forma 39"/>
          <p:cNvSpPr/>
          <p:nvPr/>
        </p:nvSpPr>
        <p:spPr>
          <a:xfrm>
            <a:off x="6958584" y="345643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500" dirty="0">
                <a:solidFill>
                  <a:srgbClr val="F5EBD8"/>
                </a:solidFill>
                <a:latin typeface="DM Serif Display"/>
                <a:cs typeface="DM Serif Display"/>
              </a:rPr>
              <a:t>Asistente</a:t>
            </a:r>
          </a:p>
        </p:txBody>
      </p:sp>
      <p:sp>
        <p:nvSpPr>
          <p:cNvPr id="40" name="Forma 40"/>
          <p:cNvSpPr/>
          <p:nvPr/>
        </p:nvSpPr>
        <p:spPr>
          <a:xfrm>
            <a:off x="6958584" y="384048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dirty="0">
                <a:solidFill>
                  <a:srgbClr val="B7B3A8"/>
                </a:solidFill>
                <a:latin typeface="Segoe UI"/>
                <a:cs typeface="Segoe UI"/>
              </a:rPr>
              <a:t>solo lectura</a:t>
            </a:r>
          </a:p>
        </p:txBody>
      </p:sp>
      <p:cxnSp>
        <p:nvCxnSpPr>
          <p:cNvPr id="41" name="Linea 41"/>
          <p:cNvCxnSpPr/>
          <p:nvPr/>
        </p:nvCxnSpPr>
        <p:spPr>
          <a:xfrm>
            <a:off x="2560320" y="3886200"/>
            <a:ext cx="155448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42" name="Forma 42"/>
          <p:cNvSpPr/>
          <p:nvPr/>
        </p:nvSpPr>
        <p:spPr>
          <a:xfrm>
            <a:off x="640080" y="4846320"/>
            <a:ext cx="2468880" cy="56692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PostgreSQL Ventas</a:t>
            </a:r>
          </a:p>
        </p:txBody>
      </p:sp>
      <p:sp>
        <p:nvSpPr>
          <p:cNvPr id="43" name="Forma 43"/>
          <p:cNvSpPr/>
          <p:nvPr/>
        </p:nvSpPr>
        <p:spPr>
          <a:xfrm>
            <a:off x="3200400" y="4846320"/>
            <a:ext cx="2468880" cy="56692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25400">
            <a:solidFill>
              <a:srgbClr val="FF665A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PostgreSQL Inventario</a:t>
            </a:r>
          </a:p>
        </p:txBody>
      </p:sp>
      <p:sp>
        <p:nvSpPr>
          <p:cNvPr id="44" name="Forma 44"/>
          <p:cNvSpPr/>
          <p:nvPr/>
        </p:nvSpPr>
        <p:spPr>
          <a:xfrm>
            <a:off x="5760720" y="4846320"/>
            <a:ext cx="2468880" cy="56692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Redis · caché</a:t>
            </a:r>
          </a:p>
        </p:txBody>
      </p:sp>
      <p:cxnSp>
        <p:nvCxnSpPr>
          <p:cNvPr id="45" name="Linea 45"/>
          <p:cNvCxnSpPr/>
          <p:nvPr/>
        </p:nvCxnSpPr>
        <p:spPr>
          <a:xfrm>
            <a:off x="1600200" y="4389120"/>
            <a:ext cx="0" cy="438912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cxnSp>
        <p:nvCxnSpPr>
          <p:cNvPr id="46" name="Linea 46"/>
          <p:cNvCxnSpPr/>
          <p:nvPr/>
        </p:nvCxnSpPr>
        <p:spPr>
          <a:xfrm>
            <a:off x="4434840" y="4389120"/>
            <a:ext cx="0" cy="438912"/>
          </a:xfrm>
          <a:prstGeom prst="line">
            <a:avLst/>
          </a:prstGeom>
          <a:ln w="25400" cap="rnd">
            <a:solidFill>
              <a:srgbClr val="FF665A"/>
            </a:solidFill>
            <a:round/>
            <a:tailEnd type="triangle" w="med" len="med"/>
          </a:ln>
        </p:spPr>
      </p:cxnSp>
      <p:sp>
        <p:nvSpPr>
          <p:cNvPr id="47" name="Forma 47"/>
          <p:cNvSpPr/>
          <p:nvPr/>
        </p:nvSpPr>
        <p:spPr>
          <a:xfrm>
            <a:off x="9098280" y="17830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spc="80" dirty="0">
                <a:solidFill>
                  <a:srgbClr val="B7B3A8"/>
                </a:solidFill>
                <a:latin typeface="Segoe UI"/>
                <a:cs typeface="Segoe UI"/>
              </a:rPr>
              <a:t>SISTEMAS EXTERNOS</a:t>
            </a:r>
          </a:p>
        </p:txBody>
      </p:sp>
      <p:sp>
        <p:nvSpPr>
          <p:cNvPr id="48" name="Forma 48"/>
          <p:cNvSpPr/>
          <p:nvPr/>
        </p:nvSpPr>
        <p:spPr>
          <a:xfrm>
            <a:off x="9098280" y="2103120"/>
            <a:ext cx="2450592" cy="512064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A9E85E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Culqi · pagos</a:t>
            </a:r>
          </a:p>
        </p:txBody>
      </p:sp>
      <p:sp>
        <p:nvSpPr>
          <p:cNvPr id="49" name="Forma 49"/>
          <p:cNvSpPr/>
          <p:nvPr/>
        </p:nvSpPr>
        <p:spPr>
          <a:xfrm>
            <a:off x="9098280" y="2706624"/>
            <a:ext cx="2450592" cy="512064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A9E85E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Operador logístico</a:t>
            </a:r>
          </a:p>
        </p:txBody>
      </p:sp>
      <p:sp>
        <p:nvSpPr>
          <p:cNvPr id="50" name="Forma 50"/>
          <p:cNvSpPr/>
          <p:nvPr/>
        </p:nvSpPr>
        <p:spPr>
          <a:xfrm>
            <a:off x="9098280" y="3310128"/>
            <a:ext cx="2450592" cy="512064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A9E85E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Proveedor de LLM</a:t>
            </a:r>
          </a:p>
        </p:txBody>
      </p:sp>
      <p:sp>
        <p:nvSpPr>
          <p:cNvPr id="51" name="Forma 51"/>
          <p:cNvSpPr/>
          <p:nvPr/>
        </p:nvSpPr>
        <p:spPr>
          <a:xfrm>
            <a:off x="9098280" y="3913632"/>
            <a:ext cx="2450592" cy="512064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A9E85E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n8n · WhatsApp</a:t>
            </a:r>
          </a:p>
        </p:txBody>
      </p:sp>
      <p:sp>
        <p:nvSpPr>
          <p:cNvPr id="52" name="Forma 52"/>
          <p:cNvSpPr/>
          <p:nvPr/>
        </p:nvSpPr>
        <p:spPr>
          <a:xfrm>
            <a:off x="9098280" y="4517136"/>
            <a:ext cx="2450592" cy="512064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A9E85E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Proveedor de correo</a:t>
            </a:r>
          </a:p>
        </p:txBody>
      </p:sp>
      <p:sp>
        <p:nvSpPr>
          <p:cNvPr id="53" name="Forma 53"/>
          <p:cNvSpPr/>
          <p:nvPr/>
        </p:nvSpPr>
        <p:spPr>
          <a:xfrm>
            <a:off x="9098280" y="5120640"/>
            <a:ext cx="2450592" cy="512064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A9E85E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Almacén de archivos</a:t>
            </a:r>
          </a:p>
        </p:txBody>
      </p:sp>
      <p:cxnSp>
        <p:nvCxnSpPr>
          <p:cNvPr id="54" name="Linea 54"/>
          <p:cNvCxnSpPr/>
          <p:nvPr/>
        </p:nvCxnSpPr>
        <p:spPr>
          <a:xfrm>
            <a:off x="8778240" y="3657600"/>
            <a:ext cx="274320" cy="0"/>
          </a:xfrm>
          <a:prstGeom prst="line">
            <a:avLst/>
          </a:prstGeom>
          <a:ln w="25400" cap="rnd">
            <a:solidFill>
              <a:srgbClr val="A9E85E"/>
            </a:solidFill>
            <a:round/>
            <a:tailEnd type="triangle" w="med" len="med"/>
          </a:ln>
        </p:spPr>
      </p:cxnSp>
      <p:sp>
        <p:nvSpPr>
          <p:cNvPr id="55" name="Forma 55"/>
          <p:cNvSpPr/>
          <p:nvPr/>
        </p:nvSpPr>
        <p:spPr>
          <a:xfrm>
            <a:off x="640080" y="56235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B7B3A8"/>
                </a:solidFill>
                <a:latin typeface="Segoe UI"/>
                <a:cs typeface="Segoe UI"/>
              </a:rPr>
              <a:t>Cian: REST entre servicios · coral: el servicio de Inventario y su base · los tres servicios validan credenciales con Identidad · el navegador descarga los libros digitales del almacén con una URL firmada.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nodeType="withEffect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640080" y="155448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F665A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cxnSp>
        <p:nvCxnSpPr>
          <p:cNvPr id="3" name="Linea 3"/>
          <p:cNvCxnSpPr/>
          <p:nvPr/>
        </p:nvCxnSpPr>
        <p:spPr>
          <a:xfrm>
            <a:off x="704088" y="228600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4" name="Linea 4"/>
          <p:cNvCxnSpPr/>
          <p:nvPr/>
        </p:nvCxnSpPr>
        <p:spPr>
          <a:xfrm>
            <a:off x="905256" y="228600"/>
            <a:ext cx="0" cy="192024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5" name="Linea 5"/>
          <p:cNvCxnSpPr/>
          <p:nvPr/>
        </p:nvCxnSpPr>
        <p:spPr>
          <a:xfrm flipH="1">
            <a:off x="704088" y="420624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6" name="Linea 6"/>
          <p:cNvCxnSpPr/>
          <p:nvPr/>
        </p:nvCxnSpPr>
        <p:spPr>
          <a:xfrm flipV="1">
            <a:off x="704088" y="310896"/>
            <a:ext cx="0" cy="109728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7" name="Linea 7"/>
          <p:cNvCxnSpPr/>
          <p:nvPr/>
        </p:nvCxnSpPr>
        <p:spPr>
          <a:xfrm>
            <a:off x="704088" y="310896"/>
            <a:ext cx="118872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sp>
        <p:nvSpPr>
          <p:cNvPr id="8" name="Forma 8"/>
          <p:cNvSpPr/>
          <p:nvPr/>
        </p:nvSpPr>
        <p:spPr>
          <a:xfrm>
            <a:off x="1078992" y="128016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800" dirty="0">
                <a:solidFill>
                  <a:srgbClr val="F5EBD8"/>
                </a:solidFill>
                <a:latin typeface="DM Serif Display"/>
                <a:cs typeface="DM Serif Display"/>
              </a:rPr>
              <a:t>BabelHub</a:t>
            </a:r>
          </a:p>
        </p:txBody>
      </p:sp>
      <p:sp>
        <p:nvSpPr>
          <p:cNvPr id="9" name="Forma 9"/>
          <p:cNvSpPr/>
          <p:nvPr/>
        </p:nvSpPr>
        <p:spPr>
          <a:xfrm>
            <a:off x="10771632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Cierre</a:t>
            </a:r>
          </a:p>
        </p:txBody>
      </p:sp>
      <p:sp>
        <p:nvSpPr>
          <p:cNvPr id="10" name="Forma 10"/>
          <p:cNvSpPr/>
          <p:nvPr/>
        </p:nvSpPr>
        <p:spPr>
          <a:xfrm>
            <a:off x="10232136" y="182880"/>
            <a:ext cx="466344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C4</a:t>
            </a:r>
          </a:p>
        </p:txBody>
      </p:sp>
      <p:sp>
        <p:nvSpPr>
          <p:cNvPr id="11" name="Forma 11"/>
          <p:cNvSpPr/>
          <p:nvPr/>
        </p:nvSpPr>
        <p:spPr>
          <a:xfrm>
            <a:off x="9381744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Diseño</a:t>
            </a:r>
          </a:p>
        </p:txBody>
      </p:sp>
      <p:sp>
        <p:nvSpPr>
          <p:cNvPr id="12" name="Forma 12"/>
          <p:cNvSpPr/>
          <p:nvPr/>
        </p:nvSpPr>
        <p:spPr>
          <a:xfrm>
            <a:off x="8065008" y="182880"/>
            <a:ext cx="1243584" cy="274320"/>
          </a:xfrm>
          <a:prstGeom prst="roundRect">
            <a:avLst>
              <a:gd name="adj" fmla="val 50000"/>
            </a:avLst>
          </a:prstGeom>
          <a:solidFill>
            <a:srgbClr val="1B2A57"/>
          </a:solidFill>
          <a:ln w="12700">
            <a:solidFill>
              <a:srgbClr val="FF665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F5EBD8"/>
                </a:solidFill>
                <a:latin typeface="Segoe UI"/>
                <a:cs typeface="Segoe UI"/>
              </a:rPr>
              <a:t>Arquitectura</a:t>
            </a:r>
          </a:p>
        </p:txBody>
      </p:sp>
      <p:sp>
        <p:nvSpPr>
          <p:cNvPr id="13" name="Forma 13"/>
          <p:cNvSpPr/>
          <p:nvPr/>
        </p:nvSpPr>
        <p:spPr>
          <a:xfrm>
            <a:off x="7059168" y="182880"/>
            <a:ext cx="932688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Análisis</a:t>
            </a:r>
          </a:p>
        </p:txBody>
      </p:sp>
      <p:cxnSp>
        <p:nvCxnSpPr>
          <p:cNvPr id="14" name="Linea 14"/>
          <p:cNvCxnSpPr/>
          <p:nvPr/>
        </p:nvCxnSpPr>
        <p:spPr>
          <a:xfrm>
            <a:off x="640080" y="640080"/>
            <a:ext cx="10908792" cy="0"/>
          </a:xfrm>
          <a:prstGeom prst="line">
            <a:avLst/>
          </a:prstGeom>
          <a:ln w="9525" cap="rnd">
            <a:solidFill>
              <a:srgbClr val="36457A"/>
            </a:solidFill>
            <a:round/>
          </a:ln>
        </p:spPr>
      </p:cxnSp>
      <p:sp>
        <p:nvSpPr>
          <p:cNvPr id="15" name="Forma 15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400" i="1" cap="all" dirty="0">
                <a:solidFill>
                  <a:srgbClr val="F5EBD8"/>
                </a:solidFill>
                <a:latin typeface="DM Serif Display"/>
                <a:cs typeface="DM Serif Display"/>
              </a:rPr>
              <a:t>CADA TÁCTICA PROTEGE UN </a:t>
            </a:r>
            <a:r>
              <a:rPr lang="es-PE" sz="3400" i="1" cap="all" dirty="0">
                <a:solidFill>
                  <a:srgbClr val="FF665A"/>
                </a:solidFill>
                <a:latin typeface="DM Serif Display"/>
                <a:cs typeface="DM Serif Display"/>
              </a:rPr>
              <a:t>ATRIBUTO</a:t>
            </a:r>
          </a:p>
        </p:txBody>
      </p:sp>
      <p:sp>
        <p:nvSpPr>
          <p:cNvPr id="16" name="Forma 16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Arquitectura de Software (IS-488) · UNSCH</a:t>
            </a:r>
          </a:p>
        </p:txBody>
      </p:sp>
      <p:sp>
        <p:nvSpPr>
          <p:cNvPr id="17" name="Forma 17"/>
          <p:cNvSpPr/>
          <p:nvPr/>
        </p:nvSpPr>
        <p:spPr>
          <a:xfrm>
            <a:off x="10241280" y="6473952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09 / 15</a:t>
            </a:r>
          </a:p>
        </p:txBody>
      </p:sp>
      <p:sp>
        <p:nvSpPr>
          <p:cNvPr id="18" name="Forma 18"/>
          <p:cNvSpPr/>
          <p:nvPr/>
        </p:nvSpPr>
        <p:spPr>
          <a:xfrm>
            <a:off x="640080" y="1783080"/>
            <a:ext cx="3474720" cy="17830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31750">
            <a:solidFill>
              <a:srgbClr val="FF665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19" name="Forma 19"/>
          <p:cNvSpPr/>
          <p:nvPr/>
        </p:nvSpPr>
        <p:spPr>
          <a:xfrm>
            <a:off x="822960" y="1965960"/>
            <a:ext cx="128016" cy="128016"/>
          </a:xfrm>
          <a:prstGeom prst="ellipse">
            <a:avLst/>
          </a:prstGeom>
          <a:solidFill>
            <a:srgbClr val="FF665A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sp>
        <p:nvSpPr>
          <p:cNvPr id="20" name="Forma 20"/>
          <p:cNvSpPr/>
          <p:nvPr/>
        </p:nvSpPr>
        <p:spPr>
          <a:xfrm>
            <a:off x="1051560" y="190195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spc="80" dirty="0">
                <a:solidFill>
                  <a:srgbClr val="F5EBD8"/>
                </a:solidFill>
                <a:latin typeface="Segoe UI"/>
                <a:cs typeface="Segoe UI"/>
              </a:rPr>
              <a:t>CONSISTENCIA</a:t>
            </a:r>
          </a:p>
        </p:txBody>
      </p:sp>
      <p:sp>
        <p:nvSpPr>
          <p:cNvPr id="21" name="Forma 21"/>
          <p:cNvSpPr/>
          <p:nvPr/>
        </p:nvSpPr>
        <p:spPr>
          <a:xfrm>
            <a:off x="822960" y="233172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400" dirty="0">
                <a:solidFill>
                  <a:srgbClr val="F5EBD8"/>
                </a:solidFill>
                <a:latin typeface="Segoe UI"/>
                <a:cs typeface="Segoe UI"/>
              </a:rPr>
              <a:t>Transacción, actualización condicional e idempotencia</a:t>
            </a:r>
          </a:p>
        </p:txBody>
      </p:sp>
      <p:sp>
        <p:nvSpPr>
          <p:cNvPr id="22" name="Forma 22"/>
          <p:cNvSpPr/>
          <p:nvPr/>
        </p:nvSpPr>
        <p:spPr>
          <a:xfrm>
            <a:off x="4361688" y="1783080"/>
            <a:ext cx="3474720" cy="17830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3" name="Forma 23"/>
          <p:cNvSpPr/>
          <p:nvPr/>
        </p:nvSpPr>
        <p:spPr>
          <a:xfrm>
            <a:off x="4544568" y="1965960"/>
            <a:ext cx="128016" cy="128016"/>
          </a:xfrm>
          <a:prstGeom prst="ellipse">
            <a:avLst/>
          </a:prstGeom>
          <a:solidFill>
            <a:srgbClr val="36C8D4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sp>
        <p:nvSpPr>
          <p:cNvPr id="24" name="Forma 24"/>
          <p:cNvSpPr/>
          <p:nvPr/>
        </p:nvSpPr>
        <p:spPr>
          <a:xfrm>
            <a:off x="4773168" y="190195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spc="80" dirty="0">
                <a:solidFill>
                  <a:srgbClr val="F5EBD8"/>
                </a:solidFill>
                <a:latin typeface="Segoe UI"/>
                <a:cs typeface="Segoe UI"/>
              </a:rPr>
              <a:t>RENDIMIENTO</a:t>
            </a:r>
          </a:p>
        </p:txBody>
      </p:sp>
      <p:sp>
        <p:nvSpPr>
          <p:cNvPr id="25" name="Forma 25"/>
          <p:cNvSpPr/>
          <p:nvPr/>
        </p:nvSpPr>
        <p:spPr>
          <a:xfrm>
            <a:off x="4544568" y="233172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400" dirty="0">
                <a:solidFill>
                  <a:srgbClr val="F5EBD8"/>
                </a:solidFill>
                <a:latin typeface="Segoe UI"/>
                <a:cs typeface="Segoe UI"/>
              </a:rPr>
              <a:t>Redis, con validación definitiva contra la base al reservar</a:t>
            </a:r>
          </a:p>
        </p:txBody>
      </p:sp>
      <p:sp>
        <p:nvSpPr>
          <p:cNvPr id="26" name="Forma 26"/>
          <p:cNvSpPr/>
          <p:nvPr/>
        </p:nvSpPr>
        <p:spPr>
          <a:xfrm>
            <a:off x="8083296" y="1783080"/>
            <a:ext cx="3474720" cy="17830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7" name="Forma 27"/>
          <p:cNvSpPr/>
          <p:nvPr/>
        </p:nvSpPr>
        <p:spPr>
          <a:xfrm>
            <a:off x="8266176" y="1965960"/>
            <a:ext cx="128016" cy="128016"/>
          </a:xfrm>
          <a:prstGeom prst="ellipse">
            <a:avLst/>
          </a:prstGeom>
          <a:solidFill>
            <a:srgbClr val="A9E85E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sp>
        <p:nvSpPr>
          <p:cNvPr id="28" name="Forma 28"/>
          <p:cNvSpPr/>
          <p:nvPr/>
        </p:nvSpPr>
        <p:spPr>
          <a:xfrm>
            <a:off x="8494776" y="190195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spc="80" dirty="0">
                <a:solidFill>
                  <a:srgbClr val="F5EBD8"/>
                </a:solidFill>
                <a:latin typeface="Segoe UI"/>
                <a:cs typeface="Segoe UI"/>
              </a:rPr>
              <a:t>DISPONIBILIDAD</a:t>
            </a:r>
          </a:p>
        </p:txBody>
      </p:sp>
      <p:sp>
        <p:nvSpPr>
          <p:cNvPr id="29" name="Forma 29"/>
          <p:cNvSpPr/>
          <p:nvPr/>
        </p:nvSpPr>
        <p:spPr>
          <a:xfrm>
            <a:off x="8266176" y="233172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400" dirty="0">
                <a:solidFill>
                  <a:srgbClr val="F5EBD8"/>
                </a:solidFill>
                <a:latin typeface="Segoe UI"/>
                <a:cs typeface="Segoe UI"/>
              </a:rPr>
              <a:t>Reinicio automático, degradación controlada y avisos no bloqueantes</a:t>
            </a:r>
          </a:p>
        </p:txBody>
      </p:sp>
      <p:sp>
        <p:nvSpPr>
          <p:cNvPr id="30" name="Forma 30"/>
          <p:cNvSpPr/>
          <p:nvPr/>
        </p:nvSpPr>
        <p:spPr>
          <a:xfrm>
            <a:off x="640080" y="3749040"/>
            <a:ext cx="3474720" cy="17830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1" name="Forma 31"/>
          <p:cNvSpPr/>
          <p:nvPr/>
        </p:nvSpPr>
        <p:spPr>
          <a:xfrm>
            <a:off x="822960" y="3931920"/>
            <a:ext cx="128016" cy="12801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sp>
        <p:nvSpPr>
          <p:cNvPr id="32" name="Forma 32"/>
          <p:cNvSpPr/>
          <p:nvPr/>
        </p:nvSpPr>
        <p:spPr>
          <a:xfrm>
            <a:off x="1051560" y="38679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spc="80" dirty="0">
                <a:solidFill>
                  <a:srgbClr val="F5EBD8"/>
                </a:solidFill>
                <a:latin typeface="Segoe UI"/>
                <a:cs typeface="Segoe UI"/>
              </a:rPr>
              <a:t>SEGURIDAD</a:t>
            </a:r>
          </a:p>
        </p:txBody>
      </p:sp>
      <p:sp>
        <p:nvSpPr>
          <p:cNvPr id="33" name="Forma 33"/>
          <p:cNvSpPr/>
          <p:nvPr/>
        </p:nvSpPr>
        <p:spPr>
          <a:xfrm>
            <a:off x="822960" y="429768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400" dirty="0">
                <a:solidFill>
                  <a:srgbClr val="F5EBD8"/>
                </a:solidFill>
                <a:latin typeface="Segoe UI"/>
                <a:cs typeface="Segoe UI"/>
              </a:rPr>
              <a:t>Credencial de 15 min, segundo factor, alcance por sucursal y bases sin puertos publicados</a:t>
            </a:r>
          </a:p>
        </p:txBody>
      </p:sp>
      <p:sp>
        <p:nvSpPr>
          <p:cNvPr id="34" name="Forma 34"/>
          <p:cNvSpPr/>
          <p:nvPr/>
        </p:nvSpPr>
        <p:spPr>
          <a:xfrm>
            <a:off x="4361688" y="3749040"/>
            <a:ext cx="3474720" cy="17830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5" name="Forma 35"/>
          <p:cNvSpPr/>
          <p:nvPr/>
        </p:nvSpPr>
        <p:spPr>
          <a:xfrm>
            <a:off x="4544568" y="3931920"/>
            <a:ext cx="128016" cy="128016"/>
          </a:xfrm>
          <a:prstGeom prst="ellipse">
            <a:avLst/>
          </a:prstGeom>
          <a:solidFill>
            <a:srgbClr val="36C8D4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sp>
        <p:nvSpPr>
          <p:cNvPr id="36" name="Forma 36"/>
          <p:cNvSpPr/>
          <p:nvPr/>
        </p:nvSpPr>
        <p:spPr>
          <a:xfrm>
            <a:off x="4773168" y="38679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spc="80" dirty="0">
                <a:solidFill>
                  <a:srgbClr val="F5EBD8"/>
                </a:solidFill>
                <a:latin typeface="Segoe UI"/>
                <a:cs typeface="Segoe UI"/>
              </a:rPr>
              <a:t>CONTENIDO DIGITAL</a:t>
            </a:r>
          </a:p>
        </p:txBody>
      </p:sp>
      <p:sp>
        <p:nvSpPr>
          <p:cNvPr id="37" name="Forma 37"/>
          <p:cNvSpPr/>
          <p:nvPr/>
        </p:nvSpPr>
        <p:spPr>
          <a:xfrm>
            <a:off x="4544568" y="429768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400" dirty="0">
                <a:solidFill>
                  <a:srgbClr val="F5EBD8"/>
                </a:solidFill>
                <a:latin typeface="Segoe UI"/>
                <a:cs typeface="Segoe UI"/>
              </a:rPr>
              <a:t>Almacén privado y URL firmada de 5 min, con 5 descargas</a:t>
            </a:r>
          </a:p>
        </p:txBody>
      </p:sp>
      <p:sp>
        <p:nvSpPr>
          <p:cNvPr id="38" name="Forma 38"/>
          <p:cNvSpPr/>
          <p:nvPr/>
        </p:nvSpPr>
        <p:spPr>
          <a:xfrm>
            <a:off x="8083296" y="3749040"/>
            <a:ext cx="3474720" cy="17830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9" name="Forma 39"/>
          <p:cNvSpPr/>
          <p:nvPr/>
        </p:nvSpPr>
        <p:spPr>
          <a:xfrm>
            <a:off x="8266176" y="3931920"/>
            <a:ext cx="128016" cy="128016"/>
          </a:xfrm>
          <a:prstGeom prst="ellipse">
            <a:avLst/>
          </a:prstGeom>
          <a:solidFill>
            <a:srgbClr val="B7B3A8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sp>
        <p:nvSpPr>
          <p:cNvPr id="40" name="Forma 40"/>
          <p:cNvSpPr/>
          <p:nvPr/>
        </p:nvSpPr>
        <p:spPr>
          <a:xfrm>
            <a:off x="8494776" y="38679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spc="80" dirty="0">
                <a:solidFill>
                  <a:srgbClr val="F5EBD8"/>
                </a:solidFill>
                <a:latin typeface="Segoe UI"/>
                <a:cs typeface="Segoe UI"/>
              </a:rPr>
              <a:t>MANTENIBILIDAD</a:t>
            </a:r>
          </a:p>
        </p:txBody>
      </p:sp>
      <p:sp>
        <p:nvSpPr>
          <p:cNvPr id="41" name="Forma 41"/>
          <p:cNvSpPr/>
          <p:nvPr/>
        </p:nvSpPr>
        <p:spPr>
          <a:xfrm>
            <a:off x="8266176" y="429768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400" dirty="0">
                <a:solidFill>
                  <a:srgbClr val="F5EBD8"/>
                </a:solidFill>
                <a:latin typeface="Segoe UI"/>
                <a:cs typeface="Segoe UI"/>
              </a:rPr>
              <a:t>Capas, puertos y pruebas de arquitectura</a:t>
            </a:r>
          </a:p>
        </p:txBody>
      </p:sp>
      <p:sp>
        <p:nvSpPr>
          <p:cNvPr id="42" name="Forma 42"/>
          <p:cNvSpPr/>
          <p:nvPr/>
        </p:nvSpPr>
        <p:spPr>
          <a:xfrm>
            <a:off x="2194560" y="5806440"/>
            <a:ext cx="777240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6457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b="1" dirty="0">
                <a:solidFill>
                  <a:srgbClr val="F5EBD8"/>
                </a:solidFill>
                <a:latin typeface="Segoe UI"/>
                <a:cs typeface="Segoe UI"/>
              </a:rPr>
              <a:t>27 amenazas · 38 controles ASVS · Ley N.° 29733 de datos personales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640080" y="155448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F665A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cxnSp>
        <p:nvCxnSpPr>
          <p:cNvPr id="3" name="Linea 3"/>
          <p:cNvCxnSpPr/>
          <p:nvPr/>
        </p:nvCxnSpPr>
        <p:spPr>
          <a:xfrm>
            <a:off x="704088" y="228600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4" name="Linea 4"/>
          <p:cNvCxnSpPr/>
          <p:nvPr/>
        </p:nvCxnSpPr>
        <p:spPr>
          <a:xfrm>
            <a:off x="905256" y="228600"/>
            <a:ext cx="0" cy="192024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5" name="Linea 5"/>
          <p:cNvCxnSpPr/>
          <p:nvPr/>
        </p:nvCxnSpPr>
        <p:spPr>
          <a:xfrm flipH="1">
            <a:off x="704088" y="420624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6" name="Linea 6"/>
          <p:cNvCxnSpPr/>
          <p:nvPr/>
        </p:nvCxnSpPr>
        <p:spPr>
          <a:xfrm flipV="1">
            <a:off x="704088" y="310896"/>
            <a:ext cx="0" cy="109728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7" name="Linea 7"/>
          <p:cNvCxnSpPr/>
          <p:nvPr/>
        </p:nvCxnSpPr>
        <p:spPr>
          <a:xfrm>
            <a:off x="704088" y="310896"/>
            <a:ext cx="118872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sp>
        <p:nvSpPr>
          <p:cNvPr id="8" name="Forma 8"/>
          <p:cNvSpPr/>
          <p:nvPr/>
        </p:nvSpPr>
        <p:spPr>
          <a:xfrm>
            <a:off x="1078992" y="128016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800" dirty="0">
                <a:solidFill>
                  <a:srgbClr val="F5EBD8"/>
                </a:solidFill>
                <a:latin typeface="DM Serif Display"/>
                <a:cs typeface="DM Serif Display"/>
              </a:rPr>
              <a:t>BabelHub</a:t>
            </a:r>
          </a:p>
        </p:txBody>
      </p:sp>
      <p:sp>
        <p:nvSpPr>
          <p:cNvPr id="9" name="Forma 9"/>
          <p:cNvSpPr/>
          <p:nvPr/>
        </p:nvSpPr>
        <p:spPr>
          <a:xfrm>
            <a:off x="10771632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Cierre</a:t>
            </a:r>
          </a:p>
        </p:txBody>
      </p:sp>
      <p:sp>
        <p:nvSpPr>
          <p:cNvPr id="10" name="Forma 10"/>
          <p:cNvSpPr/>
          <p:nvPr/>
        </p:nvSpPr>
        <p:spPr>
          <a:xfrm>
            <a:off x="10232136" y="182880"/>
            <a:ext cx="466344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C4</a:t>
            </a:r>
          </a:p>
        </p:txBody>
      </p:sp>
      <p:sp>
        <p:nvSpPr>
          <p:cNvPr id="11" name="Forma 11"/>
          <p:cNvSpPr/>
          <p:nvPr/>
        </p:nvSpPr>
        <p:spPr>
          <a:xfrm>
            <a:off x="9381744" y="18288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B2A57"/>
          </a:solidFill>
          <a:ln w="12700">
            <a:solidFill>
              <a:srgbClr val="FF665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F5EBD8"/>
                </a:solidFill>
                <a:latin typeface="Segoe UI"/>
                <a:cs typeface="Segoe UI"/>
              </a:rPr>
              <a:t>Diseño</a:t>
            </a:r>
          </a:p>
        </p:txBody>
      </p:sp>
      <p:sp>
        <p:nvSpPr>
          <p:cNvPr id="12" name="Forma 12"/>
          <p:cNvSpPr/>
          <p:nvPr/>
        </p:nvSpPr>
        <p:spPr>
          <a:xfrm>
            <a:off x="8065008" y="182880"/>
            <a:ext cx="1243584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Arquitectura</a:t>
            </a:r>
          </a:p>
        </p:txBody>
      </p:sp>
      <p:sp>
        <p:nvSpPr>
          <p:cNvPr id="13" name="Forma 13"/>
          <p:cNvSpPr/>
          <p:nvPr/>
        </p:nvSpPr>
        <p:spPr>
          <a:xfrm>
            <a:off x="7059168" y="182880"/>
            <a:ext cx="932688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Análisis</a:t>
            </a:r>
          </a:p>
        </p:txBody>
      </p:sp>
      <p:cxnSp>
        <p:nvCxnSpPr>
          <p:cNvPr id="14" name="Linea 14"/>
          <p:cNvCxnSpPr/>
          <p:nvPr/>
        </p:nvCxnSpPr>
        <p:spPr>
          <a:xfrm>
            <a:off x="640080" y="640080"/>
            <a:ext cx="10908792" cy="0"/>
          </a:xfrm>
          <a:prstGeom prst="line">
            <a:avLst/>
          </a:prstGeom>
          <a:ln w="9525" cap="rnd">
            <a:solidFill>
              <a:srgbClr val="36457A"/>
            </a:solidFill>
            <a:round/>
          </a:ln>
        </p:spPr>
      </p:cxnSp>
      <p:sp>
        <p:nvSpPr>
          <p:cNvPr id="15" name="Forma 15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400" i="1" cap="all" dirty="0">
                <a:solidFill>
                  <a:srgbClr val="F5EBD8"/>
                </a:solidFill>
                <a:latin typeface="DM Serif Display"/>
                <a:cs typeface="DM Serif Display"/>
              </a:rPr>
              <a:t>CAPAS QUE </a:t>
            </a:r>
            <a:r>
              <a:rPr lang="es-PE" sz="3400" i="1" cap="all" dirty="0">
                <a:solidFill>
                  <a:srgbClr val="FF665A"/>
                </a:solidFill>
                <a:latin typeface="DM Serif Display"/>
                <a:cs typeface="DM Serif Display"/>
              </a:rPr>
              <a:t>PROTEGEN</a:t>
            </a:r>
            <a:r>
              <a:rPr lang="es-PE" sz="3400" i="1" cap="all" dirty="0">
                <a:solidFill>
                  <a:srgbClr val="F5EBD8"/>
                </a:solidFill>
                <a:latin typeface="DM Serif Display"/>
                <a:cs typeface="DM Serif Display"/>
              </a:rPr>
              <a:t> EL DOMINIO</a:t>
            </a:r>
          </a:p>
        </p:txBody>
      </p:sp>
      <p:sp>
        <p:nvSpPr>
          <p:cNvPr id="16" name="Forma 16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Arquitectura de Software (IS-488) · UNSCH</a:t>
            </a:r>
          </a:p>
        </p:txBody>
      </p:sp>
      <p:sp>
        <p:nvSpPr>
          <p:cNvPr id="17" name="Forma 17"/>
          <p:cNvSpPr/>
          <p:nvPr/>
        </p:nvSpPr>
        <p:spPr>
          <a:xfrm>
            <a:off x="10241280" y="6473952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10 / 15</a:t>
            </a:r>
          </a:p>
        </p:txBody>
      </p:sp>
      <p:sp>
        <p:nvSpPr>
          <p:cNvPr id="18" name="Forma 18"/>
          <p:cNvSpPr/>
          <p:nvPr/>
        </p:nvSpPr>
        <p:spPr>
          <a:xfrm>
            <a:off x="640080" y="1828800"/>
            <a:ext cx="5029200" cy="65836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64592" tIns="164592" rIns="164592" bIns="164592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00" dirty="0">
                <a:solidFill>
                  <a:srgbClr val="F5EBD8"/>
                </a:solidFill>
                <a:latin typeface="Segoe UI"/>
                <a:cs typeface="Segoe UI"/>
              </a:rPr>
              <a:t>Presentación / Api · traduce HTTP y compone</a:t>
            </a:r>
          </a:p>
        </p:txBody>
      </p:sp>
      <p:cxnSp>
        <p:nvCxnSpPr>
          <p:cNvPr id="19" name="Linea 19"/>
          <p:cNvCxnSpPr/>
          <p:nvPr/>
        </p:nvCxnSpPr>
        <p:spPr>
          <a:xfrm>
            <a:off x="3154680" y="2487168"/>
            <a:ext cx="0" cy="301752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20" name="Forma 20"/>
          <p:cNvSpPr/>
          <p:nvPr/>
        </p:nvSpPr>
        <p:spPr>
          <a:xfrm>
            <a:off x="640080" y="2788920"/>
            <a:ext cx="5029200" cy="65836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64592" tIns="164592" rIns="164592" bIns="164592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00" dirty="0">
                <a:solidFill>
                  <a:srgbClr val="F5EBD8"/>
                </a:solidFill>
                <a:latin typeface="Segoe UI"/>
                <a:cs typeface="Segoe UI"/>
              </a:rPr>
              <a:t>Aplicación · casos de uso y puertos</a:t>
            </a:r>
          </a:p>
        </p:txBody>
      </p:sp>
      <p:cxnSp>
        <p:nvCxnSpPr>
          <p:cNvPr id="21" name="Linea 21"/>
          <p:cNvCxnSpPr/>
          <p:nvPr/>
        </p:nvCxnSpPr>
        <p:spPr>
          <a:xfrm>
            <a:off x="3154680" y="3447288"/>
            <a:ext cx="0" cy="301752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22" name="Forma 22"/>
          <p:cNvSpPr/>
          <p:nvPr/>
        </p:nvSpPr>
        <p:spPr>
          <a:xfrm>
            <a:off x="640080" y="3749040"/>
            <a:ext cx="5029200" cy="658368"/>
          </a:xfrm>
          <a:prstGeom prst="roundRect">
            <a:avLst>
              <a:gd name="adj" fmla="val 2500"/>
            </a:avLst>
          </a:prstGeom>
          <a:solidFill>
            <a:srgbClr val="FF665A"/>
          </a:solidFill>
          <a:ln w="12700">
            <a:solidFill>
              <a:srgbClr val="36457A"/>
            </a:solidFill>
          </a:ln>
        </p:spPr>
        <p:txBody>
          <a:bodyPr wrap="square" lIns="164592" tIns="164592" rIns="164592" bIns="164592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00" b="1" dirty="0">
                <a:solidFill>
                  <a:srgbClr val="172554"/>
                </a:solidFill>
                <a:latin typeface="Segoe UI"/>
                <a:cs typeface="Segoe UI"/>
              </a:rPr>
              <a:t>Dominio · reglas del negocio</a:t>
            </a:r>
          </a:p>
        </p:txBody>
      </p:sp>
      <p:sp>
        <p:nvSpPr>
          <p:cNvPr id="23" name="Forma 23"/>
          <p:cNvSpPr/>
          <p:nvPr/>
        </p:nvSpPr>
        <p:spPr>
          <a:xfrm>
            <a:off x="640080" y="4709160"/>
            <a:ext cx="5029200" cy="65836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64592" tIns="164592" rIns="164592" bIns="164592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00" dirty="0">
                <a:solidFill>
                  <a:srgbClr val="F5EBD8"/>
                </a:solidFill>
                <a:latin typeface="Segoe UI"/>
                <a:cs typeface="Segoe UI"/>
              </a:rPr>
              <a:t>Infraestructura · EF Core, Redis, Culqi, n8n</a:t>
            </a:r>
          </a:p>
        </p:txBody>
      </p:sp>
      <p:cxnSp>
        <p:nvCxnSpPr>
          <p:cNvPr id="24" name="Linea 24"/>
          <p:cNvCxnSpPr/>
          <p:nvPr/>
        </p:nvCxnSpPr>
        <p:spPr>
          <a:xfrm flipV="1">
            <a:off x="5897880" y="3154680"/>
            <a:ext cx="0" cy="1417320"/>
          </a:xfrm>
          <a:prstGeom prst="line">
            <a:avLst/>
          </a:prstGeom>
          <a:ln w="25400" cap="rnd">
            <a:solidFill>
              <a:srgbClr val="A9E85E"/>
            </a:solidFill>
            <a:round/>
            <a:tailEnd type="triangle" w="med" len="med"/>
          </a:ln>
        </p:spPr>
      </p:cxnSp>
      <p:sp>
        <p:nvSpPr>
          <p:cNvPr id="25" name="Forma 25"/>
          <p:cNvSpPr/>
          <p:nvPr/>
        </p:nvSpPr>
        <p:spPr>
          <a:xfrm>
            <a:off x="6035040" y="3749040"/>
            <a:ext cx="82296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A9E85E"/>
                </a:solidFill>
                <a:latin typeface="Segoe UI"/>
                <a:cs typeface="Segoe UI"/>
              </a:rPr>
              <a:t>implementa los puertos</a:t>
            </a:r>
          </a:p>
        </p:txBody>
      </p:sp>
      <p:sp>
        <p:nvSpPr>
          <p:cNvPr id="26" name="Forma 26"/>
          <p:cNvSpPr/>
          <p:nvPr/>
        </p:nvSpPr>
        <p:spPr>
          <a:xfrm>
            <a:off x="640080" y="571500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i="1" dirty="0">
                <a:solidFill>
                  <a:srgbClr val="B7B3A8"/>
                </a:solidFill>
                <a:latin typeface="Segoe UI"/>
                <a:cs typeface="Segoe UI"/>
              </a:rPr>
              <a:t>Las dependencias apuntan siempre hacia el dominio.</a:t>
            </a:r>
          </a:p>
        </p:txBody>
      </p:sp>
      <p:sp>
        <p:nvSpPr>
          <p:cNvPr id="27" name="Forma 27"/>
          <p:cNvSpPr/>
          <p:nvPr/>
        </p:nvSpPr>
        <p:spPr>
          <a:xfrm>
            <a:off x="7040880" y="178308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950" b="1" spc="60" dirty="0">
                <a:solidFill>
                  <a:srgbClr val="B7B3A8"/>
                </a:solidFill>
                <a:latin typeface="Segoe UI"/>
                <a:cs typeface="Segoe UI"/>
              </a:rPr>
              <a:t>PATRONES, SOLO DONDE RESUELVEN UN PROBLEMA</a:t>
            </a:r>
          </a:p>
        </p:txBody>
      </p:sp>
      <p:sp>
        <p:nvSpPr>
          <p:cNvPr id="28" name="Forma 28"/>
          <p:cNvSpPr/>
          <p:nvPr/>
        </p:nvSpPr>
        <p:spPr>
          <a:xfrm>
            <a:off x="7040880" y="2103120"/>
            <a:ext cx="4507992" cy="676656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9" name="Forma 29"/>
          <p:cNvSpPr/>
          <p:nvPr/>
        </p:nvSpPr>
        <p:spPr>
          <a:xfrm>
            <a:off x="7205472" y="21488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50" dirty="0">
                <a:solidFill>
                  <a:srgbClr val="F5EBD8"/>
                </a:solidFill>
                <a:latin typeface="DM Serif Display"/>
                <a:cs typeface="DM Serif Display"/>
              </a:rPr>
              <a:t>Estrategia</a:t>
            </a:r>
          </a:p>
        </p:txBody>
      </p:sp>
      <p:sp>
        <p:nvSpPr>
          <p:cNvPr id="30" name="Forma 30"/>
          <p:cNvSpPr/>
          <p:nvPr/>
        </p:nvSpPr>
        <p:spPr>
          <a:xfrm>
            <a:off x="7205472" y="245059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00" dirty="0">
                <a:solidFill>
                  <a:srgbClr val="B7B3A8"/>
                </a:solidFill>
                <a:latin typeface="Segoe UI"/>
                <a:cs typeface="Segoe UI"/>
              </a:rPr>
              <a:t>cambiar la selección de fuente sin tocar el contrato</a:t>
            </a:r>
          </a:p>
        </p:txBody>
      </p:sp>
      <p:sp>
        <p:nvSpPr>
          <p:cNvPr id="31" name="Forma 31"/>
          <p:cNvSpPr/>
          <p:nvPr/>
        </p:nvSpPr>
        <p:spPr>
          <a:xfrm>
            <a:off x="7040880" y="2862072"/>
            <a:ext cx="4507992" cy="676656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2" name="Forma 32"/>
          <p:cNvSpPr/>
          <p:nvPr/>
        </p:nvSpPr>
        <p:spPr>
          <a:xfrm>
            <a:off x="7205472" y="290779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50" dirty="0">
                <a:solidFill>
                  <a:srgbClr val="F5EBD8"/>
                </a:solidFill>
                <a:latin typeface="DM Serif Display"/>
                <a:cs typeface="DM Serif Display"/>
              </a:rPr>
              <a:t>Repositorio y unidad de trabajo</a:t>
            </a:r>
          </a:p>
        </p:txBody>
      </p:sp>
      <p:sp>
        <p:nvSpPr>
          <p:cNvPr id="33" name="Forma 33"/>
          <p:cNvSpPr/>
          <p:nvPr/>
        </p:nvSpPr>
        <p:spPr>
          <a:xfrm>
            <a:off x="7205472" y="3209544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00" dirty="0">
                <a:solidFill>
                  <a:srgbClr val="B7B3A8"/>
                </a:solidFill>
                <a:latin typeface="Segoe UI"/>
                <a:cs typeface="Segoe UI"/>
              </a:rPr>
              <a:t>datos y auditoría en la misma transacción</a:t>
            </a:r>
          </a:p>
        </p:txBody>
      </p:sp>
      <p:sp>
        <p:nvSpPr>
          <p:cNvPr id="34" name="Forma 34"/>
          <p:cNvSpPr/>
          <p:nvPr/>
        </p:nvSpPr>
        <p:spPr>
          <a:xfrm>
            <a:off x="7040880" y="3621024"/>
            <a:ext cx="4507992" cy="676656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5" name="Forma 35"/>
          <p:cNvSpPr/>
          <p:nvPr/>
        </p:nvSpPr>
        <p:spPr>
          <a:xfrm>
            <a:off x="7205472" y="3666744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50" dirty="0">
                <a:solidFill>
                  <a:srgbClr val="F5EBD8"/>
                </a:solidFill>
                <a:latin typeface="DM Serif Display"/>
                <a:cs typeface="DM Serif Display"/>
              </a:rPr>
              <a:t>Máquina de estados</a:t>
            </a:r>
          </a:p>
        </p:txBody>
      </p:sp>
      <p:sp>
        <p:nvSpPr>
          <p:cNvPr id="36" name="Forma 36"/>
          <p:cNvSpPr/>
          <p:nvPr/>
        </p:nvSpPr>
        <p:spPr>
          <a:xfrm>
            <a:off x="7205472" y="396849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00" dirty="0">
                <a:solidFill>
                  <a:srgbClr val="B7B3A8"/>
                </a:solidFill>
                <a:latin typeface="Segoe UI"/>
                <a:cs typeface="Segoe UI"/>
              </a:rPr>
              <a:t>reserva, traslado, línea, pago y devolución</a:t>
            </a:r>
          </a:p>
        </p:txBody>
      </p:sp>
      <p:sp>
        <p:nvSpPr>
          <p:cNvPr id="37" name="Forma 37"/>
          <p:cNvSpPr/>
          <p:nvPr/>
        </p:nvSpPr>
        <p:spPr>
          <a:xfrm>
            <a:off x="7040880" y="4379976"/>
            <a:ext cx="4507992" cy="676656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8" name="Forma 38"/>
          <p:cNvSpPr/>
          <p:nvPr/>
        </p:nvSpPr>
        <p:spPr>
          <a:xfrm>
            <a:off x="7205472" y="4425696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50" dirty="0">
                <a:solidFill>
                  <a:srgbClr val="F5EBD8"/>
                </a:solidFill>
                <a:latin typeface="DM Serif Display"/>
                <a:cs typeface="DM Serif Display"/>
              </a:rPr>
              <a:t>Puerto y adaptador</a:t>
            </a:r>
          </a:p>
        </p:txBody>
      </p:sp>
      <p:sp>
        <p:nvSpPr>
          <p:cNvPr id="39" name="Forma 39"/>
          <p:cNvSpPr/>
          <p:nvPr/>
        </p:nvSpPr>
        <p:spPr>
          <a:xfrm>
            <a:off x="7205472" y="472744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00" dirty="0">
                <a:solidFill>
                  <a:srgbClr val="B7B3A8"/>
                </a:solidFill>
                <a:latin typeface="Segoe UI"/>
                <a:cs typeface="Segoe UI"/>
              </a:rPr>
              <a:t>cambiar de pasarela o proveedor sin tocar el negocio</a:t>
            </a:r>
          </a:p>
        </p:txBody>
      </p:sp>
      <p:sp>
        <p:nvSpPr>
          <p:cNvPr id="40" name="Forma 40"/>
          <p:cNvSpPr/>
          <p:nvPr/>
        </p:nvSpPr>
        <p:spPr>
          <a:xfrm>
            <a:off x="7040880" y="5138928"/>
            <a:ext cx="4507992" cy="676656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41" name="Forma 41"/>
          <p:cNvSpPr/>
          <p:nvPr/>
        </p:nvSpPr>
        <p:spPr>
          <a:xfrm>
            <a:off x="7205472" y="5184648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50" dirty="0">
                <a:solidFill>
                  <a:srgbClr val="F5EBD8"/>
                </a:solidFill>
                <a:latin typeface="DM Serif Display"/>
                <a:cs typeface="DM Serif Display"/>
              </a:rPr>
              <a:t>Idempotencia</a:t>
            </a:r>
          </a:p>
        </p:txBody>
      </p:sp>
      <p:sp>
        <p:nvSpPr>
          <p:cNvPr id="42" name="Forma 42"/>
          <p:cNvSpPr/>
          <p:nvPr/>
        </p:nvSpPr>
        <p:spPr>
          <a:xfrm>
            <a:off x="7205472" y="54864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00" dirty="0">
                <a:solidFill>
                  <a:srgbClr val="B7B3A8"/>
                </a:solidFill>
                <a:latin typeface="Segoe UI"/>
                <a:cs typeface="Segoe UI"/>
              </a:rPr>
              <a:t>repetir una operación no la duplica</a:t>
            </a:r>
          </a:p>
        </p:txBody>
      </p:sp>
      <p:sp>
        <p:nvSpPr>
          <p:cNvPr id="43" name="Forma 43"/>
          <p:cNvSpPr/>
          <p:nvPr/>
        </p:nvSpPr>
        <p:spPr>
          <a:xfrm>
            <a:off x="7040880" y="6016752"/>
            <a:ext cx="4507992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6457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dirty="0">
                <a:solidFill>
                  <a:srgbClr val="F5EBD8"/>
                </a:solidFill>
                <a:latin typeface="Segoe UI"/>
                <a:cs typeface="Segoe UI"/>
              </a:rPr>
              <a:t>Una prueba de arquitectura hace cumplir las referencias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640080" y="155448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F665A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cxnSp>
        <p:nvCxnSpPr>
          <p:cNvPr id="3" name="Linea 3"/>
          <p:cNvCxnSpPr/>
          <p:nvPr/>
        </p:nvCxnSpPr>
        <p:spPr>
          <a:xfrm>
            <a:off x="704088" y="228600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4" name="Linea 4"/>
          <p:cNvCxnSpPr/>
          <p:nvPr/>
        </p:nvCxnSpPr>
        <p:spPr>
          <a:xfrm>
            <a:off x="905256" y="228600"/>
            <a:ext cx="0" cy="192024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5" name="Linea 5"/>
          <p:cNvCxnSpPr/>
          <p:nvPr/>
        </p:nvCxnSpPr>
        <p:spPr>
          <a:xfrm flipH="1">
            <a:off x="704088" y="420624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6" name="Linea 6"/>
          <p:cNvCxnSpPr/>
          <p:nvPr/>
        </p:nvCxnSpPr>
        <p:spPr>
          <a:xfrm flipV="1">
            <a:off x="704088" y="310896"/>
            <a:ext cx="0" cy="109728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7" name="Linea 7"/>
          <p:cNvCxnSpPr/>
          <p:nvPr/>
        </p:nvCxnSpPr>
        <p:spPr>
          <a:xfrm>
            <a:off x="704088" y="310896"/>
            <a:ext cx="118872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sp>
        <p:nvSpPr>
          <p:cNvPr id="8" name="Forma 8"/>
          <p:cNvSpPr/>
          <p:nvPr/>
        </p:nvSpPr>
        <p:spPr>
          <a:xfrm>
            <a:off x="1078992" y="128016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800" dirty="0">
                <a:solidFill>
                  <a:srgbClr val="F5EBD8"/>
                </a:solidFill>
                <a:latin typeface="DM Serif Display"/>
                <a:cs typeface="DM Serif Display"/>
              </a:rPr>
              <a:t>BabelHub</a:t>
            </a:r>
          </a:p>
        </p:txBody>
      </p:sp>
      <p:sp>
        <p:nvSpPr>
          <p:cNvPr id="9" name="Forma 9"/>
          <p:cNvSpPr/>
          <p:nvPr/>
        </p:nvSpPr>
        <p:spPr>
          <a:xfrm>
            <a:off x="10771632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Cierre</a:t>
            </a:r>
          </a:p>
        </p:txBody>
      </p:sp>
      <p:sp>
        <p:nvSpPr>
          <p:cNvPr id="10" name="Forma 10"/>
          <p:cNvSpPr/>
          <p:nvPr/>
        </p:nvSpPr>
        <p:spPr>
          <a:xfrm>
            <a:off x="10232136" y="182880"/>
            <a:ext cx="466344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C4</a:t>
            </a:r>
          </a:p>
        </p:txBody>
      </p:sp>
      <p:sp>
        <p:nvSpPr>
          <p:cNvPr id="11" name="Forma 11"/>
          <p:cNvSpPr/>
          <p:nvPr/>
        </p:nvSpPr>
        <p:spPr>
          <a:xfrm>
            <a:off x="9381744" y="18288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B2A57"/>
          </a:solidFill>
          <a:ln w="12700">
            <a:solidFill>
              <a:srgbClr val="FF665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F5EBD8"/>
                </a:solidFill>
                <a:latin typeface="Segoe UI"/>
                <a:cs typeface="Segoe UI"/>
              </a:rPr>
              <a:t>Diseño</a:t>
            </a:r>
          </a:p>
        </p:txBody>
      </p:sp>
      <p:sp>
        <p:nvSpPr>
          <p:cNvPr id="12" name="Forma 12"/>
          <p:cNvSpPr/>
          <p:nvPr/>
        </p:nvSpPr>
        <p:spPr>
          <a:xfrm>
            <a:off x="8065008" y="182880"/>
            <a:ext cx="1243584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Arquitectura</a:t>
            </a:r>
          </a:p>
        </p:txBody>
      </p:sp>
      <p:sp>
        <p:nvSpPr>
          <p:cNvPr id="13" name="Forma 13"/>
          <p:cNvSpPr/>
          <p:nvPr/>
        </p:nvSpPr>
        <p:spPr>
          <a:xfrm>
            <a:off x="7059168" y="182880"/>
            <a:ext cx="932688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Análisis</a:t>
            </a:r>
          </a:p>
        </p:txBody>
      </p:sp>
      <p:cxnSp>
        <p:nvCxnSpPr>
          <p:cNvPr id="14" name="Linea 14"/>
          <p:cNvCxnSpPr/>
          <p:nvPr/>
        </p:nvCxnSpPr>
        <p:spPr>
          <a:xfrm>
            <a:off x="640080" y="640080"/>
            <a:ext cx="10908792" cy="0"/>
          </a:xfrm>
          <a:prstGeom prst="line">
            <a:avLst/>
          </a:prstGeom>
          <a:ln w="9525" cap="rnd">
            <a:solidFill>
              <a:srgbClr val="36457A"/>
            </a:solidFill>
            <a:round/>
          </a:ln>
        </p:spPr>
      </p:cxnSp>
      <p:sp>
        <p:nvSpPr>
          <p:cNvPr id="15" name="Forma 15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400" i="1" cap="all" dirty="0">
                <a:solidFill>
                  <a:srgbClr val="F5EBD8"/>
                </a:solidFill>
                <a:latin typeface="DM Serif Display"/>
                <a:cs typeface="DM Serif Display"/>
              </a:rPr>
              <a:t>RESERVAR </a:t>
            </a:r>
            <a:r>
              <a:rPr lang="es-PE" sz="3400" i="1" cap="all" dirty="0">
                <a:solidFill>
                  <a:srgbClr val="FF665A"/>
                </a:solidFill>
                <a:latin typeface="DM Serif Display"/>
                <a:cs typeface="DM Serif Display"/>
              </a:rPr>
              <a:t>ANTES</a:t>
            </a:r>
            <a:r>
              <a:rPr lang="es-PE" sz="3400" i="1" cap="all" dirty="0">
                <a:solidFill>
                  <a:srgbClr val="F5EBD8"/>
                </a:solidFill>
                <a:latin typeface="DM Serif Display"/>
                <a:cs typeface="DM Serif Display"/>
              </a:rPr>
              <a:t> DE COBRAR</a:t>
            </a:r>
          </a:p>
        </p:txBody>
      </p:sp>
      <p:sp>
        <p:nvSpPr>
          <p:cNvPr id="16" name="Forma 16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Arquitectura de Software (IS-488) · UNSCH</a:t>
            </a:r>
          </a:p>
        </p:txBody>
      </p:sp>
      <p:sp>
        <p:nvSpPr>
          <p:cNvPr id="17" name="Forma 17"/>
          <p:cNvSpPr/>
          <p:nvPr/>
        </p:nvSpPr>
        <p:spPr>
          <a:xfrm>
            <a:off x="10241280" y="6473952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11 / 15</a:t>
            </a:r>
          </a:p>
        </p:txBody>
      </p:sp>
      <p:sp>
        <p:nvSpPr>
          <p:cNvPr id="18" name="Forma 18"/>
          <p:cNvSpPr/>
          <p:nvPr/>
        </p:nvSpPr>
        <p:spPr>
          <a:xfrm>
            <a:off x="822960" y="1783080"/>
            <a:ext cx="1828800" cy="45720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00" b="1" dirty="0">
                <a:solidFill>
                  <a:srgbClr val="F5EBD8"/>
                </a:solidFill>
                <a:latin typeface="Segoe UI"/>
                <a:cs typeface="Segoe UI"/>
              </a:rPr>
              <a:t>Cliente</a:t>
            </a:r>
          </a:p>
        </p:txBody>
      </p:sp>
      <p:cxnSp>
        <p:nvCxnSpPr>
          <p:cNvPr id="19" name="Linea 19"/>
          <p:cNvCxnSpPr/>
          <p:nvPr/>
        </p:nvCxnSpPr>
        <p:spPr>
          <a:xfrm>
            <a:off x="1737360" y="2240280"/>
            <a:ext cx="0" cy="2926080"/>
          </a:xfrm>
          <a:prstGeom prst="line">
            <a:avLst/>
          </a:prstGeom>
          <a:ln w="19050" cap="rnd">
            <a:solidFill>
              <a:srgbClr val="36457A"/>
            </a:solidFill>
            <a:prstDash val="dash"/>
            <a:round/>
          </a:ln>
        </p:spPr>
      </p:cxnSp>
      <p:sp>
        <p:nvSpPr>
          <p:cNvPr id="20" name="Forma 20"/>
          <p:cNvSpPr/>
          <p:nvPr/>
        </p:nvSpPr>
        <p:spPr>
          <a:xfrm>
            <a:off x="3611880" y="1783080"/>
            <a:ext cx="1828800" cy="45720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00" b="1" dirty="0">
                <a:solidFill>
                  <a:srgbClr val="F5EBD8"/>
                </a:solidFill>
                <a:latin typeface="Segoe UI"/>
                <a:cs typeface="Segoe UI"/>
              </a:rPr>
              <a:t>E-commerce</a:t>
            </a:r>
          </a:p>
        </p:txBody>
      </p:sp>
      <p:cxnSp>
        <p:nvCxnSpPr>
          <p:cNvPr id="21" name="Linea 21"/>
          <p:cNvCxnSpPr/>
          <p:nvPr/>
        </p:nvCxnSpPr>
        <p:spPr>
          <a:xfrm>
            <a:off x="4526280" y="2240280"/>
            <a:ext cx="0" cy="2926080"/>
          </a:xfrm>
          <a:prstGeom prst="line">
            <a:avLst/>
          </a:prstGeom>
          <a:ln w="19050" cap="rnd">
            <a:solidFill>
              <a:srgbClr val="36457A"/>
            </a:solidFill>
            <a:prstDash val="dash"/>
            <a:round/>
          </a:ln>
        </p:spPr>
      </p:cxnSp>
      <p:sp>
        <p:nvSpPr>
          <p:cNvPr id="22" name="Forma 22"/>
          <p:cNvSpPr/>
          <p:nvPr/>
        </p:nvSpPr>
        <p:spPr>
          <a:xfrm>
            <a:off x="6400800" y="1783080"/>
            <a:ext cx="1828800" cy="45720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25400">
            <a:solidFill>
              <a:srgbClr val="FF665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00" b="1" dirty="0">
                <a:solidFill>
                  <a:srgbClr val="F5EBD8"/>
                </a:solidFill>
                <a:latin typeface="Segoe UI"/>
                <a:cs typeface="Segoe UI"/>
              </a:rPr>
              <a:t>Inventario</a:t>
            </a:r>
          </a:p>
        </p:txBody>
      </p:sp>
      <p:cxnSp>
        <p:nvCxnSpPr>
          <p:cNvPr id="23" name="Linea 23"/>
          <p:cNvCxnSpPr/>
          <p:nvPr/>
        </p:nvCxnSpPr>
        <p:spPr>
          <a:xfrm>
            <a:off x="7315200" y="2240280"/>
            <a:ext cx="0" cy="2926080"/>
          </a:xfrm>
          <a:prstGeom prst="line">
            <a:avLst/>
          </a:prstGeom>
          <a:ln w="19050" cap="rnd">
            <a:solidFill>
              <a:srgbClr val="36457A"/>
            </a:solidFill>
            <a:prstDash val="dash"/>
            <a:round/>
          </a:ln>
        </p:spPr>
      </p:cxnSp>
      <p:sp>
        <p:nvSpPr>
          <p:cNvPr id="24" name="Forma 24"/>
          <p:cNvSpPr/>
          <p:nvPr/>
        </p:nvSpPr>
        <p:spPr>
          <a:xfrm>
            <a:off x="9189720" y="1783080"/>
            <a:ext cx="1828800" cy="45720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00" b="1" dirty="0">
                <a:solidFill>
                  <a:srgbClr val="F5EBD8"/>
                </a:solidFill>
                <a:latin typeface="Segoe UI"/>
                <a:cs typeface="Segoe UI"/>
              </a:rPr>
              <a:t>Culqi</a:t>
            </a:r>
          </a:p>
        </p:txBody>
      </p:sp>
      <p:cxnSp>
        <p:nvCxnSpPr>
          <p:cNvPr id="25" name="Linea 25"/>
          <p:cNvCxnSpPr/>
          <p:nvPr/>
        </p:nvCxnSpPr>
        <p:spPr>
          <a:xfrm>
            <a:off x="10104120" y="2240280"/>
            <a:ext cx="0" cy="2926080"/>
          </a:xfrm>
          <a:prstGeom prst="line">
            <a:avLst/>
          </a:prstGeom>
          <a:ln w="19050" cap="rnd">
            <a:solidFill>
              <a:srgbClr val="36457A"/>
            </a:solidFill>
            <a:prstDash val="dash"/>
            <a:round/>
          </a:ln>
        </p:spPr>
      </p:cxnSp>
      <p:sp>
        <p:nvSpPr>
          <p:cNvPr id="26" name="Forma 26"/>
          <p:cNvSpPr/>
          <p:nvPr/>
        </p:nvSpPr>
        <p:spPr>
          <a:xfrm>
            <a:off x="1828800" y="2340864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b="1" dirty="0">
                <a:solidFill>
                  <a:srgbClr val="F5EBD8"/>
                </a:solidFill>
                <a:latin typeface="Segoe UI"/>
                <a:cs typeface="Segoe UI"/>
              </a:rPr>
              <a:t>1  Confirma el pedido</a:t>
            </a:r>
          </a:p>
        </p:txBody>
      </p:sp>
      <p:cxnSp>
        <p:nvCxnSpPr>
          <p:cNvPr id="27" name="Linea 27"/>
          <p:cNvCxnSpPr/>
          <p:nvPr/>
        </p:nvCxnSpPr>
        <p:spPr>
          <a:xfrm>
            <a:off x="1737360" y="2651760"/>
            <a:ext cx="2788920" cy="0"/>
          </a:xfrm>
          <a:prstGeom prst="line">
            <a:avLst/>
          </a:prstGeom>
          <a:ln w="28575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28" name="Forma 28"/>
          <p:cNvSpPr/>
          <p:nvPr/>
        </p:nvSpPr>
        <p:spPr>
          <a:xfrm>
            <a:off x="4617720" y="2706624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b="1" dirty="0">
                <a:solidFill>
                  <a:srgbClr val="FF665A"/>
                </a:solidFill>
                <a:latin typeface="Segoe UI"/>
                <a:cs typeface="Segoe UI"/>
              </a:rPr>
              <a:t>2  Reserva 15 minutos</a:t>
            </a:r>
          </a:p>
        </p:txBody>
      </p:sp>
      <p:cxnSp>
        <p:nvCxnSpPr>
          <p:cNvPr id="29" name="Linea 29"/>
          <p:cNvCxnSpPr/>
          <p:nvPr/>
        </p:nvCxnSpPr>
        <p:spPr>
          <a:xfrm>
            <a:off x="4526280" y="3017520"/>
            <a:ext cx="2788920" cy="0"/>
          </a:xfrm>
          <a:prstGeom prst="line">
            <a:avLst/>
          </a:prstGeom>
          <a:ln w="28575" cap="rnd">
            <a:solidFill>
              <a:srgbClr val="FF665A"/>
            </a:solidFill>
            <a:round/>
            <a:tailEnd type="triangle" w="med" len="med"/>
          </a:ln>
        </p:spPr>
      </p:cxnSp>
      <p:sp>
        <p:nvSpPr>
          <p:cNvPr id="30" name="Forma 30"/>
          <p:cNvSpPr/>
          <p:nvPr/>
        </p:nvSpPr>
        <p:spPr>
          <a:xfrm>
            <a:off x="4617720" y="3072384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b="1" dirty="0">
                <a:solidFill>
                  <a:srgbClr val="F5EBD8"/>
                </a:solidFill>
                <a:latin typeface="Segoe UI"/>
                <a:cs typeface="Segoe UI"/>
              </a:rPr>
              <a:t>3  Fuente asignada</a:t>
            </a:r>
          </a:p>
        </p:txBody>
      </p:sp>
      <p:cxnSp>
        <p:nvCxnSpPr>
          <p:cNvPr id="31" name="Linea 31"/>
          <p:cNvCxnSpPr/>
          <p:nvPr/>
        </p:nvCxnSpPr>
        <p:spPr>
          <a:xfrm flipH="1">
            <a:off x="4526280" y="3383280"/>
            <a:ext cx="2788920" cy="0"/>
          </a:xfrm>
          <a:prstGeom prst="line">
            <a:avLst/>
          </a:prstGeom>
          <a:ln w="28575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32" name="Forma 32"/>
          <p:cNvSpPr/>
          <p:nvPr/>
        </p:nvSpPr>
        <p:spPr>
          <a:xfrm>
            <a:off x="4617720" y="3438144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b="1" dirty="0">
                <a:solidFill>
                  <a:srgbClr val="F5EBD8"/>
                </a:solidFill>
                <a:latin typeface="Segoe UI"/>
                <a:cs typeface="Segoe UI"/>
              </a:rPr>
              <a:t>4  Cobro con clave de idempotencia</a:t>
            </a:r>
          </a:p>
        </p:txBody>
      </p:sp>
      <p:cxnSp>
        <p:nvCxnSpPr>
          <p:cNvPr id="33" name="Linea 33"/>
          <p:cNvCxnSpPr/>
          <p:nvPr/>
        </p:nvCxnSpPr>
        <p:spPr>
          <a:xfrm>
            <a:off x="4526280" y="3749040"/>
            <a:ext cx="5577840" cy="0"/>
          </a:xfrm>
          <a:prstGeom prst="line">
            <a:avLst/>
          </a:prstGeom>
          <a:ln w="28575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34" name="Forma 34"/>
          <p:cNvSpPr/>
          <p:nvPr/>
        </p:nvSpPr>
        <p:spPr>
          <a:xfrm>
            <a:off x="4617720" y="3803904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b="1" dirty="0">
                <a:solidFill>
                  <a:srgbClr val="FF665A"/>
                </a:solidFill>
                <a:latin typeface="Segoe UI"/>
                <a:cs typeface="Segoe UI"/>
              </a:rPr>
              <a:t>5  Confirma la reserva</a:t>
            </a:r>
          </a:p>
        </p:txBody>
      </p:sp>
      <p:cxnSp>
        <p:nvCxnSpPr>
          <p:cNvPr id="35" name="Linea 35"/>
          <p:cNvCxnSpPr/>
          <p:nvPr/>
        </p:nvCxnSpPr>
        <p:spPr>
          <a:xfrm>
            <a:off x="4526280" y="4114800"/>
            <a:ext cx="2788920" cy="0"/>
          </a:xfrm>
          <a:prstGeom prst="line">
            <a:avLst/>
          </a:prstGeom>
          <a:ln w="28575" cap="rnd">
            <a:solidFill>
              <a:srgbClr val="FF665A"/>
            </a:solidFill>
            <a:round/>
            <a:tailEnd type="triangle" w="med" len="med"/>
          </a:ln>
        </p:spPr>
      </p:cxnSp>
      <p:sp>
        <p:nvSpPr>
          <p:cNvPr id="36" name="Forma 36"/>
          <p:cNvSpPr/>
          <p:nvPr/>
        </p:nvSpPr>
        <p:spPr>
          <a:xfrm>
            <a:off x="1828800" y="4169664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b="1" dirty="0">
                <a:solidFill>
                  <a:srgbClr val="F5EBD8"/>
                </a:solidFill>
                <a:latin typeface="Segoe UI"/>
                <a:cs typeface="Segoe UI"/>
              </a:rPr>
              <a:t>6  Pedido confirmado</a:t>
            </a:r>
          </a:p>
        </p:txBody>
      </p:sp>
      <p:cxnSp>
        <p:nvCxnSpPr>
          <p:cNvPr id="37" name="Linea 37"/>
          <p:cNvCxnSpPr/>
          <p:nvPr/>
        </p:nvCxnSpPr>
        <p:spPr>
          <a:xfrm flipH="1">
            <a:off x="1737360" y="4480560"/>
            <a:ext cx="2788920" cy="0"/>
          </a:xfrm>
          <a:prstGeom prst="line">
            <a:avLst/>
          </a:prstGeom>
          <a:ln w="28575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38" name="Forma 38"/>
          <p:cNvSpPr/>
          <p:nvPr/>
        </p:nvSpPr>
        <p:spPr>
          <a:xfrm>
            <a:off x="640080" y="5394960"/>
            <a:ext cx="3474720" cy="82296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22225">
            <a:solidFill>
              <a:srgbClr val="A9E85E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00" b="1" dirty="0">
                <a:solidFill>
                  <a:srgbClr val="F5EBD8"/>
                </a:solidFill>
                <a:latin typeface="Segoe UI"/>
                <a:cs typeface="Segoe UI"/>
              </a:rPr>
              <a:t>Stock vendible nunca negativo</a:t>
            </a:r>
          </a:p>
        </p:txBody>
      </p:sp>
      <p:sp>
        <p:nvSpPr>
          <p:cNvPr id="39" name="Forma 39"/>
          <p:cNvSpPr/>
          <p:nvPr/>
        </p:nvSpPr>
        <p:spPr>
          <a:xfrm>
            <a:off x="4361688" y="5394960"/>
            <a:ext cx="3474720" cy="82296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22225">
            <a:solidFill>
              <a:srgbClr val="FF665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00" b="1" dirty="0">
                <a:solidFill>
                  <a:srgbClr val="F5EBD8"/>
                </a:solidFill>
                <a:latin typeface="Segoe UI"/>
                <a:cs typeface="Segoe UI"/>
              </a:rPr>
              <a:t>Prueba: 100 reservas simultáneas por 1 unidad, solo una prospera</a:t>
            </a:r>
          </a:p>
        </p:txBody>
      </p:sp>
      <p:sp>
        <p:nvSpPr>
          <p:cNvPr id="40" name="Forma 40"/>
          <p:cNvSpPr/>
          <p:nvPr/>
        </p:nvSpPr>
        <p:spPr>
          <a:xfrm>
            <a:off x="8083296" y="5394960"/>
            <a:ext cx="3474720" cy="82296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22225">
            <a:solidFill>
              <a:srgbClr val="36C8D4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00" b="1" dirty="0">
                <a:solidFill>
                  <a:srgbClr val="F5EBD8"/>
                </a:solidFill>
                <a:latin typeface="Segoe UI"/>
                <a:cs typeface="Segoe UI"/>
              </a:rPr>
              <a:t>Si no se completa, la reserva expira o se libera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640080" y="155448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F665A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cxnSp>
        <p:nvCxnSpPr>
          <p:cNvPr id="3" name="Linea 3"/>
          <p:cNvCxnSpPr/>
          <p:nvPr/>
        </p:nvCxnSpPr>
        <p:spPr>
          <a:xfrm>
            <a:off x="704088" y="228600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4" name="Linea 4"/>
          <p:cNvCxnSpPr/>
          <p:nvPr/>
        </p:nvCxnSpPr>
        <p:spPr>
          <a:xfrm>
            <a:off x="905256" y="228600"/>
            <a:ext cx="0" cy="192024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5" name="Linea 5"/>
          <p:cNvCxnSpPr/>
          <p:nvPr/>
        </p:nvCxnSpPr>
        <p:spPr>
          <a:xfrm flipH="1">
            <a:off x="704088" y="420624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6" name="Linea 6"/>
          <p:cNvCxnSpPr/>
          <p:nvPr/>
        </p:nvCxnSpPr>
        <p:spPr>
          <a:xfrm flipV="1">
            <a:off x="704088" y="310896"/>
            <a:ext cx="0" cy="109728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7" name="Linea 7"/>
          <p:cNvCxnSpPr/>
          <p:nvPr/>
        </p:nvCxnSpPr>
        <p:spPr>
          <a:xfrm>
            <a:off x="704088" y="310896"/>
            <a:ext cx="118872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sp>
        <p:nvSpPr>
          <p:cNvPr id="8" name="Forma 8"/>
          <p:cNvSpPr/>
          <p:nvPr/>
        </p:nvSpPr>
        <p:spPr>
          <a:xfrm>
            <a:off x="1078992" y="128016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800" dirty="0">
                <a:solidFill>
                  <a:srgbClr val="F5EBD8"/>
                </a:solidFill>
                <a:latin typeface="DM Serif Display"/>
                <a:cs typeface="DM Serif Display"/>
              </a:rPr>
              <a:t>BabelHub</a:t>
            </a:r>
          </a:p>
        </p:txBody>
      </p:sp>
      <p:sp>
        <p:nvSpPr>
          <p:cNvPr id="9" name="Forma 9"/>
          <p:cNvSpPr/>
          <p:nvPr/>
        </p:nvSpPr>
        <p:spPr>
          <a:xfrm>
            <a:off x="10771632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Cierre</a:t>
            </a:r>
          </a:p>
        </p:txBody>
      </p:sp>
      <p:sp>
        <p:nvSpPr>
          <p:cNvPr id="10" name="Forma 10"/>
          <p:cNvSpPr/>
          <p:nvPr/>
        </p:nvSpPr>
        <p:spPr>
          <a:xfrm>
            <a:off x="10232136" y="182880"/>
            <a:ext cx="466344" cy="274320"/>
          </a:xfrm>
          <a:prstGeom prst="roundRect">
            <a:avLst>
              <a:gd name="adj" fmla="val 50000"/>
            </a:avLst>
          </a:prstGeom>
          <a:solidFill>
            <a:srgbClr val="1B2A57"/>
          </a:solidFill>
          <a:ln w="12700">
            <a:solidFill>
              <a:srgbClr val="FF665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F5EBD8"/>
                </a:solidFill>
                <a:latin typeface="Segoe UI"/>
                <a:cs typeface="Segoe UI"/>
              </a:rPr>
              <a:t>C4</a:t>
            </a:r>
          </a:p>
        </p:txBody>
      </p:sp>
      <p:sp>
        <p:nvSpPr>
          <p:cNvPr id="11" name="Forma 11"/>
          <p:cNvSpPr/>
          <p:nvPr/>
        </p:nvSpPr>
        <p:spPr>
          <a:xfrm>
            <a:off x="9381744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Diseño</a:t>
            </a:r>
          </a:p>
        </p:txBody>
      </p:sp>
      <p:sp>
        <p:nvSpPr>
          <p:cNvPr id="12" name="Forma 12"/>
          <p:cNvSpPr/>
          <p:nvPr/>
        </p:nvSpPr>
        <p:spPr>
          <a:xfrm>
            <a:off x="8065008" y="182880"/>
            <a:ext cx="1243584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Arquitectura</a:t>
            </a:r>
          </a:p>
        </p:txBody>
      </p:sp>
      <p:sp>
        <p:nvSpPr>
          <p:cNvPr id="13" name="Forma 13"/>
          <p:cNvSpPr/>
          <p:nvPr/>
        </p:nvSpPr>
        <p:spPr>
          <a:xfrm>
            <a:off x="7059168" y="182880"/>
            <a:ext cx="932688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Análisis</a:t>
            </a:r>
          </a:p>
        </p:txBody>
      </p:sp>
      <p:cxnSp>
        <p:nvCxnSpPr>
          <p:cNvPr id="14" name="Linea 14"/>
          <p:cNvCxnSpPr/>
          <p:nvPr/>
        </p:nvCxnSpPr>
        <p:spPr>
          <a:xfrm>
            <a:off x="640080" y="640080"/>
            <a:ext cx="10908792" cy="0"/>
          </a:xfrm>
          <a:prstGeom prst="line">
            <a:avLst/>
          </a:prstGeom>
          <a:ln w="9525" cap="rnd">
            <a:solidFill>
              <a:srgbClr val="36457A"/>
            </a:solidFill>
            <a:round/>
          </a:ln>
        </p:spPr>
      </p:cxnSp>
      <p:sp>
        <p:nvSpPr>
          <p:cNvPr id="15" name="Forma 15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400" i="1" cap="all" dirty="0">
                <a:solidFill>
                  <a:srgbClr val="F5EBD8"/>
                </a:solidFill>
                <a:latin typeface="DM Serif Display"/>
                <a:cs typeface="DM Serif Display"/>
              </a:rPr>
              <a:t>C4 NIVEL 1: </a:t>
            </a:r>
            <a:r>
              <a:rPr lang="es-PE" sz="3400" i="1" cap="all" dirty="0">
                <a:solidFill>
                  <a:srgbClr val="FF665A"/>
                </a:solidFill>
                <a:latin typeface="DM Serif Display"/>
                <a:cs typeface="DM Serif Display"/>
              </a:rPr>
              <a:t>CONTEXTO</a:t>
            </a:r>
          </a:p>
        </p:txBody>
      </p:sp>
      <p:sp>
        <p:nvSpPr>
          <p:cNvPr id="16" name="Forma 16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450" dirty="0">
                <a:solidFill>
                  <a:srgbClr val="B7B3A8"/>
                </a:solidFill>
                <a:latin typeface="Segoe UI"/>
                <a:cs typeface="Segoe UI"/>
              </a:rPr>
              <a:t>¿Quién usa BabelHub y con qué sistemas se relaciona?</a:t>
            </a:r>
          </a:p>
        </p:txBody>
      </p:sp>
      <p:sp>
        <p:nvSpPr>
          <p:cNvPr id="17" name="Forma 17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Arquitectura de Software (IS-488) · UNSCH</a:t>
            </a:r>
          </a:p>
        </p:txBody>
      </p:sp>
      <p:sp>
        <p:nvSpPr>
          <p:cNvPr id="18" name="Forma 18"/>
          <p:cNvSpPr/>
          <p:nvPr/>
        </p:nvSpPr>
        <p:spPr>
          <a:xfrm>
            <a:off x="10241280" y="6473952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12 / 15</a:t>
            </a:r>
          </a:p>
        </p:txBody>
      </p:sp>
      <p:cxnSp>
        <p:nvCxnSpPr>
          <p:cNvPr id="19" name="Linea 19"/>
          <p:cNvCxnSpPr/>
          <p:nvPr/>
        </p:nvCxnSpPr>
        <p:spPr>
          <a:xfrm>
            <a:off x="3017520" y="2377440"/>
            <a:ext cx="1554480" cy="1737360"/>
          </a:xfrm>
          <a:prstGeom prst="line">
            <a:avLst/>
          </a:prstGeom>
          <a:ln w="19050" cap="rnd">
            <a:solidFill>
              <a:srgbClr val="36C8D4"/>
            </a:solidFill>
            <a:round/>
          </a:ln>
        </p:spPr>
      </p:cxnSp>
      <p:sp>
        <p:nvSpPr>
          <p:cNvPr id="20" name="Forma 20"/>
          <p:cNvSpPr/>
          <p:nvPr/>
        </p:nvSpPr>
        <p:spPr>
          <a:xfrm>
            <a:off x="640080" y="2103120"/>
            <a:ext cx="2377440" cy="56692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Cliente</a:t>
            </a:r>
          </a:p>
        </p:txBody>
      </p:sp>
      <p:cxnSp>
        <p:nvCxnSpPr>
          <p:cNvPr id="21" name="Linea 21"/>
          <p:cNvCxnSpPr/>
          <p:nvPr/>
        </p:nvCxnSpPr>
        <p:spPr>
          <a:xfrm>
            <a:off x="3017520" y="3182112"/>
            <a:ext cx="1554480" cy="932688"/>
          </a:xfrm>
          <a:prstGeom prst="line">
            <a:avLst/>
          </a:prstGeom>
          <a:ln w="19050" cap="rnd">
            <a:solidFill>
              <a:srgbClr val="36C8D4"/>
            </a:solidFill>
            <a:round/>
          </a:ln>
        </p:spPr>
      </p:cxnSp>
      <p:sp>
        <p:nvSpPr>
          <p:cNvPr id="22" name="Forma 22"/>
          <p:cNvSpPr/>
          <p:nvPr/>
        </p:nvSpPr>
        <p:spPr>
          <a:xfrm>
            <a:off x="640080" y="2907792"/>
            <a:ext cx="2377440" cy="56692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Visitante</a:t>
            </a:r>
          </a:p>
        </p:txBody>
      </p:sp>
      <p:cxnSp>
        <p:nvCxnSpPr>
          <p:cNvPr id="23" name="Linea 23"/>
          <p:cNvCxnSpPr/>
          <p:nvPr/>
        </p:nvCxnSpPr>
        <p:spPr>
          <a:xfrm>
            <a:off x="3017520" y="3986784"/>
            <a:ext cx="1554480" cy="128016"/>
          </a:xfrm>
          <a:prstGeom prst="line">
            <a:avLst/>
          </a:prstGeom>
          <a:ln w="19050" cap="rnd">
            <a:solidFill>
              <a:srgbClr val="36C8D4"/>
            </a:solidFill>
            <a:round/>
          </a:ln>
        </p:spPr>
      </p:cxnSp>
      <p:sp>
        <p:nvSpPr>
          <p:cNvPr id="24" name="Forma 24"/>
          <p:cNvSpPr/>
          <p:nvPr/>
        </p:nvSpPr>
        <p:spPr>
          <a:xfrm>
            <a:off x="640080" y="3712464"/>
            <a:ext cx="2377440" cy="56692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Encargado de sucursal</a:t>
            </a:r>
          </a:p>
        </p:txBody>
      </p:sp>
      <p:cxnSp>
        <p:nvCxnSpPr>
          <p:cNvPr id="25" name="Linea 25"/>
          <p:cNvCxnSpPr/>
          <p:nvPr/>
        </p:nvCxnSpPr>
        <p:spPr>
          <a:xfrm flipV="1">
            <a:off x="3017520" y="4114800"/>
            <a:ext cx="1554480" cy="676656"/>
          </a:xfrm>
          <a:prstGeom prst="line">
            <a:avLst/>
          </a:prstGeom>
          <a:ln w="19050" cap="rnd">
            <a:solidFill>
              <a:srgbClr val="36C8D4"/>
            </a:solidFill>
            <a:round/>
          </a:ln>
        </p:spPr>
      </p:cxnSp>
      <p:sp>
        <p:nvSpPr>
          <p:cNvPr id="26" name="Forma 26"/>
          <p:cNvSpPr/>
          <p:nvPr/>
        </p:nvSpPr>
        <p:spPr>
          <a:xfrm>
            <a:off x="640080" y="4517136"/>
            <a:ext cx="2377440" cy="56692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Personal de logística</a:t>
            </a:r>
          </a:p>
        </p:txBody>
      </p:sp>
      <p:cxnSp>
        <p:nvCxnSpPr>
          <p:cNvPr id="27" name="Linea 27"/>
          <p:cNvCxnSpPr/>
          <p:nvPr/>
        </p:nvCxnSpPr>
        <p:spPr>
          <a:xfrm flipV="1">
            <a:off x="3017520" y="4114800"/>
            <a:ext cx="1554480" cy="1481328"/>
          </a:xfrm>
          <a:prstGeom prst="line">
            <a:avLst/>
          </a:prstGeom>
          <a:ln w="19050" cap="rnd">
            <a:solidFill>
              <a:srgbClr val="36C8D4"/>
            </a:solidFill>
            <a:round/>
          </a:ln>
        </p:spPr>
      </p:cxnSp>
      <p:sp>
        <p:nvSpPr>
          <p:cNvPr id="28" name="Forma 28"/>
          <p:cNvSpPr/>
          <p:nvPr/>
        </p:nvSpPr>
        <p:spPr>
          <a:xfrm>
            <a:off x="640080" y="5321808"/>
            <a:ext cx="2377440" cy="56692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Administrador central</a:t>
            </a:r>
          </a:p>
        </p:txBody>
      </p:sp>
      <p:sp>
        <p:nvSpPr>
          <p:cNvPr id="29" name="Forma 29"/>
          <p:cNvSpPr/>
          <p:nvPr/>
        </p:nvSpPr>
        <p:spPr>
          <a:xfrm>
            <a:off x="4572000" y="3200400"/>
            <a:ext cx="3017520" cy="1828800"/>
          </a:xfrm>
          <a:prstGeom prst="ellipse">
            <a:avLst/>
          </a:prstGeom>
          <a:solidFill>
            <a:srgbClr val="FF665A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600" b="1" dirty="0">
                <a:solidFill>
                  <a:srgbClr val="172554"/>
                </a:solidFill>
                <a:latin typeface="DM Serif Display"/>
                <a:cs typeface="DM Serif Display"/>
              </a:rPr>
              <a:t>BabelHub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600" b="1" dirty="0">
                <a:solidFill>
                  <a:srgbClr val="172554"/>
                </a:solidFill>
                <a:latin typeface="DM Serif Display"/>
                <a:cs typeface="DM Serif Display"/>
              </a:rPr>
              <a:t>tienda en línea e inventario multi-sucursal</a:t>
            </a:r>
          </a:p>
        </p:txBody>
      </p:sp>
      <p:cxnSp>
        <p:nvCxnSpPr>
          <p:cNvPr id="30" name="Linea 30"/>
          <p:cNvCxnSpPr/>
          <p:nvPr/>
        </p:nvCxnSpPr>
        <p:spPr>
          <a:xfrm flipV="1">
            <a:off x="7589520" y="2240280"/>
            <a:ext cx="1554480" cy="1874520"/>
          </a:xfrm>
          <a:prstGeom prst="line">
            <a:avLst/>
          </a:prstGeom>
          <a:ln w="19050" cap="rnd">
            <a:solidFill>
              <a:srgbClr val="A9E85E"/>
            </a:solidFill>
            <a:round/>
          </a:ln>
        </p:spPr>
      </p:cxnSp>
      <p:sp>
        <p:nvSpPr>
          <p:cNvPr id="31" name="Forma 31"/>
          <p:cNvSpPr/>
          <p:nvPr/>
        </p:nvSpPr>
        <p:spPr>
          <a:xfrm>
            <a:off x="9144000" y="1965960"/>
            <a:ext cx="2404872" cy="56692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A9E85E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dirty="0">
                <a:solidFill>
                  <a:srgbClr val="F5EBD8"/>
                </a:solidFill>
                <a:latin typeface="Segoe UI"/>
                <a:cs typeface="Segoe UI"/>
              </a:rPr>
              <a:t>Culqi · pagos con Yape y tarjeta</a:t>
            </a:r>
          </a:p>
        </p:txBody>
      </p:sp>
      <p:cxnSp>
        <p:nvCxnSpPr>
          <p:cNvPr id="32" name="Linea 32"/>
          <p:cNvCxnSpPr/>
          <p:nvPr/>
        </p:nvCxnSpPr>
        <p:spPr>
          <a:xfrm flipV="1">
            <a:off x="7589520" y="2916936"/>
            <a:ext cx="1554480" cy="1197864"/>
          </a:xfrm>
          <a:prstGeom prst="line">
            <a:avLst/>
          </a:prstGeom>
          <a:ln w="19050" cap="rnd">
            <a:solidFill>
              <a:srgbClr val="A9E85E"/>
            </a:solidFill>
            <a:round/>
          </a:ln>
        </p:spPr>
      </p:cxnSp>
      <p:sp>
        <p:nvSpPr>
          <p:cNvPr id="33" name="Forma 33"/>
          <p:cNvSpPr/>
          <p:nvPr/>
        </p:nvSpPr>
        <p:spPr>
          <a:xfrm>
            <a:off x="9144000" y="2642616"/>
            <a:ext cx="2404872" cy="56692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A9E85E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dirty="0">
                <a:solidFill>
                  <a:srgbClr val="F5EBD8"/>
                </a:solidFill>
                <a:latin typeface="Segoe UI"/>
                <a:cs typeface="Segoe UI"/>
              </a:rPr>
              <a:t>Operador logístico · guías</a:t>
            </a:r>
          </a:p>
        </p:txBody>
      </p:sp>
      <p:cxnSp>
        <p:nvCxnSpPr>
          <p:cNvPr id="34" name="Linea 34"/>
          <p:cNvCxnSpPr/>
          <p:nvPr/>
        </p:nvCxnSpPr>
        <p:spPr>
          <a:xfrm flipV="1">
            <a:off x="7589520" y="3593592"/>
            <a:ext cx="1554480" cy="521208"/>
          </a:xfrm>
          <a:prstGeom prst="line">
            <a:avLst/>
          </a:prstGeom>
          <a:ln w="19050" cap="rnd">
            <a:solidFill>
              <a:srgbClr val="A9E85E"/>
            </a:solidFill>
            <a:round/>
          </a:ln>
        </p:spPr>
      </p:cxnSp>
      <p:sp>
        <p:nvSpPr>
          <p:cNvPr id="35" name="Forma 35"/>
          <p:cNvSpPr/>
          <p:nvPr/>
        </p:nvSpPr>
        <p:spPr>
          <a:xfrm>
            <a:off x="9144000" y="3319272"/>
            <a:ext cx="2404872" cy="56692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A9E85E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dirty="0">
                <a:solidFill>
                  <a:srgbClr val="F5EBD8"/>
                </a:solidFill>
                <a:latin typeface="Segoe UI"/>
                <a:cs typeface="Segoe UI"/>
              </a:rPr>
              <a:t>Proveedor de LLM · asistente</a:t>
            </a:r>
          </a:p>
        </p:txBody>
      </p:sp>
      <p:cxnSp>
        <p:nvCxnSpPr>
          <p:cNvPr id="36" name="Linea 36"/>
          <p:cNvCxnSpPr/>
          <p:nvPr/>
        </p:nvCxnSpPr>
        <p:spPr>
          <a:xfrm>
            <a:off x="7589520" y="4114800"/>
            <a:ext cx="1554480" cy="155448"/>
          </a:xfrm>
          <a:prstGeom prst="line">
            <a:avLst/>
          </a:prstGeom>
          <a:ln w="19050" cap="rnd">
            <a:solidFill>
              <a:srgbClr val="A9E85E"/>
            </a:solidFill>
            <a:round/>
          </a:ln>
        </p:spPr>
      </p:cxnSp>
      <p:sp>
        <p:nvSpPr>
          <p:cNvPr id="37" name="Forma 37"/>
          <p:cNvSpPr/>
          <p:nvPr/>
        </p:nvSpPr>
        <p:spPr>
          <a:xfrm>
            <a:off x="9144000" y="3995928"/>
            <a:ext cx="2404872" cy="56692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A9E85E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dirty="0">
                <a:solidFill>
                  <a:srgbClr val="F5EBD8"/>
                </a:solidFill>
                <a:latin typeface="Segoe UI"/>
                <a:cs typeface="Segoe UI"/>
              </a:rPr>
              <a:t>WhatsApp · n8n y Evolution API</a:t>
            </a:r>
          </a:p>
        </p:txBody>
      </p:sp>
      <p:cxnSp>
        <p:nvCxnSpPr>
          <p:cNvPr id="38" name="Linea 38"/>
          <p:cNvCxnSpPr/>
          <p:nvPr/>
        </p:nvCxnSpPr>
        <p:spPr>
          <a:xfrm>
            <a:off x="7589520" y="4114800"/>
            <a:ext cx="1554480" cy="832104"/>
          </a:xfrm>
          <a:prstGeom prst="line">
            <a:avLst/>
          </a:prstGeom>
          <a:ln w="19050" cap="rnd">
            <a:solidFill>
              <a:srgbClr val="A9E85E"/>
            </a:solidFill>
            <a:round/>
          </a:ln>
        </p:spPr>
      </p:cxnSp>
      <p:sp>
        <p:nvSpPr>
          <p:cNvPr id="39" name="Forma 39"/>
          <p:cNvSpPr/>
          <p:nvPr/>
        </p:nvSpPr>
        <p:spPr>
          <a:xfrm>
            <a:off x="9144000" y="4672584"/>
            <a:ext cx="2404872" cy="56692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A9E85E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dirty="0">
                <a:solidFill>
                  <a:srgbClr val="F5EBD8"/>
                </a:solidFill>
                <a:latin typeface="Segoe UI"/>
                <a:cs typeface="Segoe UI"/>
              </a:rPr>
              <a:t>Proveedor de correo · códigos</a:t>
            </a:r>
          </a:p>
        </p:txBody>
      </p:sp>
      <p:cxnSp>
        <p:nvCxnSpPr>
          <p:cNvPr id="40" name="Linea 40"/>
          <p:cNvCxnSpPr/>
          <p:nvPr/>
        </p:nvCxnSpPr>
        <p:spPr>
          <a:xfrm>
            <a:off x="7589520" y="4114800"/>
            <a:ext cx="1554480" cy="1508760"/>
          </a:xfrm>
          <a:prstGeom prst="line">
            <a:avLst/>
          </a:prstGeom>
          <a:ln w="19050" cap="rnd">
            <a:solidFill>
              <a:srgbClr val="A9E85E"/>
            </a:solidFill>
            <a:round/>
          </a:ln>
        </p:spPr>
      </p:cxnSp>
      <p:sp>
        <p:nvSpPr>
          <p:cNvPr id="41" name="Forma 41"/>
          <p:cNvSpPr/>
          <p:nvPr/>
        </p:nvSpPr>
        <p:spPr>
          <a:xfrm>
            <a:off x="9144000" y="5349240"/>
            <a:ext cx="2404872" cy="56692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A9E85E"/>
            </a:solidFill>
          </a:ln>
        </p:spPr>
        <p:txBody>
          <a:bodyPr wrap="square" lIns="73152" tIns="73152" rIns="73152" bIns="73152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dirty="0">
                <a:solidFill>
                  <a:srgbClr val="F5EBD8"/>
                </a:solidFill>
                <a:latin typeface="Segoe UI"/>
                <a:cs typeface="Segoe UI"/>
              </a:rPr>
              <a:t>Almacén de archivos · libros y respaldos</a:t>
            </a:r>
          </a:p>
        </p:txBody>
      </p:sp>
      <p:sp>
        <p:nvSpPr>
          <p:cNvPr id="42" name="Forma 42"/>
          <p:cNvSpPr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i="1" dirty="0">
                <a:solidFill>
                  <a:srgbClr val="B7B3A8"/>
                </a:solidFill>
                <a:latin typeface="Segoe UI"/>
                <a:cs typeface="Segoe UI"/>
              </a:rPr>
              <a:t>El cliente descarga el libro digital directamente del almacén, con un enlace firmado de 5 minutos.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640080" y="155448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F665A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cxnSp>
        <p:nvCxnSpPr>
          <p:cNvPr id="3" name="Linea 3"/>
          <p:cNvCxnSpPr/>
          <p:nvPr/>
        </p:nvCxnSpPr>
        <p:spPr>
          <a:xfrm>
            <a:off x="704088" y="228600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4" name="Linea 4"/>
          <p:cNvCxnSpPr/>
          <p:nvPr/>
        </p:nvCxnSpPr>
        <p:spPr>
          <a:xfrm>
            <a:off x="905256" y="228600"/>
            <a:ext cx="0" cy="192024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5" name="Linea 5"/>
          <p:cNvCxnSpPr/>
          <p:nvPr/>
        </p:nvCxnSpPr>
        <p:spPr>
          <a:xfrm flipH="1">
            <a:off x="704088" y="420624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6" name="Linea 6"/>
          <p:cNvCxnSpPr/>
          <p:nvPr/>
        </p:nvCxnSpPr>
        <p:spPr>
          <a:xfrm flipV="1">
            <a:off x="704088" y="310896"/>
            <a:ext cx="0" cy="109728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7" name="Linea 7"/>
          <p:cNvCxnSpPr/>
          <p:nvPr/>
        </p:nvCxnSpPr>
        <p:spPr>
          <a:xfrm>
            <a:off x="704088" y="310896"/>
            <a:ext cx="118872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sp>
        <p:nvSpPr>
          <p:cNvPr id="8" name="Forma 8"/>
          <p:cNvSpPr/>
          <p:nvPr/>
        </p:nvSpPr>
        <p:spPr>
          <a:xfrm>
            <a:off x="1078992" y="128016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800" dirty="0">
                <a:solidFill>
                  <a:srgbClr val="F5EBD8"/>
                </a:solidFill>
                <a:latin typeface="DM Serif Display"/>
                <a:cs typeface="DM Serif Display"/>
              </a:rPr>
              <a:t>BabelHub</a:t>
            </a:r>
          </a:p>
        </p:txBody>
      </p:sp>
      <p:sp>
        <p:nvSpPr>
          <p:cNvPr id="9" name="Forma 9"/>
          <p:cNvSpPr/>
          <p:nvPr/>
        </p:nvSpPr>
        <p:spPr>
          <a:xfrm>
            <a:off x="10771632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Cierre</a:t>
            </a:r>
          </a:p>
        </p:txBody>
      </p:sp>
      <p:sp>
        <p:nvSpPr>
          <p:cNvPr id="10" name="Forma 10"/>
          <p:cNvSpPr/>
          <p:nvPr/>
        </p:nvSpPr>
        <p:spPr>
          <a:xfrm>
            <a:off x="10232136" y="182880"/>
            <a:ext cx="466344" cy="274320"/>
          </a:xfrm>
          <a:prstGeom prst="roundRect">
            <a:avLst>
              <a:gd name="adj" fmla="val 50000"/>
            </a:avLst>
          </a:prstGeom>
          <a:solidFill>
            <a:srgbClr val="1B2A57"/>
          </a:solidFill>
          <a:ln w="12700">
            <a:solidFill>
              <a:srgbClr val="FF665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F5EBD8"/>
                </a:solidFill>
                <a:latin typeface="Segoe UI"/>
                <a:cs typeface="Segoe UI"/>
              </a:rPr>
              <a:t>C4</a:t>
            </a:r>
          </a:p>
        </p:txBody>
      </p:sp>
      <p:sp>
        <p:nvSpPr>
          <p:cNvPr id="11" name="Forma 11"/>
          <p:cNvSpPr/>
          <p:nvPr/>
        </p:nvSpPr>
        <p:spPr>
          <a:xfrm>
            <a:off x="9381744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Diseño</a:t>
            </a:r>
          </a:p>
        </p:txBody>
      </p:sp>
      <p:sp>
        <p:nvSpPr>
          <p:cNvPr id="12" name="Forma 12"/>
          <p:cNvSpPr/>
          <p:nvPr/>
        </p:nvSpPr>
        <p:spPr>
          <a:xfrm>
            <a:off x="8065008" y="182880"/>
            <a:ext cx="1243584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Arquitectura</a:t>
            </a:r>
          </a:p>
        </p:txBody>
      </p:sp>
      <p:sp>
        <p:nvSpPr>
          <p:cNvPr id="13" name="Forma 13"/>
          <p:cNvSpPr/>
          <p:nvPr/>
        </p:nvSpPr>
        <p:spPr>
          <a:xfrm>
            <a:off x="7059168" y="182880"/>
            <a:ext cx="932688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Análisis</a:t>
            </a:r>
          </a:p>
        </p:txBody>
      </p:sp>
      <p:cxnSp>
        <p:nvCxnSpPr>
          <p:cNvPr id="14" name="Linea 14"/>
          <p:cNvCxnSpPr/>
          <p:nvPr/>
        </p:nvCxnSpPr>
        <p:spPr>
          <a:xfrm>
            <a:off x="640080" y="640080"/>
            <a:ext cx="10908792" cy="0"/>
          </a:xfrm>
          <a:prstGeom prst="line">
            <a:avLst/>
          </a:prstGeom>
          <a:ln w="9525" cap="rnd">
            <a:solidFill>
              <a:srgbClr val="36457A"/>
            </a:solidFill>
            <a:round/>
          </a:ln>
        </p:spPr>
      </p:cxnSp>
      <p:sp>
        <p:nvSpPr>
          <p:cNvPr id="15" name="Forma 15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400" i="1" cap="all" dirty="0">
                <a:solidFill>
                  <a:srgbClr val="F5EBD8"/>
                </a:solidFill>
                <a:latin typeface="DM Serif Display"/>
                <a:cs typeface="DM Serif Display"/>
              </a:rPr>
              <a:t>C4 NIVEL 2: </a:t>
            </a:r>
            <a:r>
              <a:rPr lang="es-PE" sz="3400" i="1" cap="all" dirty="0">
                <a:solidFill>
                  <a:srgbClr val="FF665A"/>
                </a:solidFill>
                <a:latin typeface="DM Serif Display"/>
                <a:cs typeface="DM Serif Display"/>
              </a:rPr>
              <a:t>CONTENEDORES</a:t>
            </a:r>
          </a:p>
        </p:txBody>
      </p:sp>
      <p:sp>
        <p:nvSpPr>
          <p:cNvPr id="16" name="Forma 16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450" dirty="0">
                <a:solidFill>
                  <a:srgbClr val="B7B3A8"/>
                </a:solidFill>
                <a:latin typeface="Segoe UI"/>
                <a:cs typeface="Segoe UI"/>
              </a:rPr>
              <a:t>¿Qué piezas se despliegan y cómo se comunican?</a:t>
            </a:r>
          </a:p>
        </p:txBody>
      </p:sp>
      <p:sp>
        <p:nvSpPr>
          <p:cNvPr id="17" name="Forma 17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Arquitectura de Software (IS-488) · UNSCH</a:t>
            </a:r>
          </a:p>
        </p:txBody>
      </p:sp>
      <p:sp>
        <p:nvSpPr>
          <p:cNvPr id="18" name="Forma 18"/>
          <p:cNvSpPr/>
          <p:nvPr/>
        </p:nvSpPr>
        <p:spPr>
          <a:xfrm>
            <a:off x="10241280" y="6473952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13 / 15</a:t>
            </a:r>
          </a:p>
        </p:txBody>
      </p:sp>
      <p:sp>
        <p:nvSpPr>
          <p:cNvPr id="19" name="Forma 19"/>
          <p:cNvSpPr/>
          <p:nvPr/>
        </p:nvSpPr>
        <p:spPr>
          <a:xfrm>
            <a:off x="640080" y="2057400"/>
            <a:ext cx="1600200" cy="4114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27432" tIns="27432" rIns="27432" bIns="2743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00" dirty="0">
                <a:solidFill>
                  <a:srgbClr val="F5EBD8"/>
                </a:solidFill>
                <a:latin typeface="Segoe UI"/>
                <a:cs typeface="Segoe UI"/>
              </a:rPr>
              <a:t>Navegador</a:t>
            </a:r>
          </a:p>
        </p:txBody>
      </p:sp>
      <p:cxnSp>
        <p:nvCxnSpPr>
          <p:cNvPr id="20" name="Linea 20"/>
          <p:cNvCxnSpPr/>
          <p:nvPr/>
        </p:nvCxnSpPr>
        <p:spPr>
          <a:xfrm>
            <a:off x="2240280" y="2258568"/>
            <a:ext cx="320040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21" name="Forma 21"/>
          <p:cNvSpPr/>
          <p:nvPr/>
        </p:nvSpPr>
        <p:spPr>
          <a:xfrm>
            <a:off x="2560320" y="2057400"/>
            <a:ext cx="1600200" cy="4114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27432" tIns="27432" rIns="27432" bIns="2743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00" dirty="0">
                <a:solidFill>
                  <a:srgbClr val="F5EBD8"/>
                </a:solidFill>
                <a:latin typeface="Segoe UI"/>
                <a:cs typeface="Segoe UI"/>
              </a:rPr>
              <a:t>Cloudflare</a:t>
            </a:r>
          </a:p>
        </p:txBody>
      </p:sp>
      <p:cxnSp>
        <p:nvCxnSpPr>
          <p:cNvPr id="22" name="Linea 22"/>
          <p:cNvCxnSpPr/>
          <p:nvPr/>
        </p:nvCxnSpPr>
        <p:spPr>
          <a:xfrm>
            <a:off x="4160520" y="2258568"/>
            <a:ext cx="320040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23" name="Forma 23"/>
          <p:cNvSpPr/>
          <p:nvPr/>
        </p:nvSpPr>
        <p:spPr>
          <a:xfrm>
            <a:off x="4480560" y="2057400"/>
            <a:ext cx="1600200" cy="4114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27432" tIns="27432" rIns="27432" bIns="2743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00" dirty="0">
                <a:solidFill>
                  <a:srgbClr val="F5EBD8"/>
                </a:solidFill>
                <a:latin typeface="Segoe UI"/>
                <a:cs typeface="Segoe UI"/>
              </a:rPr>
              <a:t>Nginx</a:t>
            </a:r>
          </a:p>
        </p:txBody>
      </p:sp>
      <p:sp>
        <p:nvSpPr>
          <p:cNvPr id="24" name="Forma 24"/>
          <p:cNvSpPr/>
          <p:nvPr/>
        </p:nvSpPr>
        <p:spPr>
          <a:xfrm>
            <a:off x="640080" y="2606040"/>
            <a:ext cx="7955280" cy="2240280"/>
          </a:xfrm>
          <a:prstGeom prst="roundRect">
            <a:avLst>
              <a:gd name="adj" fmla="val 2500"/>
            </a:avLst>
          </a:prstGeom>
          <a:noFill/>
          <a:ln w="15875">
            <a:solidFill>
              <a:srgbClr val="F5EBD8"/>
            </a:solidFill>
            <a:prstDash val="dash"/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5" name="Forma 25"/>
          <p:cNvSpPr/>
          <p:nvPr/>
        </p:nvSpPr>
        <p:spPr>
          <a:xfrm>
            <a:off x="777240" y="26334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VM de aplicaciones · Docker Compose</a:t>
            </a:r>
          </a:p>
        </p:txBody>
      </p:sp>
      <p:sp>
        <p:nvSpPr>
          <p:cNvPr id="26" name="Forma 26"/>
          <p:cNvSpPr/>
          <p:nvPr/>
        </p:nvSpPr>
        <p:spPr>
          <a:xfrm>
            <a:off x="777240" y="2944368"/>
            <a:ext cx="7680960" cy="384048"/>
          </a:xfrm>
          <a:prstGeom prst="roundRect">
            <a:avLst>
              <a:gd name="adj" fmla="val 2500"/>
            </a:avLst>
          </a:prstGeom>
          <a:solidFill>
            <a:srgbClr val="1B2A57"/>
          </a:solidFill>
          <a:ln w="12700">
            <a:solidFill>
              <a:srgbClr val="36457A"/>
            </a:solidFill>
          </a:ln>
        </p:spPr>
        <p:txBody>
          <a:bodyPr wrap="square" lIns="27432" tIns="27432" rIns="27432" bIns="2743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BabelHub.Web · MVC Razor y htmx</a:t>
            </a:r>
          </a:p>
        </p:txBody>
      </p:sp>
      <p:cxnSp>
        <p:nvCxnSpPr>
          <p:cNvPr id="27" name="Linea 27"/>
          <p:cNvCxnSpPr/>
          <p:nvPr/>
        </p:nvCxnSpPr>
        <p:spPr>
          <a:xfrm>
            <a:off x="1600200" y="3328416"/>
            <a:ext cx="0" cy="237744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28" name="Forma 28"/>
          <p:cNvSpPr/>
          <p:nvPr/>
        </p:nvSpPr>
        <p:spPr>
          <a:xfrm>
            <a:off x="777240" y="3566160"/>
            <a:ext cx="1783080" cy="56692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27432" tIns="27432" rIns="27432" bIns="2743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E-commerce</a:t>
            </a:r>
          </a:p>
        </p:txBody>
      </p:sp>
      <p:cxnSp>
        <p:nvCxnSpPr>
          <p:cNvPr id="29" name="Linea 29"/>
          <p:cNvCxnSpPr/>
          <p:nvPr/>
        </p:nvCxnSpPr>
        <p:spPr>
          <a:xfrm>
            <a:off x="3538728" y="3328416"/>
            <a:ext cx="0" cy="237744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30" name="Forma 30"/>
          <p:cNvSpPr/>
          <p:nvPr/>
        </p:nvSpPr>
        <p:spPr>
          <a:xfrm>
            <a:off x="2715768" y="3566160"/>
            <a:ext cx="1783080" cy="56692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28575">
            <a:solidFill>
              <a:srgbClr val="FF665A"/>
            </a:solidFill>
          </a:ln>
        </p:spPr>
        <p:txBody>
          <a:bodyPr wrap="square" lIns="27432" tIns="27432" rIns="27432" bIns="2743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Inventario</a:t>
            </a:r>
          </a:p>
        </p:txBody>
      </p:sp>
      <p:cxnSp>
        <p:nvCxnSpPr>
          <p:cNvPr id="31" name="Linea 31"/>
          <p:cNvCxnSpPr/>
          <p:nvPr/>
        </p:nvCxnSpPr>
        <p:spPr>
          <a:xfrm>
            <a:off x="5477256" y="3328416"/>
            <a:ext cx="0" cy="237744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32" name="Forma 32"/>
          <p:cNvSpPr/>
          <p:nvPr/>
        </p:nvSpPr>
        <p:spPr>
          <a:xfrm>
            <a:off x="4654296" y="3566160"/>
            <a:ext cx="1783080" cy="56692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27432" tIns="27432" rIns="27432" bIns="2743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Identidad</a:t>
            </a:r>
          </a:p>
        </p:txBody>
      </p:sp>
      <p:cxnSp>
        <p:nvCxnSpPr>
          <p:cNvPr id="33" name="Linea 33"/>
          <p:cNvCxnSpPr/>
          <p:nvPr/>
        </p:nvCxnSpPr>
        <p:spPr>
          <a:xfrm>
            <a:off x="7415784" y="3328416"/>
            <a:ext cx="0" cy="237744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34" name="Forma 34"/>
          <p:cNvSpPr/>
          <p:nvPr/>
        </p:nvSpPr>
        <p:spPr>
          <a:xfrm>
            <a:off x="6592824" y="3566160"/>
            <a:ext cx="1783080" cy="566928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27432" tIns="27432" rIns="27432" bIns="2743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250" b="1" dirty="0">
                <a:solidFill>
                  <a:srgbClr val="F5EBD8"/>
                </a:solidFill>
                <a:latin typeface="Segoe UI"/>
                <a:cs typeface="Segoe UI"/>
              </a:rPr>
              <a:t>Asistente</a:t>
            </a:r>
          </a:p>
        </p:txBody>
      </p:sp>
      <p:sp>
        <p:nvSpPr>
          <p:cNvPr id="35" name="Forma 35"/>
          <p:cNvSpPr/>
          <p:nvPr/>
        </p:nvSpPr>
        <p:spPr>
          <a:xfrm>
            <a:off x="5120640" y="4279392"/>
            <a:ext cx="1554480" cy="4114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27432" tIns="27432" rIns="27432" bIns="2743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00" dirty="0">
                <a:solidFill>
                  <a:srgbClr val="F5EBD8"/>
                </a:solidFill>
                <a:latin typeface="Segoe UI"/>
                <a:cs typeface="Segoe UI"/>
              </a:rPr>
              <a:t>Redis · caché</a:t>
            </a:r>
          </a:p>
        </p:txBody>
      </p:sp>
      <p:sp>
        <p:nvSpPr>
          <p:cNvPr id="36" name="Forma 36"/>
          <p:cNvSpPr/>
          <p:nvPr/>
        </p:nvSpPr>
        <p:spPr>
          <a:xfrm>
            <a:off x="6766560" y="4279392"/>
            <a:ext cx="1691640" cy="4114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27432" tIns="27432" rIns="27432" bIns="2743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00" dirty="0">
                <a:solidFill>
                  <a:srgbClr val="F5EBD8"/>
                </a:solidFill>
                <a:latin typeface="Segoe UI"/>
                <a:cs typeface="Segoe UI"/>
              </a:rPr>
              <a:t>n8n + Evolution</a:t>
            </a:r>
          </a:p>
        </p:txBody>
      </p:sp>
      <p:sp>
        <p:nvSpPr>
          <p:cNvPr id="37" name="Forma 37"/>
          <p:cNvSpPr/>
          <p:nvPr/>
        </p:nvSpPr>
        <p:spPr>
          <a:xfrm>
            <a:off x="640080" y="4983480"/>
            <a:ext cx="7955280" cy="1234440"/>
          </a:xfrm>
          <a:prstGeom prst="roundRect">
            <a:avLst>
              <a:gd name="adj" fmla="val 2500"/>
            </a:avLst>
          </a:prstGeom>
          <a:noFill/>
          <a:ln w="15875">
            <a:solidFill>
              <a:srgbClr val="FF665A"/>
            </a:solidFill>
            <a:prstDash val="dash"/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8" name="Forma 38"/>
          <p:cNvSpPr/>
          <p:nvPr/>
        </p:nvSpPr>
        <p:spPr>
          <a:xfrm>
            <a:off x="4206240" y="5010912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VM de datos · sin acceso desde Internet</a:t>
            </a:r>
          </a:p>
        </p:txBody>
      </p:sp>
      <p:sp>
        <p:nvSpPr>
          <p:cNvPr id="39" name="Forma 39"/>
          <p:cNvSpPr/>
          <p:nvPr/>
        </p:nvSpPr>
        <p:spPr>
          <a:xfrm>
            <a:off x="777240" y="5349240"/>
            <a:ext cx="3657600" cy="68580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27432" tIns="27432" rIns="27432" bIns="2743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PostgreSQL Ventas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esquemas ventas e identidad</a:t>
            </a:r>
          </a:p>
        </p:txBody>
      </p:sp>
      <p:sp>
        <p:nvSpPr>
          <p:cNvPr id="40" name="Forma 40"/>
          <p:cNvSpPr/>
          <p:nvPr/>
        </p:nvSpPr>
        <p:spPr>
          <a:xfrm>
            <a:off x="4617720" y="5349240"/>
            <a:ext cx="3840480" cy="68580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25400">
            <a:solidFill>
              <a:srgbClr val="FF665A"/>
            </a:solidFill>
          </a:ln>
        </p:spPr>
        <p:txBody>
          <a:bodyPr wrap="square" lIns="27432" tIns="27432" rIns="27432" bIns="2743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PostgreSQL Inventario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base propia del Inventario</a:t>
            </a:r>
          </a:p>
        </p:txBody>
      </p:sp>
      <p:cxnSp>
        <p:nvCxnSpPr>
          <p:cNvPr id="41" name="Linea 41"/>
          <p:cNvCxnSpPr/>
          <p:nvPr/>
        </p:nvCxnSpPr>
        <p:spPr>
          <a:xfrm>
            <a:off x="1645920" y="4133088"/>
            <a:ext cx="0" cy="1197864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cxnSp>
        <p:nvCxnSpPr>
          <p:cNvPr id="42" name="Linea 42"/>
          <p:cNvCxnSpPr/>
          <p:nvPr/>
        </p:nvCxnSpPr>
        <p:spPr>
          <a:xfrm>
            <a:off x="3566160" y="4133088"/>
            <a:ext cx="2103120" cy="1197864"/>
          </a:xfrm>
          <a:prstGeom prst="line">
            <a:avLst/>
          </a:prstGeom>
          <a:ln w="25400" cap="rnd">
            <a:solidFill>
              <a:srgbClr val="FF665A"/>
            </a:solidFill>
            <a:round/>
            <a:tailEnd type="triangle" w="med" len="med"/>
          </a:ln>
        </p:spPr>
      </p:cxnSp>
      <p:sp>
        <p:nvSpPr>
          <p:cNvPr id="43" name="Forma 43"/>
          <p:cNvSpPr/>
          <p:nvPr/>
        </p:nvSpPr>
        <p:spPr>
          <a:xfrm>
            <a:off x="8869680" y="19659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spc="80" dirty="0">
                <a:solidFill>
                  <a:srgbClr val="B7B3A8"/>
                </a:solidFill>
                <a:latin typeface="Segoe UI"/>
                <a:cs typeface="Segoe UI"/>
              </a:rPr>
              <a:t>SISTEMAS EXTERNOS</a:t>
            </a:r>
          </a:p>
        </p:txBody>
      </p:sp>
      <p:sp>
        <p:nvSpPr>
          <p:cNvPr id="44" name="Forma 44"/>
          <p:cNvSpPr/>
          <p:nvPr/>
        </p:nvSpPr>
        <p:spPr>
          <a:xfrm>
            <a:off x="8869680" y="2286000"/>
            <a:ext cx="2679192" cy="54864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A9E85E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Culqi</a:t>
            </a:r>
          </a:p>
        </p:txBody>
      </p:sp>
      <p:sp>
        <p:nvSpPr>
          <p:cNvPr id="45" name="Forma 45"/>
          <p:cNvSpPr/>
          <p:nvPr/>
        </p:nvSpPr>
        <p:spPr>
          <a:xfrm>
            <a:off x="8869680" y="2944368"/>
            <a:ext cx="2679192" cy="54864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A9E85E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Operador logístico</a:t>
            </a:r>
          </a:p>
        </p:txBody>
      </p:sp>
      <p:sp>
        <p:nvSpPr>
          <p:cNvPr id="46" name="Forma 46"/>
          <p:cNvSpPr/>
          <p:nvPr/>
        </p:nvSpPr>
        <p:spPr>
          <a:xfrm>
            <a:off x="8869680" y="3602736"/>
            <a:ext cx="2679192" cy="54864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A9E85E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Proveedor de LLM</a:t>
            </a:r>
          </a:p>
        </p:txBody>
      </p:sp>
      <p:sp>
        <p:nvSpPr>
          <p:cNvPr id="47" name="Forma 47"/>
          <p:cNvSpPr/>
          <p:nvPr/>
        </p:nvSpPr>
        <p:spPr>
          <a:xfrm>
            <a:off x="8869680" y="4261104"/>
            <a:ext cx="2679192" cy="54864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A9E85E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WhatsApp</a:t>
            </a:r>
          </a:p>
        </p:txBody>
      </p:sp>
      <p:sp>
        <p:nvSpPr>
          <p:cNvPr id="48" name="Forma 48"/>
          <p:cNvSpPr/>
          <p:nvPr/>
        </p:nvSpPr>
        <p:spPr>
          <a:xfrm>
            <a:off x="8869680" y="4919472"/>
            <a:ext cx="2679192" cy="54864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A9E85E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Proveedor de correo</a:t>
            </a:r>
          </a:p>
        </p:txBody>
      </p:sp>
      <p:sp>
        <p:nvSpPr>
          <p:cNvPr id="49" name="Forma 49"/>
          <p:cNvSpPr/>
          <p:nvPr/>
        </p:nvSpPr>
        <p:spPr>
          <a:xfrm>
            <a:off x="8869680" y="5577840"/>
            <a:ext cx="2679192" cy="54864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A9E85E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150" dirty="0">
                <a:solidFill>
                  <a:srgbClr val="F5EBD8"/>
                </a:solidFill>
                <a:latin typeface="Segoe UI"/>
                <a:cs typeface="Segoe UI"/>
              </a:rPr>
              <a:t>Almacén de archivos</a:t>
            </a:r>
          </a:p>
        </p:txBody>
      </p:sp>
      <p:cxnSp>
        <p:nvCxnSpPr>
          <p:cNvPr id="50" name="Linea 50"/>
          <p:cNvCxnSpPr/>
          <p:nvPr/>
        </p:nvCxnSpPr>
        <p:spPr>
          <a:xfrm>
            <a:off x="8595360" y="3840480"/>
            <a:ext cx="228600" cy="0"/>
          </a:xfrm>
          <a:prstGeom prst="line">
            <a:avLst/>
          </a:prstGeom>
          <a:ln w="25400" cap="rnd">
            <a:solidFill>
              <a:srgbClr val="A9E85E"/>
            </a:solidFill>
            <a:round/>
            <a:tailEnd type="triangl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640080" y="155448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F665A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cxnSp>
        <p:nvCxnSpPr>
          <p:cNvPr id="3" name="Linea 3"/>
          <p:cNvCxnSpPr/>
          <p:nvPr/>
        </p:nvCxnSpPr>
        <p:spPr>
          <a:xfrm>
            <a:off x="704088" y="228600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4" name="Linea 4"/>
          <p:cNvCxnSpPr/>
          <p:nvPr/>
        </p:nvCxnSpPr>
        <p:spPr>
          <a:xfrm>
            <a:off x="905256" y="228600"/>
            <a:ext cx="0" cy="192024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5" name="Linea 5"/>
          <p:cNvCxnSpPr/>
          <p:nvPr/>
        </p:nvCxnSpPr>
        <p:spPr>
          <a:xfrm flipH="1">
            <a:off x="704088" y="420624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6" name="Linea 6"/>
          <p:cNvCxnSpPr/>
          <p:nvPr/>
        </p:nvCxnSpPr>
        <p:spPr>
          <a:xfrm flipV="1">
            <a:off x="704088" y="310896"/>
            <a:ext cx="0" cy="109728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7" name="Linea 7"/>
          <p:cNvCxnSpPr/>
          <p:nvPr/>
        </p:nvCxnSpPr>
        <p:spPr>
          <a:xfrm>
            <a:off x="704088" y="310896"/>
            <a:ext cx="118872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sp>
        <p:nvSpPr>
          <p:cNvPr id="8" name="Forma 8"/>
          <p:cNvSpPr/>
          <p:nvPr/>
        </p:nvSpPr>
        <p:spPr>
          <a:xfrm>
            <a:off x="1078992" y="128016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800" dirty="0">
                <a:solidFill>
                  <a:srgbClr val="F5EBD8"/>
                </a:solidFill>
                <a:latin typeface="DM Serif Display"/>
                <a:cs typeface="DM Serif Display"/>
              </a:rPr>
              <a:t>BabelHub</a:t>
            </a:r>
          </a:p>
        </p:txBody>
      </p:sp>
      <p:sp>
        <p:nvSpPr>
          <p:cNvPr id="9" name="Forma 9"/>
          <p:cNvSpPr/>
          <p:nvPr/>
        </p:nvSpPr>
        <p:spPr>
          <a:xfrm>
            <a:off x="10771632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Cierre</a:t>
            </a:r>
          </a:p>
        </p:txBody>
      </p:sp>
      <p:sp>
        <p:nvSpPr>
          <p:cNvPr id="10" name="Forma 10"/>
          <p:cNvSpPr/>
          <p:nvPr/>
        </p:nvSpPr>
        <p:spPr>
          <a:xfrm>
            <a:off x="10232136" y="182880"/>
            <a:ext cx="466344" cy="274320"/>
          </a:xfrm>
          <a:prstGeom prst="roundRect">
            <a:avLst>
              <a:gd name="adj" fmla="val 50000"/>
            </a:avLst>
          </a:prstGeom>
          <a:solidFill>
            <a:srgbClr val="1B2A57"/>
          </a:solidFill>
          <a:ln w="12700">
            <a:solidFill>
              <a:srgbClr val="FF665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F5EBD8"/>
                </a:solidFill>
                <a:latin typeface="Segoe UI"/>
                <a:cs typeface="Segoe UI"/>
              </a:rPr>
              <a:t>C4</a:t>
            </a:r>
          </a:p>
        </p:txBody>
      </p:sp>
      <p:sp>
        <p:nvSpPr>
          <p:cNvPr id="11" name="Forma 11"/>
          <p:cNvSpPr/>
          <p:nvPr/>
        </p:nvSpPr>
        <p:spPr>
          <a:xfrm>
            <a:off x="9381744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Diseño</a:t>
            </a:r>
          </a:p>
        </p:txBody>
      </p:sp>
      <p:sp>
        <p:nvSpPr>
          <p:cNvPr id="12" name="Forma 12"/>
          <p:cNvSpPr/>
          <p:nvPr/>
        </p:nvSpPr>
        <p:spPr>
          <a:xfrm>
            <a:off x="8065008" y="182880"/>
            <a:ext cx="1243584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Arquitectura</a:t>
            </a:r>
          </a:p>
        </p:txBody>
      </p:sp>
      <p:sp>
        <p:nvSpPr>
          <p:cNvPr id="13" name="Forma 13"/>
          <p:cNvSpPr/>
          <p:nvPr/>
        </p:nvSpPr>
        <p:spPr>
          <a:xfrm>
            <a:off x="7059168" y="182880"/>
            <a:ext cx="932688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Análisis</a:t>
            </a:r>
          </a:p>
        </p:txBody>
      </p:sp>
      <p:cxnSp>
        <p:nvCxnSpPr>
          <p:cNvPr id="14" name="Linea 14"/>
          <p:cNvCxnSpPr/>
          <p:nvPr/>
        </p:nvCxnSpPr>
        <p:spPr>
          <a:xfrm>
            <a:off x="640080" y="640080"/>
            <a:ext cx="10908792" cy="0"/>
          </a:xfrm>
          <a:prstGeom prst="line">
            <a:avLst/>
          </a:prstGeom>
          <a:ln w="9525" cap="rnd">
            <a:solidFill>
              <a:srgbClr val="36457A"/>
            </a:solidFill>
            <a:round/>
          </a:ln>
        </p:spPr>
      </p:cxnSp>
      <p:sp>
        <p:nvSpPr>
          <p:cNvPr id="15" name="Forma 15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400" i="1" cap="all" dirty="0">
                <a:solidFill>
                  <a:srgbClr val="F5EBD8"/>
                </a:solidFill>
                <a:latin typeface="DM Serif Display"/>
                <a:cs typeface="DM Serif Display"/>
              </a:rPr>
              <a:t>C4 NIVEL 3: </a:t>
            </a:r>
            <a:r>
              <a:rPr lang="es-PE" sz="3400" i="1" cap="all" dirty="0">
                <a:solidFill>
                  <a:srgbClr val="FF665A"/>
                </a:solidFill>
                <a:latin typeface="DM Serif Display"/>
                <a:cs typeface="DM Serif Display"/>
              </a:rPr>
              <a:t>COMPONENTES</a:t>
            </a:r>
          </a:p>
        </p:txBody>
      </p:sp>
      <p:sp>
        <p:nvSpPr>
          <p:cNvPr id="16" name="Forma 16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450" dirty="0">
                <a:solidFill>
                  <a:srgbClr val="B7B3A8"/>
                </a:solidFill>
                <a:latin typeface="Segoe UI"/>
                <a:cs typeface="Segoe UI"/>
              </a:rPr>
              <a:t>Módulos, no clases: cada uno corresponde a una spec.</a:t>
            </a:r>
          </a:p>
        </p:txBody>
      </p:sp>
      <p:sp>
        <p:nvSpPr>
          <p:cNvPr id="17" name="Forma 17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Arquitectura de Software (IS-488) · UNSCH</a:t>
            </a:r>
          </a:p>
        </p:txBody>
      </p:sp>
      <p:sp>
        <p:nvSpPr>
          <p:cNvPr id="18" name="Forma 18"/>
          <p:cNvSpPr/>
          <p:nvPr/>
        </p:nvSpPr>
        <p:spPr>
          <a:xfrm>
            <a:off x="10241280" y="6473952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14 / 15</a:t>
            </a:r>
          </a:p>
        </p:txBody>
      </p:sp>
      <p:sp>
        <p:nvSpPr>
          <p:cNvPr id="19" name="Forma 19"/>
          <p:cNvSpPr/>
          <p:nvPr/>
        </p:nvSpPr>
        <p:spPr>
          <a:xfrm>
            <a:off x="640080" y="2011680"/>
            <a:ext cx="5212080" cy="420624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25400">
            <a:solidFill>
              <a:srgbClr val="FF665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20" name="Forma 20"/>
          <p:cNvSpPr/>
          <p:nvPr/>
        </p:nvSpPr>
        <p:spPr>
          <a:xfrm>
            <a:off x="822960" y="208483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700" dirty="0">
                <a:solidFill>
                  <a:srgbClr val="F5EBD8"/>
                </a:solidFill>
                <a:latin typeface="DM Serif Display"/>
                <a:cs typeface="DM Serif Display"/>
              </a:rPr>
              <a:t>Servicio de Inventario</a:t>
            </a:r>
          </a:p>
        </p:txBody>
      </p:sp>
      <p:sp>
        <p:nvSpPr>
          <p:cNvPr id="21" name="Forma 21"/>
          <p:cNvSpPr/>
          <p:nvPr/>
        </p:nvSpPr>
        <p:spPr>
          <a:xfrm>
            <a:off x="822960" y="2606040"/>
            <a:ext cx="2331720" cy="713232"/>
          </a:xfrm>
          <a:prstGeom prst="roundRect">
            <a:avLst>
              <a:gd name="adj" fmla="val 2500"/>
            </a:avLst>
          </a:prstGeom>
          <a:solidFill>
            <a:srgbClr val="0F1A3D"/>
          </a:solidFill>
          <a:ln w="12700">
            <a:solidFill>
              <a:srgbClr val="36457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dirty="0">
                <a:solidFill>
                  <a:srgbClr val="F5EBD8"/>
                </a:solidFill>
                <a:latin typeface="Segoe UI"/>
                <a:cs typeface="Segoe UI"/>
              </a:rPr>
              <a:t>Fuentes y disponibilidad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dirty="0">
                <a:solidFill>
                  <a:srgbClr val="B7B3A8"/>
                </a:solidFill>
                <a:latin typeface="Segoe UI"/>
                <a:cs typeface="Segoe UI"/>
              </a:rPr>
              <a:t>FUE</a:t>
            </a:r>
          </a:p>
        </p:txBody>
      </p:sp>
      <p:sp>
        <p:nvSpPr>
          <p:cNvPr id="22" name="Forma 22"/>
          <p:cNvSpPr/>
          <p:nvPr/>
        </p:nvSpPr>
        <p:spPr>
          <a:xfrm>
            <a:off x="3291840" y="2606040"/>
            <a:ext cx="2331720" cy="713232"/>
          </a:xfrm>
          <a:prstGeom prst="roundRect">
            <a:avLst>
              <a:gd name="adj" fmla="val 2500"/>
            </a:avLst>
          </a:prstGeom>
          <a:solidFill>
            <a:srgbClr val="0F1A3D"/>
          </a:solidFill>
          <a:ln w="12700">
            <a:solidFill>
              <a:srgbClr val="36457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dirty="0">
                <a:solidFill>
                  <a:srgbClr val="F5EBD8"/>
                </a:solidFill>
                <a:latin typeface="Segoe UI"/>
                <a:cs typeface="Segoe UI"/>
              </a:rPr>
              <a:t>Rutas entre fuentes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dirty="0">
                <a:solidFill>
                  <a:srgbClr val="B7B3A8"/>
                </a:solidFill>
                <a:latin typeface="Segoe UI"/>
                <a:cs typeface="Segoe UI"/>
              </a:rPr>
              <a:t>FUE</a:t>
            </a:r>
          </a:p>
        </p:txBody>
      </p:sp>
      <p:sp>
        <p:nvSpPr>
          <p:cNvPr id="23" name="Forma 23"/>
          <p:cNvSpPr/>
          <p:nvPr/>
        </p:nvSpPr>
        <p:spPr>
          <a:xfrm>
            <a:off x="822960" y="3429000"/>
            <a:ext cx="2331720" cy="713232"/>
          </a:xfrm>
          <a:prstGeom prst="roundRect">
            <a:avLst>
              <a:gd name="adj" fmla="val 2500"/>
            </a:avLst>
          </a:prstGeom>
          <a:solidFill>
            <a:srgbClr val="0F1A3D"/>
          </a:solidFill>
          <a:ln w="28575">
            <a:solidFill>
              <a:srgbClr val="FF665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dirty="0">
                <a:solidFill>
                  <a:srgbClr val="F5EBD8"/>
                </a:solidFill>
                <a:latin typeface="Segoe UI"/>
                <a:cs typeface="Segoe UI"/>
              </a:rPr>
              <a:t>Reservas y selección de fuente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dirty="0">
                <a:solidFill>
                  <a:srgbClr val="B7B3A8"/>
                </a:solidFill>
                <a:latin typeface="Segoe UI"/>
                <a:cs typeface="Segoe UI"/>
              </a:rPr>
              <a:t>SEL</a:t>
            </a:r>
          </a:p>
        </p:txBody>
      </p:sp>
      <p:sp>
        <p:nvSpPr>
          <p:cNvPr id="24" name="Forma 24"/>
          <p:cNvSpPr/>
          <p:nvPr/>
        </p:nvSpPr>
        <p:spPr>
          <a:xfrm>
            <a:off x="3291840" y="3429000"/>
            <a:ext cx="2331720" cy="713232"/>
          </a:xfrm>
          <a:prstGeom prst="roundRect">
            <a:avLst>
              <a:gd name="adj" fmla="val 2500"/>
            </a:avLst>
          </a:prstGeom>
          <a:solidFill>
            <a:srgbClr val="0F1A3D"/>
          </a:solidFill>
          <a:ln w="12700">
            <a:solidFill>
              <a:srgbClr val="36457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dirty="0">
                <a:solidFill>
                  <a:srgbClr val="F5EBD8"/>
                </a:solidFill>
                <a:latin typeface="Segoe UI"/>
                <a:cs typeface="Segoe UI"/>
              </a:rPr>
              <a:t>Traslados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dirty="0">
                <a:solidFill>
                  <a:srgbClr val="B7B3A8"/>
                </a:solidFill>
                <a:latin typeface="Segoe UI"/>
                <a:cs typeface="Segoe UI"/>
              </a:rPr>
              <a:t>TRA</a:t>
            </a:r>
          </a:p>
        </p:txBody>
      </p:sp>
      <p:sp>
        <p:nvSpPr>
          <p:cNvPr id="25" name="Forma 25"/>
          <p:cNvSpPr/>
          <p:nvPr/>
        </p:nvSpPr>
        <p:spPr>
          <a:xfrm>
            <a:off x="822960" y="4251960"/>
            <a:ext cx="2331720" cy="713232"/>
          </a:xfrm>
          <a:prstGeom prst="roundRect">
            <a:avLst>
              <a:gd name="adj" fmla="val 2500"/>
            </a:avLst>
          </a:prstGeom>
          <a:solidFill>
            <a:srgbClr val="0F1A3D"/>
          </a:solidFill>
          <a:ln w="12700">
            <a:solidFill>
              <a:srgbClr val="36457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dirty="0">
                <a:solidFill>
                  <a:srgbClr val="F5EBD8"/>
                </a:solidFill>
                <a:latin typeface="Segoe UI"/>
                <a:cs typeface="Segoe UI"/>
              </a:rPr>
              <a:t>Ajustes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dirty="0">
                <a:solidFill>
                  <a:srgbClr val="B7B3A8"/>
                </a:solidFill>
                <a:latin typeface="Segoe UI"/>
                <a:cs typeface="Segoe UI"/>
              </a:rPr>
              <a:t>AJU</a:t>
            </a:r>
          </a:p>
        </p:txBody>
      </p:sp>
      <p:sp>
        <p:nvSpPr>
          <p:cNvPr id="26" name="Forma 26"/>
          <p:cNvSpPr/>
          <p:nvPr/>
        </p:nvSpPr>
        <p:spPr>
          <a:xfrm>
            <a:off x="3291840" y="4251960"/>
            <a:ext cx="2331720" cy="713232"/>
          </a:xfrm>
          <a:prstGeom prst="roundRect">
            <a:avLst>
              <a:gd name="adj" fmla="val 2500"/>
            </a:avLst>
          </a:prstGeom>
          <a:solidFill>
            <a:srgbClr val="0F1A3D"/>
          </a:solidFill>
          <a:ln w="12700">
            <a:solidFill>
              <a:srgbClr val="36457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dirty="0">
                <a:solidFill>
                  <a:srgbClr val="F5EBD8"/>
                </a:solidFill>
                <a:latin typeface="Segoe UI"/>
                <a:cs typeface="Segoe UI"/>
              </a:rPr>
              <a:t>Expiración de reservas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dirty="0">
                <a:solidFill>
                  <a:srgbClr val="B7B3A8"/>
                </a:solidFill>
                <a:latin typeface="Segoe UI"/>
                <a:cs typeface="Segoe UI"/>
              </a:rPr>
              <a:t>trabajo de fondo</a:t>
            </a:r>
          </a:p>
        </p:txBody>
      </p:sp>
      <p:sp>
        <p:nvSpPr>
          <p:cNvPr id="27" name="Forma 27"/>
          <p:cNvSpPr/>
          <p:nvPr/>
        </p:nvSpPr>
        <p:spPr>
          <a:xfrm>
            <a:off x="822960" y="512064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950" b="1" spc="60" dirty="0">
                <a:solidFill>
                  <a:srgbClr val="B7B3A8"/>
                </a:solidFill>
                <a:latin typeface="Segoe UI"/>
                <a:cs typeface="Segoe UI"/>
              </a:rPr>
              <a:t>PUERTOS → INFRAESTRUCTURA</a:t>
            </a:r>
          </a:p>
        </p:txBody>
      </p:sp>
      <p:sp>
        <p:nvSpPr>
          <p:cNvPr id="28" name="Forma 28"/>
          <p:cNvSpPr/>
          <p:nvPr/>
        </p:nvSpPr>
        <p:spPr>
          <a:xfrm>
            <a:off x="822960" y="5440680"/>
            <a:ext cx="114300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6C8D4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36C8D4"/>
                </a:solidFill>
                <a:latin typeface="Segoe UI"/>
                <a:cs typeface="Segoe UI"/>
              </a:rPr>
              <a:t>Repositorio</a:t>
            </a:r>
          </a:p>
        </p:txBody>
      </p:sp>
      <p:sp>
        <p:nvSpPr>
          <p:cNvPr id="29" name="Forma 29"/>
          <p:cNvSpPr/>
          <p:nvPr/>
        </p:nvSpPr>
        <p:spPr>
          <a:xfrm>
            <a:off x="2039112" y="5440680"/>
            <a:ext cx="114300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6C8D4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36C8D4"/>
                </a:solidFill>
                <a:latin typeface="Segoe UI"/>
                <a:cs typeface="Segoe UI"/>
              </a:rPr>
              <a:t>Caché</a:t>
            </a:r>
          </a:p>
        </p:txBody>
      </p:sp>
      <p:sp>
        <p:nvSpPr>
          <p:cNvPr id="30" name="Forma 30"/>
          <p:cNvSpPr/>
          <p:nvPr/>
        </p:nvSpPr>
        <p:spPr>
          <a:xfrm>
            <a:off x="3255264" y="5440680"/>
            <a:ext cx="114300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6C8D4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36C8D4"/>
                </a:solidFill>
                <a:latin typeface="Segoe UI"/>
                <a:cs typeface="Segoe UI"/>
              </a:rPr>
              <a:t>Notificador</a:t>
            </a:r>
          </a:p>
        </p:txBody>
      </p:sp>
      <p:sp>
        <p:nvSpPr>
          <p:cNvPr id="31" name="Forma 31"/>
          <p:cNvSpPr/>
          <p:nvPr/>
        </p:nvSpPr>
        <p:spPr>
          <a:xfrm>
            <a:off x="4471416" y="5440680"/>
            <a:ext cx="114300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6C8D4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36C8D4"/>
                </a:solidFill>
                <a:latin typeface="Segoe UI"/>
                <a:cs typeface="Segoe UI"/>
              </a:rPr>
              <a:t>Auditoría</a:t>
            </a:r>
          </a:p>
        </p:txBody>
      </p:sp>
      <p:sp>
        <p:nvSpPr>
          <p:cNvPr id="32" name="Forma 32"/>
          <p:cNvSpPr/>
          <p:nvPr/>
        </p:nvSpPr>
        <p:spPr>
          <a:xfrm>
            <a:off x="822960" y="585216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dirty="0">
                <a:solidFill>
                  <a:srgbClr val="B7B3A8"/>
                </a:solidFill>
                <a:latin typeface="Segoe UI"/>
                <a:cs typeface="Segoe UI"/>
              </a:rPr>
              <a:t>PostgreSQL Inventario · Redis · n8n</a:t>
            </a:r>
          </a:p>
        </p:txBody>
      </p:sp>
      <p:cxnSp>
        <p:nvCxnSpPr>
          <p:cNvPr id="33" name="Linea 33"/>
          <p:cNvCxnSpPr/>
          <p:nvPr/>
        </p:nvCxnSpPr>
        <p:spPr>
          <a:xfrm>
            <a:off x="5897880" y="3657600"/>
            <a:ext cx="411480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34" name="Forma 34"/>
          <p:cNvSpPr/>
          <p:nvPr/>
        </p:nvSpPr>
        <p:spPr>
          <a:xfrm>
            <a:off x="5669280" y="32461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dirty="0">
                <a:solidFill>
                  <a:srgbClr val="36C8D4"/>
                </a:solidFill>
                <a:latin typeface="Segoe UI"/>
                <a:cs typeface="Segoe UI"/>
              </a:rPr>
              <a:t>REST</a:t>
            </a:r>
          </a:p>
        </p:txBody>
      </p:sp>
      <p:sp>
        <p:nvSpPr>
          <p:cNvPr id="35" name="Forma 35"/>
          <p:cNvSpPr/>
          <p:nvPr/>
        </p:nvSpPr>
        <p:spPr>
          <a:xfrm>
            <a:off x="6336792" y="2011680"/>
            <a:ext cx="5212080" cy="420624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25400">
            <a:solidFill>
              <a:srgbClr val="A78BF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6" name="Forma 36"/>
          <p:cNvSpPr/>
          <p:nvPr/>
        </p:nvSpPr>
        <p:spPr>
          <a:xfrm>
            <a:off x="6519672" y="208483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700" dirty="0">
                <a:solidFill>
                  <a:srgbClr val="F5EBD8"/>
                </a:solidFill>
                <a:latin typeface="DM Serif Display"/>
                <a:cs typeface="DM Serif Display"/>
              </a:rPr>
              <a:t>Servicio de E-commerce</a:t>
            </a:r>
          </a:p>
        </p:txBody>
      </p:sp>
      <p:sp>
        <p:nvSpPr>
          <p:cNvPr id="37" name="Forma 37"/>
          <p:cNvSpPr/>
          <p:nvPr/>
        </p:nvSpPr>
        <p:spPr>
          <a:xfrm>
            <a:off x="6519672" y="2606040"/>
            <a:ext cx="2331720" cy="640080"/>
          </a:xfrm>
          <a:prstGeom prst="roundRect">
            <a:avLst>
              <a:gd name="adj" fmla="val 2500"/>
            </a:avLst>
          </a:prstGeom>
          <a:solidFill>
            <a:srgbClr val="0F1A3D"/>
          </a:solidFill>
          <a:ln w="12700">
            <a:solidFill>
              <a:srgbClr val="36457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dirty="0">
                <a:solidFill>
                  <a:srgbClr val="F5EBD8"/>
                </a:solidFill>
                <a:latin typeface="Segoe UI"/>
                <a:cs typeface="Segoe UI"/>
              </a:rPr>
              <a:t>Catálogo y licencias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dirty="0">
                <a:solidFill>
                  <a:srgbClr val="B7B3A8"/>
                </a:solidFill>
                <a:latin typeface="Segoe UI"/>
                <a:cs typeface="Segoe UI"/>
              </a:rPr>
              <a:t>CAT</a:t>
            </a:r>
          </a:p>
        </p:txBody>
      </p:sp>
      <p:sp>
        <p:nvSpPr>
          <p:cNvPr id="38" name="Forma 38"/>
          <p:cNvSpPr/>
          <p:nvPr/>
        </p:nvSpPr>
        <p:spPr>
          <a:xfrm>
            <a:off x="8988552" y="2606040"/>
            <a:ext cx="2331720" cy="640080"/>
          </a:xfrm>
          <a:prstGeom prst="roundRect">
            <a:avLst>
              <a:gd name="adj" fmla="val 2500"/>
            </a:avLst>
          </a:prstGeom>
          <a:solidFill>
            <a:srgbClr val="0F1A3D"/>
          </a:solidFill>
          <a:ln w="12700">
            <a:solidFill>
              <a:srgbClr val="36457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dirty="0">
                <a:solidFill>
                  <a:srgbClr val="F5EBD8"/>
                </a:solidFill>
                <a:latin typeface="Segoe UI"/>
                <a:cs typeface="Segoe UI"/>
              </a:rPr>
              <a:t>Carrito y checkout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dirty="0">
                <a:solidFill>
                  <a:srgbClr val="B7B3A8"/>
                </a:solidFill>
                <a:latin typeface="Segoe UI"/>
                <a:cs typeface="Segoe UI"/>
              </a:rPr>
              <a:t>CAR</a:t>
            </a:r>
          </a:p>
        </p:txBody>
      </p:sp>
      <p:sp>
        <p:nvSpPr>
          <p:cNvPr id="39" name="Forma 39"/>
          <p:cNvSpPr/>
          <p:nvPr/>
        </p:nvSpPr>
        <p:spPr>
          <a:xfrm>
            <a:off x="6519672" y="3355848"/>
            <a:ext cx="2331720" cy="640080"/>
          </a:xfrm>
          <a:prstGeom prst="roundRect">
            <a:avLst>
              <a:gd name="adj" fmla="val 2500"/>
            </a:avLst>
          </a:prstGeom>
          <a:solidFill>
            <a:srgbClr val="0F1A3D"/>
          </a:solidFill>
          <a:ln w="25400">
            <a:solidFill>
              <a:srgbClr val="FF665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dirty="0">
                <a:solidFill>
                  <a:srgbClr val="F5EBD8"/>
                </a:solidFill>
                <a:latin typeface="Segoe UI"/>
                <a:cs typeface="Segoe UI"/>
              </a:rPr>
              <a:t>Pagos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dirty="0">
                <a:solidFill>
                  <a:srgbClr val="B7B3A8"/>
                </a:solidFill>
                <a:latin typeface="Segoe UI"/>
                <a:cs typeface="Segoe UI"/>
              </a:rPr>
              <a:t>PAG</a:t>
            </a:r>
          </a:p>
        </p:txBody>
      </p:sp>
      <p:sp>
        <p:nvSpPr>
          <p:cNvPr id="40" name="Forma 40"/>
          <p:cNvSpPr/>
          <p:nvPr/>
        </p:nvSpPr>
        <p:spPr>
          <a:xfrm>
            <a:off x="8988552" y="3355848"/>
            <a:ext cx="2331720" cy="640080"/>
          </a:xfrm>
          <a:prstGeom prst="roundRect">
            <a:avLst>
              <a:gd name="adj" fmla="val 2500"/>
            </a:avLst>
          </a:prstGeom>
          <a:solidFill>
            <a:srgbClr val="0F1A3D"/>
          </a:solidFill>
          <a:ln w="25400">
            <a:solidFill>
              <a:srgbClr val="FF665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dirty="0">
                <a:solidFill>
                  <a:srgbClr val="F5EBD8"/>
                </a:solidFill>
                <a:latin typeface="Segoe UI"/>
                <a:cs typeface="Segoe UI"/>
              </a:rPr>
              <a:t>Pedidos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dirty="0">
                <a:solidFill>
                  <a:srgbClr val="B7B3A8"/>
                </a:solidFill>
                <a:latin typeface="Segoe UI"/>
                <a:cs typeface="Segoe UI"/>
              </a:rPr>
              <a:t>PED</a:t>
            </a:r>
          </a:p>
        </p:txBody>
      </p:sp>
      <p:sp>
        <p:nvSpPr>
          <p:cNvPr id="41" name="Forma 41"/>
          <p:cNvSpPr/>
          <p:nvPr/>
        </p:nvSpPr>
        <p:spPr>
          <a:xfrm>
            <a:off x="6519672" y="4105656"/>
            <a:ext cx="2331720" cy="640080"/>
          </a:xfrm>
          <a:prstGeom prst="roundRect">
            <a:avLst>
              <a:gd name="adj" fmla="val 2500"/>
            </a:avLst>
          </a:prstGeom>
          <a:solidFill>
            <a:srgbClr val="0F1A3D"/>
          </a:solidFill>
          <a:ln w="12700">
            <a:solidFill>
              <a:srgbClr val="36457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dirty="0">
                <a:solidFill>
                  <a:srgbClr val="F5EBD8"/>
                </a:solidFill>
                <a:latin typeface="Segoe UI"/>
                <a:cs typeface="Segoe UI"/>
              </a:rPr>
              <a:t>Biblioteca digital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dirty="0">
                <a:solidFill>
                  <a:srgbClr val="B7B3A8"/>
                </a:solidFill>
                <a:latin typeface="Segoe UI"/>
                <a:cs typeface="Segoe UI"/>
              </a:rPr>
              <a:t>BIB</a:t>
            </a:r>
          </a:p>
        </p:txBody>
      </p:sp>
      <p:sp>
        <p:nvSpPr>
          <p:cNvPr id="42" name="Forma 42"/>
          <p:cNvSpPr/>
          <p:nvPr/>
        </p:nvSpPr>
        <p:spPr>
          <a:xfrm>
            <a:off x="8988552" y="4105656"/>
            <a:ext cx="2331720" cy="640080"/>
          </a:xfrm>
          <a:prstGeom prst="roundRect">
            <a:avLst>
              <a:gd name="adj" fmla="val 2500"/>
            </a:avLst>
          </a:prstGeom>
          <a:solidFill>
            <a:srgbClr val="0F1A3D"/>
          </a:solidFill>
          <a:ln w="12700">
            <a:solidFill>
              <a:srgbClr val="36457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dirty="0">
                <a:solidFill>
                  <a:srgbClr val="F5EBD8"/>
                </a:solidFill>
                <a:latin typeface="Segoe UI"/>
                <a:cs typeface="Segoe UI"/>
              </a:rPr>
              <a:t>Envíos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dirty="0">
                <a:solidFill>
                  <a:srgbClr val="B7B3A8"/>
                </a:solidFill>
                <a:latin typeface="Segoe UI"/>
                <a:cs typeface="Segoe UI"/>
              </a:rPr>
              <a:t>ENV</a:t>
            </a:r>
          </a:p>
        </p:txBody>
      </p:sp>
      <p:sp>
        <p:nvSpPr>
          <p:cNvPr id="43" name="Forma 43"/>
          <p:cNvSpPr/>
          <p:nvPr/>
        </p:nvSpPr>
        <p:spPr>
          <a:xfrm>
            <a:off x="6519672" y="4855464"/>
            <a:ext cx="2331720" cy="640080"/>
          </a:xfrm>
          <a:prstGeom prst="roundRect">
            <a:avLst>
              <a:gd name="adj" fmla="val 2500"/>
            </a:avLst>
          </a:prstGeom>
          <a:solidFill>
            <a:srgbClr val="0F1A3D"/>
          </a:solidFill>
          <a:ln w="12700">
            <a:solidFill>
              <a:srgbClr val="36457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dirty="0">
                <a:solidFill>
                  <a:srgbClr val="F5EBD8"/>
                </a:solidFill>
                <a:latin typeface="Segoe UI"/>
                <a:cs typeface="Segoe UI"/>
              </a:rPr>
              <a:t>Devoluciones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dirty="0">
                <a:solidFill>
                  <a:srgbClr val="B7B3A8"/>
                </a:solidFill>
                <a:latin typeface="Segoe UI"/>
                <a:cs typeface="Segoe UI"/>
              </a:rPr>
              <a:t>DEV</a:t>
            </a:r>
          </a:p>
        </p:txBody>
      </p:sp>
      <p:sp>
        <p:nvSpPr>
          <p:cNvPr id="44" name="Forma 44"/>
          <p:cNvSpPr/>
          <p:nvPr/>
        </p:nvSpPr>
        <p:spPr>
          <a:xfrm>
            <a:off x="8988552" y="4855464"/>
            <a:ext cx="2331720" cy="640080"/>
          </a:xfrm>
          <a:prstGeom prst="roundRect">
            <a:avLst>
              <a:gd name="adj" fmla="val 2500"/>
            </a:avLst>
          </a:prstGeom>
          <a:solidFill>
            <a:srgbClr val="0F1A3D"/>
          </a:solidFill>
          <a:ln w="12700">
            <a:solidFill>
              <a:srgbClr val="36457A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b="1" dirty="0">
                <a:solidFill>
                  <a:srgbClr val="F5EBD8"/>
                </a:solidFill>
                <a:latin typeface="Segoe UI"/>
                <a:cs typeface="Segoe UI"/>
              </a:rPr>
              <a:t>Libro de Reclamaciones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50" dirty="0">
                <a:solidFill>
                  <a:srgbClr val="B7B3A8"/>
                </a:solidFill>
                <a:latin typeface="Segoe UI"/>
                <a:cs typeface="Segoe UI"/>
              </a:rPr>
              <a:t>REC</a:t>
            </a:r>
          </a:p>
        </p:txBody>
      </p:sp>
      <p:sp>
        <p:nvSpPr>
          <p:cNvPr id="45" name="Forma 45"/>
          <p:cNvSpPr/>
          <p:nvPr/>
        </p:nvSpPr>
        <p:spPr>
          <a:xfrm>
            <a:off x="6519672" y="56692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i="1" dirty="0">
                <a:solidFill>
                  <a:srgbClr val="B7B3A8"/>
                </a:solidFill>
                <a:latin typeface="Segoe UI"/>
                <a:cs typeface="Segoe UI"/>
              </a:rPr>
              <a:t>Carrito → Pagos → Pedidos → Biblioteca: el camino de una compra digital.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640080" y="155448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F665A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cxnSp>
        <p:nvCxnSpPr>
          <p:cNvPr id="3" name="Linea 3"/>
          <p:cNvCxnSpPr/>
          <p:nvPr/>
        </p:nvCxnSpPr>
        <p:spPr>
          <a:xfrm>
            <a:off x="704088" y="228600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4" name="Linea 4"/>
          <p:cNvCxnSpPr/>
          <p:nvPr/>
        </p:nvCxnSpPr>
        <p:spPr>
          <a:xfrm>
            <a:off x="905256" y="228600"/>
            <a:ext cx="0" cy="192024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5" name="Linea 5"/>
          <p:cNvCxnSpPr/>
          <p:nvPr/>
        </p:nvCxnSpPr>
        <p:spPr>
          <a:xfrm flipH="1">
            <a:off x="704088" y="420624"/>
            <a:ext cx="201168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6" name="Linea 6"/>
          <p:cNvCxnSpPr/>
          <p:nvPr/>
        </p:nvCxnSpPr>
        <p:spPr>
          <a:xfrm flipV="1">
            <a:off x="704088" y="310896"/>
            <a:ext cx="0" cy="109728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cxnSp>
        <p:nvCxnSpPr>
          <p:cNvPr id="7" name="Linea 7"/>
          <p:cNvCxnSpPr/>
          <p:nvPr/>
        </p:nvCxnSpPr>
        <p:spPr>
          <a:xfrm>
            <a:off x="704088" y="310896"/>
            <a:ext cx="118872" cy="0"/>
          </a:xfrm>
          <a:prstGeom prst="line">
            <a:avLst/>
          </a:prstGeom>
          <a:ln w="22225" cap="rnd">
            <a:solidFill>
              <a:srgbClr val="172554"/>
            </a:solidFill>
            <a:round/>
          </a:ln>
        </p:spPr>
      </p:cxnSp>
      <p:sp>
        <p:nvSpPr>
          <p:cNvPr id="8" name="Forma 8"/>
          <p:cNvSpPr/>
          <p:nvPr/>
        </p:nvSpPr>
        <p:spPr>
          <a:xfrm>
            <a:off x="1078992" y="128016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800" dirty="0">
                <a:solidFill>
                  <a:srgbClr val="F5EBD8"/>
                </a:solidFill>
                <a:latin typeface="DM Serif Display"/>
                <a:cs typeface="DM Serif Display"/>
              </a:rPr>
              <a:t>BabelHub</a:t>
            </a:r>
          </a:p>
        </p:txBody>
      </p:sp>
      <p:sp>
        <p:nvSpPr>
          <p:cNvPr id="9" name="Forma 9"/>
          <p:cNvSpPr/>
          <p:nvPr/>
        </p:nvSpPr>
        <p:spPr>
          <a:xfrm>
            <a:off x="10771632" y="18288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B2A57"/>
          </a:solidFill>
          <a:ln w="12700">
            <a:solidFill>
              <a:srgbClr val="FF665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F5EBD8"/>
                </a:solidFill>
                <a:latin typeface="Segoe UI"/>
                <a:cs typeface="Segoe UI"/>
              </a:rPr>
              <a:t>Cierre</a:t>
            </a:r>
          </a:p>
        </p:txBody>
      </p:sp>
      <p:sp>
        <p:nvSpPr>
          <p:cNvPr id="10" name="Forma 10"/>
          <p:cNvSpPr/>
          <p:nvPr/>
        </p:nvSpPr>
        <p:spPr>
          <a:xfrm>
            <a:off x="10232136" y="182880"/>
            <a:ext cx="466344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C4</a:t>
            </a:r>
          </a:p>
        </p:txBody>
      </p:sp>
      <p:sp>
        <p:nvSpPr>
          <p:cNvPr id="11" name="Forma 11"/>
          <p:cNvSpPr/>
          <p:nvPr/>
        </p:nvSpPr>
        <p:spPr>
          <a:xfrm>
            <a:off x="9381744" y="182880"/>
            <a:ext cx="777240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Diseño</a:t>
            </a:r>
          </a:p>
        </p:txBody>
      </p:sp>
      <p:sp>
        <p:nvSpPr>
          <p:cNvPr id="12" name="Forma 12"/>
          <p:cNvSpPr/>
          <p:nvPr/>
        </p:nvSpPr>
        <p:spPr>
          <a:xfrm>
            <a:off x="8065008" y="182880"/>
            <a:ext cx="1243584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Arquitectura</a:t>
            </a:r>
          </a:p>
        </p:txBody>
      </p:sp>
      <p:sp>
        <p:nvSpPr>
          <p:cNvPr id="13" name="Forma 13"/>
          <p:cNvSpPr/>
          <p:nvPr/>
        </p:nvSpPr>
        <p:spPr>
          <a:xfrm>
            <a:off x="7059168" y="182880"/>
            <a:ext cx="932688" cy="2743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b="1" dirty="0">
                <a:solidFill>
                  <a:srgbClr val="B7B3A8"/>
                </a:solidFill>
                <a:latin typeface="Segoe UI"/>
                <a:cs typeface="Segoe UI"/>
              </a:rPr>
              <a:t>Análisis</a:t>
            </a:r>
          </a:p>
        </p:txBody>
      </p:sp>
      <p:cxnSp>
        <p:nvCxnSpPr>
          <p:cNvPr id="14" name="Linea 14"/>
          <p:cNvCxnSpPr/>
          <p:nvPr/>
        </p:nvCxnSpPr>
        <p:spPr>
          <a:xfrm>
            <a:off x="640080" y="640080"/>
            <a:ext cx="10908792" cy="0"/>
          </a:xfrm>
          <a:prstGeom prst="line">
            <a:avLst/>
          </a:prstGeom>
          <a:ln w="9525" cap="rnd">
            <a:solidFill>
              <a:srgbClr val="36457A"/>
            </a:solidFill>
            <a:round/>
          </a:ln>
        </p:spPr>
      </p:cxnSp>
      <p:sp>
        <p:nvSpPr>
          <p:cNvPr id="15" name="Forma 15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400" i="1" cap="all" dirty="0">
                <a:solidFill>
                  <a:srgbClr val="F5EBD8"/>
                </a:solidFill>
                <a:latin typeface="DM Serif Display"/>
                <a:cs typeface="DM Serif Display"/>
              </a:rPr>
              <a:t>VOLVER AL </a:t>
            </a:r>
            <a:r>
              <a:rPr lang="es-PE" sz="3400" i="1" cap="all" dirty="0">
                <a:solidFill>
                  <a:srgbClr val="FF665A"/>
                </a:solidFill>
                <a:latin typeface="DM Serif Display"/>
                <a:cs typeface="DM Serif Display"/>
              </a:rPr>
              <a:t>PROBLEMA</a:t>
            </a:r>
          </a:p>
        </p:txBody>
      </p:sp>
      <p:sp>
        <p:nvSpPr>
          <p:cNvPr id="16" name="Forma 16"/>
          <p:cNvSpPr/>
          <p:nvPr/>
        </p:nvSpPr>
        <p:spPr>
          <a:xfrm>
            <a:off x="640080" y="64739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Arquitectura de Software (IS-488) · UNSCH</a:t>
            </a:r>
          </a:p>
        </p:txBody>
      </p:sp>
      <p:sp>
        <p:nvSpPr>
          <p:cNvPr id="17" name="Forma 17"/>
          <p:cNvSpPr/>
          <p:nvPr/>
        </p:nvSpPr>
        <p:spPr>
          <a:xfrm>
            <a:off x="10241280" y="6473952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00" dirty="0">
                <a:solidFill>
                  <a:srgbClr val="B7B3A8"/>
                </a:solidFill>
                <a:latin typeface="Segoe UI"/>
                <a:cs typeface="Segoe UI"/>
              </a:rPr>
              <a:t>15 / 15</a:t>
            </a:r>
          </a:p>
        </p:txBody>
      </p:sp>
      <p:sp>
        <p:nvSpPr>
          <p:cNvPr id="18" name="Forma 18"/>
          <p:cNvSpPr/>
          <p:nvPr/>
        </p:nvSpPr>
        <p:spPr>
          <a:xfrm>
            <a:off x="640080" y="1783080"/>
            <a:ext cx="1645920" cy="1280160"/>
          </a:xfrm>
          <a:prstGeom prst="roundRect">
            <a:avLst>
              <a:gd name="adj" fmla="val 2500"/>
            </a:avLst>
          </a:prstGeom>
          <a:solidFill>
            <a:srgbClr val="FF665A"/>
          </a:solidFill>
          <a:ln>
            <a:noFill/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00" b="1" dirty="0">
                <a:solidFill>
                  <a:srgbClr val="172554"/>
                </a:solidFill>
                <a:latin typeface="Segoe UI"/>
                <a:cs typeface="Segoe UI"/>
              </a:rPr>
              <a:t>Sobreventa entre sucursales</a:t>
            </a:r>
          </a:p>
        </p:txBody>
      </p:sp>
      <p:cxnSp>
        <p:nvCxnSpPr>
          <p:cNvPr id="19" name="Linea 19"/>
          <p:cNvCxnSpPr/>
          <p:nvPr/>
        </p:nvCxnSpPr>
        <p:spPr>
          <a:xfrm>
            <a:off x="2286000" y="2423160"/>
            <a:ext cx="182880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20" name="Forma 20"/>
          <p:cNvSpPr/>
          <p:nvPr/>
        </p:nvSpPr>
        <p:spPr>
          <a:xfrm>
            <a:off x="2468880" y="1783080"/>
            <a:ext cx="1645920" cy="128016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C8D4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00" b="1" dirty="0">
                <a:solidFill>
                  <a:srgbClr val="F5EBD8"/>
                </a:solidFill>
                <a:latin typeface="Segoe UI"/>
                <a:cs typeface="Segoe UI"/>
              </a:rPr>
              <a:t>Consistencia del inventario</a:t>
            </a:r>
          </a:p>
        </p:txBody>
      </p:sp>
      <p:cxnSp>
        <p:nvCxnSpPr>
          <p:cNvPr id="21" name="Linea 21"/>
          <p:cNvCxnSpPr/>
          <p:nvPr/>
        </p:nvCxnSpPr>
        <p:spPr>
          <a:xfrm>
            <a:off x="4114800" y="2423160"/>
            <a:ext cx="182880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22" name="Forma 22"/>
          <p:cNvSpPr/>
          <p:nvPr/>
        </p:nvSpPr>
        <p:spPr>
          <a:xfrm>
            <a:off x="4297680" y="1783080"/>
            <a:ext cx="1645920" cy="128016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C8D4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00" b="1" dirty="0">
                <a:solidFill>
                  <a:srgbClr val="F5EBD8"/>
                </a:solidFill>
                <a:latin typeface="Segoe UI"/>
                <a:cs typeface="Segoe UI"/>
              </a:rPr>
              <a:t>Servicio y base propios</a:t>
            </a:r>
          </a:p>
        </p:txBody>
      </p:sp>
      <p:cxnSp>
        <p:nvCxnSpPr>
          <p:cNvPr id="23" name="Linea 23"/>
          <p:cNvCxnSpPr/>
          <p:nvPr/>
        </p:nvCxnSpPr>
        <p:spPr>
          <a:xfrm>
            <a:off x="5943600" y="2423160"/>
            <a:ext cx="182880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24" name="Forma 24"/>
          <p:cNvSpPr/>
          <p:nvPr/>
        </p:nvSpPr>
        <p:spPr>
          <a:xfrm>
            <a:off x="6126480" y="1783080"/>
            <a:ext cx="1645920" cy="128016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C8D4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00" b="1" dirty="0">
                <a:solidFill>
                  <a:srgbClr val="F5EBD8"/>
                </a:solidFill>
                <a:latin typeface="Segoe UI"/>
                <a:cs typeface="Segoe UI"/>
              </a:rPr>
              <a:t>Reservas transaccionales</a:t>
            </a:r>
          </a:p>
        </p:txBody>
      </p:sp>
      <p:cxnSp>
        <p:nvCxnSpPr>
          <p:cNvPr id="25" name="Linea 25"/>
          <p:cNvCxnSpPr/>
          <p:nvPr/>
        </p:nvCxnSpPr>
        <p:spPr>
          <a:xfrm>
            <a:off x="7772400" y="2423160"/>
            <a:ext cx="182880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26" name="Forma 26"/>
          <p:cNvSpPr/>
          <p:nvPr/>
        </p:nvSpPr>
        <p:spPr>
          <a:xfrm>
            <a:off x="7955280" y="1783080"/>
            <a:ext cx="1645920" cy="128016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C8D4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00" b="1" dirty="0">
                <a:solidFill>
                  <a:srgbClr val="F5EBD8"/>
                </a:solidFill>
                <a:latin typeface="Segoe UI"/>
                <a:cs typeface="Segoe UI"/>
              </a:rPr>
              <a:t>Servicios con Clean Architecture</a:t>
            </a:r>
          </a:p>
        </p:txBody>
      </p:sp>
      <p:cxnSp>
        <p:nvCxnSpPr>
          <p:cNvPr id="27" name="Linea 27"/>
          <p:cNvCxnSpPr/>
          <p:nvPr/>
        </p:nvCxnSpPr>
        <p:spPr>
          <a:xfrm>
            <a:off x="9601200" y="2423160"/>
            <a:ext cx="182880" cy="0"/>
          </a:xfrm>
          <a:prstGeom prst="line">
            <a:avLst/>
          </a:prstGeom>
          <a:ln w="25400" cap="rnd">
            <a:solidFill>
              <a:srgbClr val="36C8D4"/>
            </a:solidFill>
            <a:round/>
            <a:tailEnd type="triangle" w="med" len="med"/>
          </a:ln>
        </p:spPr>
      </p:cxnSp>
      <p:sp>
        <p:nvSpPr>
          <p:cNvPr id="28" name="Forma 28"/>
          <p:cNvSpPr/>
          <p:nvPr/>
        </p:nvSpPr>
        <p:spPr>
          <a:xfrm>
            <a:off x="9784080" y="1783080"/>
            <a:ext cx="1645920" cy="128016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C8D4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300" b="1" dirty="0">
                <a:solidFill>
                  <a:srgbClr val="F5EBD8"/>
                </a:solidFill>
                <a:latin typeface="Segoe UI"/>
                <a:cs typeface="Segoe UI"/>
              </a:rPr>
              <a:t>Componentes trazables a specs</a:t>
            </a:r>
          </a:p>
        </p:txBody>
      </p:sp>
      <p:sp>
        <p:nvSpPr>
          <p:cNvPr id="29" name="Forma 29"/>
          <p:cNvSpPr/>
          <p:nvPr/>
        </p:nvSpPr>
        <p:spPr>
          <a:xfrm>
            <a:off x="640080" y="3383280"/>
            <a:ext cx="3474720" cy="22402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0" name="Forma 30"/>
          <p:cNvSpPr/>
          <p:nvPr/>
        </p:nvSpPr>
        <p:spPr>
          <a:xfrm>
            <a:off x="868680" y="3474720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4000" dirty="0">
                <a:solidFill>
                  <a:srgbClr val="FF665A"/>
                </a:solidFill>
                <a:latin typeface="DM Serif Display"/>
                <a:cs typeface="DM Serif Display"/>
              </a:rPr>
              <a:t>1</a:t>
            </a:r>
          </a:p>
        </p:txBody>
      </p:sp>
      <p:sp>
        <p:nvSpPr>
          <p:cNvPr id="31" name="Forma 31"/>
          <p:cNvSpPr/>
          <p:nvPr/>
        </p:nvSpPr>
        <p:spPr>
          <a:xfrm>
            <a:off x="868680" y="4343400"/>
            <a:ext cx="3017520" cy="12344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450" dirty="0">
                <a:solidFill>
                  <a:srgbClr val="F5EBD8"/>
                </a:solidFill>
                <a:latin typeface="Segoe UI"/>
                <a:cs typeface="Segoe UI"/>
              </a:rPr>
              <a:t>Separar E-commerce e Inventario protege una regla crítica del negocio.</a:t>
            </a:r>
          </a:p>
        </p:txBody>
      </p:sp>
      <p:sp>
        <p:nvSpPr>
          <p:cNvPr id="32" name="Forma 32"/>
          <p:cNvSpPr/>
          <p:nvPr/>
        </p:nvSpPr>
        <p:spPr>
          <a:xfrm>
            <a:off x="4361688" y="3383280"/>
            <a:ext cx="3474720" cy="22402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3" name="Forma 33"/>
          <p:cNvSpPr/>
          <p:nvPr/>
        </p:nvSpPr>
        <p:spPr>
          <a:xfrm>
            <a:off x="4590288" y="3474720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4000" dirty="0">
                <a:solidFill>
                  <a:srgbClr val="FF665A"/>
                </a:solidFill>
                <a:latin typeface="DM Serif Display"/>
                <a:cs typeface="DM Serif Display"/>
              </a:rPr>
              <a:t>2</a:t>
            </a:r>
          </a:p>
        </p:txBody>
      </p:sp>
      <p:sp>
        <p:nvSpPr>
          <p:cNvPr id="34" name="Forma 34"/>
          <p:cNvSpPr/>
          <p:nvPr/>
        </p:nvSpPr>
        <p:spPr>
          <a:xfrm>
            <a:off x="4590288" y="4343400"/>
            <a:ext cx="3017520" cy="12344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450" dirty="0">
                <a:solidFill>
                  <a:srgbClr val="F5EBD8"/>
                </a:solidFill>
                <a:latin typeface="Segoe UI"/>
                <a:cs typeface="Segoe UI"/>
              </a:rPr>
              <a:t>Las decisiones responden a atributos de calidad, escala y recursos limitados.</a:t>
            </a:r>
          </a:p>
        </p:txBody>
      </p:sp>
      <p:sp>
        <p:nvSpPr>
          <p:cNvPr id="35" name="Forma 35"/>
          <p:cNvSpPr/>
          <p:nvPr/>
        </p:nvSpPr>
        <p:spPr>
          <a:xfrm>
            <a:off x="8083296" y="3383280"/>
            <a:ext cx="3474720" cy="2240280"/>
          </a:xfrm>
          <a:prstGeom prst="roundRect">
            <a:avLst>
              <a:gd name="adj" fmla="val 2500"/>
            </a:avLst>
          </a:prstGeom>
          <a:solidFill>
            <a:srgbClr val="14214A"/>
          </a:solidFill>
          <a:ln w="12700">
            <a:solidFill>
              <a:srgbClr val="36457A"/>
            </a:solidFill>
          </a:ln>
        </p:spPr>
        <p:txBody>
          <a:bodyPr wrap="square" lIns="128016" tIns="128016" rIns="128016" bIns="128016" rtlCol="0" anchor="t">
            <a:noAutofit/>
          </a:bodyPr>
          <a:lstStyle/>
          <a:p>
            <a:endParaRPr lang="es-PE"/>
          </a:p>
        </p:txBody>
      </p:sp>
      <p:sp>
        <p:nvSpPr>
          <p:cNvPr id="36" name="Forma 36"/>
          <p:cNvSpPr/>
          <p:nvPr/>
        </p:nvSpPr>
        <p:spPr>
          <a:xfrm>
            <a:off x="8311896" y="3474720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4000" dirty="0">
                <a:solidFill>
                  <a:srgbClr val="FF665A"/>
                </a:solidFill>
                <a:latin typeface="DM Serif Display"/>
                <a:cs typeface="DM Serif Display"/>
              </a:rPr>
              <a:t>3</a:t>
            </a:r>
          </a:p>
        </p:txBody>
      </p:sp>
      <p:sp>
        <p:nvSpPr>
          <p:cNvPr id="37" name="Forma 37"/>
          <p:cNvSpPr/>
          <p:nvPr/>
        </p:nvSpPr>
        <p:spPr>
          <a:xfrm>
            <a:off x="8311896" y="4343400"/>
            <a:ext cx="3017520" cy="12344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450" dirty="0">
                <a:solidFill>
                  <a:srgbClr val="F5EBD8"/>
                </a:solidFill>
                <a:latin typeface="Segoe UI"/>
                <a:cs typeface="Segoe UI"/>
              </a:rPr>
              <a:t>La trazabilidad conecta el problema con componentes y criterios verificables.</a:t>
            </a:r>
          </a:p>
        </p:txBody>
      </p:sp>
      <p:sp>
        <p:nvSpPr>
          <p:cNvPr id="38" name="Forma 38"/>
          <p:cNvSpPr/>
          <p:nvPr/>
        </p:nvSpPr>
        <p:spPr>
          <a:xfrm>
            <a:off x="640080" y="5806440"/>
            <a:ext cx="347472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6457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dirty="0">
                <a:solidFill>
                  <a:srgbClr val="F5EBD8"/>
                </a:solidFill>
                <a:latin typeface="Segoe UI"/>
                <a:cs typeface="Segoe UI"/>
              </a:rPr>
              <a:t>Seguridad: 27 amenazas · 38 controles</a:t>
            </a:r>
          </a:p>
        </p:txBody>
      </p:sp>
      <p:sp>
        <p:nvSpPr>
          <p:cNvPr id="39" name="Forma 39"/>
          <p:cNvSpPr/>
          <p:nvPr/>
        </p:nvSpPr>
        <p:spPr>
          <a:xfrm>
            <a:off x="4361688" y="5806440"/>
            <a:ext cx="347472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6457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dirty="0">
                <a:solidFill>
                  <a:srgbClr val="F5EBD8"/>
                </a:solidFill>
                <a:latin typeface="Segoe UI"/>
                <a:cs typeface="Segoe UI"/>
              </a:rPr>
              <a:t>UX: WCAG 2.2 AA · tema claro y oscuro</a:t>
            </a:r>
          </a:p>
        </p:txBody>
      </p:sp>
      <p:sp>
        <p:nvSpPr>
          <p:cNvPr id="40" name="Forma 40"/>
          <p:cNvSpPr/>
          <p:nvPr/>
        </p:nvSpPr>
        <p:spPr>
          <a:xfrm>
            <a:off x="8083296" y="5806440"/>
            <a:ext cx="347472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6457A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PE" sz="1050" b="1" dirty="0">
                <a:solidFill>
                  <a:srgbClr val="F5EBD8"/>
                </a:solidFill>
                <a:latin typeface="Segoe UI"/>
                <a:cs typeface="Segoe UI"/>
              </a:rPr>
              <a:t>Proceso: Spec-Driven Development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3"/>
          <p:cNvSpPr/>
          <p:nvPr/>
        </p:nvSpPr>
        <p:spPr>
          <a:xfrm>
            <a:off x="731520" y="2578608"/>
            <a:ext cx="7315200" cy="1463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500" b="1" i="1" cap="all" dirty="0">
                <a:solidFill>
                  <a:srgbClr val="F5EBD8"/>
                </a:solidFill>
                <a:latin typeface="DM Serif Display"/>
                <a:cs typeface="DM Serif Display"/>
              </a:rPr>
              <a:t>GRA</a:t>
            </a:r>
            <a:r>
              <a:rPr lang="es-PE" sz="11500" b="1" i="1" cap="all" dirty="0">
                <a:solidFill>
                  <a:srgbClr val="FF665A"/>
                </a:solidFill>
                <a:latin typeface="DM Serif Display"/>
                <a:cs typeface="DM Serif Display"/>
              </a:rPr>
              <a:t>CIAS</a:t>
            </a:r>
          </a:p>
        </p:txBody>
      </p:sp>
      <p:cxnSp>
        <p:nvCxnSpPr>
          <p:cNvPr id="5" name="Linea 5"/>
          <p:cNvCxnSpPr/>
          <p:nvPr/>
        </p:nvCxnSpPr>
        <p:spPr>
          <a:xfrm flipH="1">
            <a:off x="10607040" y="1371600"/>
            <a:ext cx="1581912" cy="0"/>
          </a:xfrm>
          <a:prstGeom prst="line">
            <a:avLst/>
          </a:prstGeom>
          <a:ln w="25400" cap="rnd">
            <a:solidFill>
              <a:srgbClr val="36C8D4"/>
            </a:solidFill>
            <a:round/>
          </a:ln>
        </p:spPr>
      </p:cxnSp>
      <p:cxnSp>
        <p:nvCxnSpPr>
          <p:cNvPr id="6" name="Linea 6"/>
          <p:cNvCxnSpPr/>
          <p:nvPr/>
        </p:nvCxnSpPr>
        <p:spPr>
          <a:xfrm>
            <a:off x="10607040" y="1371600"/>
            <a:ext cx="0" cy="1645920"/>
          </a:xfrm>
          <a:prstGeom prst="line">
            <a:avLst/>
          </a:prstGeom>
          <a:ln w="25400" cap="rnd">
            <a:solidFill>
              <a:srgbClr val="36C8D4"/>
            </a:solidFill>
            <a:round/>
          </a:ln>
        </p:spPr>
      </p:cxnSp>
      <p:cxnSp>
        <p:nvCxnSpPr>
          <p:cNvPr id="7" name="Linea 7"/>
          <p:cNvCxnSpPr/>
          <p:nvPr/>
        </p:nvCxnSpPr>
        <p:spPr>
          <a:xfrm flipH="1">
            <a:off x="9326880" y="3017520"/>
            <a:ext cx="1280160" cy="0"/>
          </a:xfrm>
          <a:prstGeom prst="line">
            <a:avLst/>
          </a:prstGeom>
          <a:ln w="25400" cap="rnd">
            <a:solidFill>
              <a:srgbClr val="36C8D4"/>
            </a:solidFill>
            <a:round/>
          </a:ln>
        </p:spPr>
      </p:cxnSp>
      <p:sp>
        <p:nvSpPr>
          <p:cNvPr id="8" name="Forma 8"/>
          <p:cNvSpPr/>
          <p:nvPr/>
        </p:nvSpPr>
        <p:spPr>
          <a:xfrm>
            <a:off x="12115800" y="1298448"/>
            <a:ext cx="146304" cy="146304"/>
          </a:xfrm>
          <a:prstGeom prst="ellipse">
            <a:avLst/>
          </a:prstGeom>
          <a:solidFill>
            <a:srgbClr val="36C8D4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sp>
        <p:nvSpPr>
          <p:cNvPr id="9" name="Forma 9"/>
          <p:cNvSpPr/>
          <p:nvPr/>
        </p:nvSpPr>
        <p:spPr>
          <a:xfrm>
            <a:off x="10533888" y="1298448"/>
            <a:ext cx="146304" cy="146304"/>
          </a:xfrm>
          <a:prstGeom prst="ellipse">
            <a:avLst/>
          </a:prstGeom>
          <a:solidFill>
            <a:srgbClr val="36C8D4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sp>
        <p:nvSpPr>
          <p:cNvPr id="10" name="Forma 10"/>
          <p:cNvSpPr/>
          <p:nvPr/>
        </p:nvSpPr>
        <p:spPr>
          <a:xfrm>
            <a:off x="10533888" y="2944368"/>
            <a:ext cx="146304" cy="146304"/>
          </a:xfrm>
          <a:prstGeom prst="ellipse">
            <a:avLst/>
          </a:prstGeom>
          <a:solidFill>
            <a:srgbClr val="36C8D4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cxnSp>
        <p:nvCxnSpPr>
          <p:cNvPr id="11" name="Linea 11"/>
          <p:cNvCxnSpPr/>
          <p:nvPr/>
        </p:nvCxnSpPr>
        <p:spPr>
          <a:xfrm flipH="1">
            <a:off x="10241280" y="5486400"/>
            <a:ext cx="1947672" cy="0"/>
          </a:xfrm>
          <a:prstGeom prst="line">
            <a:avLst/>
          </a:prstGeom>
          <a:ln w="25400" cap="rnd">
            <a:solidFill>
              <a:srgbClr val="36C8D4"/>
            </a:solidFill>
            <a:round/>
          </a:ln>
        </p:spPr>
      </p:cxnSp>
      <p:cxnSp>
        <p:nvCxnSpPr>
          <p:cNvPr id="12" name="Linea 12"/>
          <p:cNvCxnSpPr/>
          <p:nvPr/>
        </p:nvCxnSpPr>
        <p:spPr>
          <a:xfrm flipV="1">
            <a:off x="10241280" y="4114800"/>
            <a:ext cx="0" cy="1371600"/>
          </a:xfrm>
          <a:prstGeom prst="line">
            <a:avLst/>
          </a:prstGeom>
          <a:ln w="25400" cap="rnd">
            <a:solidFill>
              <a:srgbClr val="36C8D4"/>
            </a:solidFill>
            <a:round/>
          </a:ln>
        </p:spPr>
      </p:cxnSp>
      <p:cxnSp>
        <p:nvCxnSpPr>
          <p:cNvPr id="13" name="Linea 13"/>
          <p:cNvCxnSpPr/>
          <p:nvPr/>
        </p:nvCxnSpPr>
        <p:spPr>
          <a:xfrm flipH="1">
            <a:off x="9326880" y="4114800"/>
            <a:ext cx="914400" cy="0"/>
          </a:xfrm>
          <a:prstGeom prst="line">
            <a:avLst/>
          </a:prstGeom>
          <a:ln w="25400" cap="rnd">
            <a:solidFill>
              <a:srgbClr val="36C8D4"/>
            </a:solidFill>
            <a:round/>
          </a:ln>
        </p:spPr>
      </p:cxnSp>
      <p:sp>
        <p:nvSpPr>
          <p:cNvPr id="14" name="Forma 14"/>
          <p:cNvSpPr/>
          <p:nvPr/>
        </p:nvSpPr>
        <p:spPr>
          <a:xfrm>
            <a:off x="12115800" y="5413248"/>
            <a:ext cx="146304" cy="146304"/>
          </a:xfrm>
          <a:prstGeom prst="ellipse">
            <a:avLst/>
          </a:prstGeom>
          <a:solidFill>
            <a:srgbClr val="36C8D4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sp>
        <p:nvSpPr>
          <p:cNvPr id="15" name="Forma 15"/>
          <p:cNvSpPr/>
          <p:nvPr/>
        </p:nvSpPr>
        <p:spPr>
          <a:xfrm>
            <a:off x="10168128" y="5413248"/>
            <a:ext cx="146304" cy="146304"/>
          </a:xfrm>
          <a:prstGeom prst="ellipse">
            <a:avLst/>
          </a:prstGeom>
          <a:solidFill>
            <a:srgbClr val="36C8D4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sp>
        <p:nvSpPr>
          <p:cNvPr id="16" name="Forma 16"/>
          <p:cNvSpPr/>
          <p:nvPr/>
        </p:nvSpPr>
        <p:spPr>
          <a:xfrm>
            <a:off x="10168128" y="4041648"/>
            <a:ext cx="146304" cy="146304"/>
          </a:xfrm>
          <a:prstGeom prst="ellipse">
            <a:avLst/>
          </a:prstGeom>
          <a:solidFill>
            <a:srgbClr val="36C8D4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s-PE"/>
          </a:p>
        </p:txBody>
      </p:sp>
      <p:sp>
        <p:nvSpPr>
          <p:cNvPr id="17" name="Forma 17"/>
          <p:cNvSpPr/>
          <p:nvPr/>
        </p:nvSpPr>
        <p:spPr>
          <a:xfrm>
            <a:off x="7909560" y="2743200"/>
            <a:ext cx="1417320" cy="1417320"/>
          </a:xfrm>
          <a:prstGeom prst="ellipse">
            <a:avLst/>
          </a:prstGeom>
          <a:solidFill>
            <a:srgbClr val="FF665A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es-PE" sz="1500" b="1" dirty="0">
              <a:solidFill>
                <a:srgbClr val="172554"/>
              </a:solidFill>
              <a:latin typeface="DM Serif Display"/>
              <a:cs typeface="DM Serif Display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M Serif Display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1734</Words>
  <Application>Microsoft Office PowerPoint</Application>
  <PresentationFormat>Panorámica</PresentationFormat>
  <Paragraphs>426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Segoe UI</vt:lpstr>
      <vt:lpstr>DM Serif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BabelHub: de los requisitos a la arquitectura</dc:title>
  <dc:creator>Diego Rodrigo Amiquero Antonio</dc:creator>
  <cp:lastModifiedBy>Diego Amiquero</cp:lastModifiedBy>
  <cp:revision>2</cp:revision>
  <dcterms:created xsi:type="dcterms:W3CDTF">2026-10-16T00:00:00Z</dcterms:created>
  <dcterms:modified xsi:type="dcterms:W3CDTF">2026-10-17T03:25:36Z</dcterms:modified>
</cp:coreProperties>
</file>