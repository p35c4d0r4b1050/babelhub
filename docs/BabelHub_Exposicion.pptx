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embeddedFontLst>
    <p:embeddedFont>
      <p:font typeface="DM Serif Display" pitchFamily="2" charset="0"/>
      <p:regular r:id="rId27"/>
      <p:italic r:id="rId28"/>
    </p:embeddedFont>
    <p:embeddedFont>
      <p:font typeface="Segoe UI" panose="020B0502040204020203" pitchFamily="34" charset="0"/>
      <p:regular r:id="rId29"/>
      <p:bold r:id="rId30"/>
      <p:italic r:id="rId31"/>
      <p:boldItalic r:id="rId32"/>
    </p:embeddedFont>
  </p:embeddedFontLst>
  <p:defaultTextStyle>
    <a:lvl1pPr>
      <a:defRPr sz="1800"/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40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640080"/>
            <a:ext cx="3383280" cy="329184"/>
          </a:xfrm>
          <a:prstGeom prst="roundRect">
            <a:avLst>
              <a:gd name="adj" fmla="val 50000"/>
            </a:avLst>
          </a:prstGeom>
          <a:solidFill>
            <a:srgbClr val="FF665A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172554"/>
                </a:solidFill>
                <a:latin typeface="Segoe UI"/>
                <a:cs typeface="Segoe UI"/>
              </a:rPr>
              <a:t>ARQUITECTURA DE SOFTWARE · IS-488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1234440"/>
            <a:ext cx="6766560" cy="2926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46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BABELHUB: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46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DE LOS REQUISITOS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46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A LA ARQUITECTURA</a:t>
            </a:r>
          </a:p>
        </p:txBody>
      </p:sp>
      <p:sp>
        <p:nvSpPr>
          <p:cNvPr id="4" name="Forma 4"/>
          <p:cNvSpPr/>
          <p:nvPr/>
        </p:nvSpPr>
        <p:spPr>
          <a:xfrm>
            <a:off x="640080" y="3520440"/>
            <a:ext cx="603504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Tienda en línea e inventario multi-sucursal para una red de librerías.</a:t>
            </a:r>
          </a:p>
        </p:txBody>
      </p:sp>
      <p:sp>
        <p:nvSpPr>
          <p:cNvPr id="5" name="Forma 5"/>
          <p:cNvSpPr/>
          <p:nvPr/>
        </p:nvSpPr>
        <p:spPr>
          <a:xfrm>
            <a:off x="640080" y="4526280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000" b="1" dirty="0">
                <a:solidFill>
                  <a:srgbClr val="F5EBD8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6" name="Forma 6"/>
          <p:cNvSpPr/>
          <p:nvPr/>
        </p:nvSpPr>
        <p:spPr>
          <a:xfrm>
            <a:off x="640080" y="502920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servicios</a:t>
            </a:r>
          </a:p>
        </p:txBody>
      </p:sp>
      <p:sp>
        <p:nvSpPr>
          <p:cNvPr id="7" name="Forma 7"/>
          <p:cNvSpPr/>
          <p:nvPr/>
        </p:nvSpPr>
        <p:spPr>
          <a:xfrm>
            <a:off x="2377440" y="4526280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000" b="1" dirty="0">
                <a:solidFill>
                  <a:srgbClr val="F5EBD8"/>
                </a:solidFill>
                <a:latin typeface="Segoe UI"/>
                <a:cs typeface="Segoe UI"/>
              </a:rPr>
              <a:t>19</a:t>
            </a:r>
          </a:p>
        </p:txBody>
      </p:sp>
      <p:sp>
        <p:nvSpPr>
          <p:cNvPr id="8" name="Forma 8"/>
          <p:cNvSpPr/>
          <p:nvPr/>
        </p:nvSpPr>
        <p:spPr>
          <a:xfrm>
            <a:off x="2377440" y="502920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specs aprobadas</a:t>
            </a:r>
          </a:p>
        </p:txBody>
      </p:sp>
      <p:sp>
        <p:nvSpPr>
          <p:cNvPr id="9" name="Forma 9"/>
          <p:cNvSpPr/>
          <p:nvPr/>
        </p:nvSpPr>
        <p:spPr>
          <a:xfrm>
            <a:off x="4114800" y="4526280"/>
            <a:ext cx="155448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000" b="1" dirty="0">
                <a:solidFill>
                  <a:srgbClr val="F5EBD8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10" name="Forma 10"/>
          <p:cNvSpPr/>
          <p:nvPr/>
        </p:nvSpPr>
        <p:spPr>
          <a:xfrm>
            <a:off x="4114800" y="5029200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niveles C4</a:t>
            </a:r>
          </a:p>
        </p:txBody>
      </p:sp>
      <p:sp>
        <p:nvSpPr>
          <p:cNvPr id="11" name="Forma 11"/>
          <p:cNvSpPr/>
          <p:nvPr/>
        </p:nvSpPr>
        <p:spPr>
          <a:xfrm>
            <a:off x="640080" y="6035040"/>
            <a:ext cx="694944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Diego Rodrigo Amiquero Antonio · Docente: Ing. Lizbeth Jaico Quispe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Universidad Nacional de San Cristóbal de Huamanga · Ayacucho, 2026</a:t>
            </a:r>
          </a:p>
        </p:txBody>
      </p:sp>
      <p:pic>
        <p:nvPicPr>
          <p:cNvPr id="12" name="Imagen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360000">
            <a:off x="7223760" y="1417320"/>
            <a:ext cx="2194560" cy="3291840"/>
          </a:xfrm>
          <a:prstGeom prst="rect">
            <a:avLst/>
          </a:prstGeom>
        </p:spPr>
      </p:pic>
      <p:pic>
        <p:nvPicPr>
          <p:cNvPr id="13" name="Imagen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8549640" y="868680"/>
            <a:ext cx="2286000" cy="3429000"/>
          </a:xfrm>
          <a:prstGeom prst="rect">
            <a:avLst/>
          </a:prstGeom>
        </p:spPr>
      </p:pic>
      <p:pic>
        <p:nvPicPr>
          <p:cNvPr id="14" name="Imagen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9601200" y="2286000"/>
            <a:ext cx="2194560" cy="3291840"/>
          </a:xfrm>
          <a:prstGeom prst="rect">
            <a:avLst/>
          </a:prstGeom>
        </p:spPr>
      </p:pic>
      <p:sp>
        <p:nvSpPr>
          <p:cNvPr id="15" name="Forma 15"/>
          <p:cNvSpPr/>
          <p:nvPr/>
        </p:nvSpPr>
        <p:spPr>
          <a:xfrm>
            <a:off x="7863840" y="5806440"/>
            <a:ext cx="356616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portadas generadas del prototipo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VENDER EN LÍNEA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NO ALCANZA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B7B3A8"/>
                </a:solidFill>
                <a:latin typeface="Segoe UI"/>
                <a:cs typeface="Segoe UI"/>
              </a:rPr>
              <a:t>El libro impreso sigue pesando, y la ventaja está en la logística entre sedes.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20" name="Forma 20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02 / 14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" y="2148840"/>
            <a:ext cx="3474720" cy="14630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2" name="Forma 22"/>
          <p:cNvSpPr/>
          <p:nvPr/>
        </p:nvSpPr>
        <p:spPr>
          <a:xfrm>
            <a:off x="822960" y="2212848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dirty="0">
                <a:solidFill>
                  <a:srgbClr val="FF665A"/>
                </a:solidFill>
                <a:latin typeface="DM Serif Display"/>
                <a:cs typeface="DM Serif Display"/>
              </a:rPr>
              <a:t>+91 %</a:t>
            </a:r>
          </a:p>
        </p:txBody>
      </p:sp>
      <p:sp>
        <p:nvSpPr>
          <p:cNvPr id="23" name="Forma 23"/>
          <p:cNvSpPr/>
          <p:nvPr/>
        </p:nvSpPr>
        <p:spPr>
          <a:xfrm>
            <a:off x="822960" y="2880360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de los ingresos editoriales del Perú sigue siendo del libro impreso, mientras crece la venta en línea.</a:t>
            </a:r>
          </a:p>
        </p:txBody>
      </p:sp>
      <p:sp>
        <p:nvSpPr>
          <p:cNvPr id="24" name="Forma 24"/>
          <p:cNvSpPr/>
          <p:nvPr/>
        </p:nvSpPr>
        <p:spPr>
          <a:xfrm>
            <a:off x="4361688" y="2148840"/>
            <a:ext cx="3474720" cy="14630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5" name="Forma 25"/>
          <p:cNvSpPr/>
          <p:nvPr/>
        </p:nvSpPr>
        <p:spPr>
          <a:xfrm>
            <a:off x="4544568" y="2212848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dirty="0">
                <a:solidFill>
                  <a:srgbClr val="FF665A"/>
                </a:solidFill>
                <a:latin typeface="DM Serif Display"/>
                <a:cs typeface="DM Serif Display"/>
              </a:rPr>
              <a:t>35+</a:t>
            </a:r>
          </a:p>
        </p:txBody>
      </p:sp>
      <p:sp>
        <p:nvSpPr>
          <p:cNvPr id="26" name="Forma 26"/>
          <p:cNvSpPr/>
          <p:nvPr/>
        </p:nvSpPr>
        <p:spPr>
          <a:xfrm>
            <a:off x="4544568" y="2880360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tiendas de Crisol ya ofrecen recojo en tienda: el reto es la logística entre sedes.</a:t>
            </a:r>
          </a:p>
        </p:txBody>
      </p:sp>
      <p:sp>
        <p:nvSpPr>
          <p:cNvPr id="27" name="Forma 27"/>
          <p:cNvSpPr/>
          <p:nvPr/>
        </p:nvSpPr>
        <p:spPr>
          <a:xfrm>
            <a:off x="8083296" y="2148840"/>
            <a:ext cx="3474720" cy="14630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8" name="Forma 28"/>
          <p:cNvSpPr/>
          <p:nvPr/>
        </p:nvSpPr>
        <p:spPr>
          <a:xfrm>
            <a:off x="8266176" y="2212848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dirty="0">
                <a:solidFill>
                  <a:srgbClr val="FF665A"/>
                </a:solidFill>
                <a:latin typeface="DM Serif Display"/>
                <a:cs typeface="DM Serif Display"/>
              </a:rPr>
              <a:t>×2</a:t>
            </a:r>
          </a:p>
        </p:txBody>
      </p:sp>
      <p:sp>
        <p:nvSpPr>
          <p:cNvPr id="29" name="Forma 29"/>
          <p:cNvSpPr/>
          <p:nvPr/>
        </p:nvSpPr>
        <p:spPr>
          <a:xfrm>
            <a:off x="8266176" y="2880360"/>
            <a:ext cx="310896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ventas de Buscalibre en provincias frente al promedio nacional: hay demanda fuera de Lima.</a:t>
            </a:r>
          </a:p>
        </p:txBody>
      </p:sp>
      <p:sp>
        <p:nvSpPr>
          <p:cNvPr id="30" name="Forma 30"/>
          <p:cNvSpPr/>
          <p:nvPr/>
        </p:nvSpPr>
        <p:spPr>
          <a:xfrm>
            <a:off x="4480560" y="3931920"/>
            <a:ext cx="3200400" cy="566928"/>
          </a:xfrm>
          <a:prstGeom prst="roundRect">
            <a:avLst>
              <a:gd name="adj" fmla="val 2500"/>
            </a:avLst>
          </a:prstGeom>
          <a:solidFill>
            <a:srgbClr val="36C8D4"/>
          </a:solidFill>
          <a:ln>
            <a:noFill/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b="1" dirty="0">
                <a:solidFill>
                  <a:srgbClr val="0F1A3D"/>
                </a:solidFill>
                <a:latin typeface="Segoe UI"/>
                <a:cs typeface="Segoe UI"/>
              </a:rPr>
              <a:t>Tienda en línea</a:t>
            </a:r>
          </a:p>
        </p:txBody>
      </p:sp>
      <p:cxnSp>
        <p:nvCxnSpPr>
          <p:cNvPr id="31" name="Linea 31"/>
          <p:cNvCxnSpPr/>
          <p:nvPr/>
        </p:nvCxnSpPr>
        <p:spPr>
          <a:xfrm flipH="1">
            <a:off x="1490472" y="4498848"/>
            <a:ext cx="4590288" cy="484632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2" name="Forma 32"/>
          <p:cNvSpPr/>
          <p:nvPr/>
        </p:nvSpPr>
        <p:spPr>
          <a:xfrm>
            <a:off x="640080" y="4983480"/>
            <a:ext cx="1700784" cy="530352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Lima</a:t>
            </a:r>
          </a:p>
        </p:txBody>
      </p:sp>
      <p:cxnSp>
        <p:nvCxnSpPr>
          <p:cNvPr id="33" name="Linea 33"/>
          <p:cNvCxnSpPr/>
          <p:nvPr/>
        </p:nvCxnSpPr>
        <p:spPr>
          <a:xfrm flipH="1">
            <a:off x="3310128" y="4498848"/>
            <a:ext cx="2770632" cy="484632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4" name="Forma 34"/>
          <p:cNvSpPr/>
          <p:nvPr/>
        </p:nvSpPr>
        <p:spPr>
          <a:xfrm>
            <a:off x="2459736" y="4983480"/>
            <a:ext cx="1700784" cy="530352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Arequipa</a:t>
            </a:r>
          </a:p>
        </p:txBody>
      </p:sp>
      <p:cxnSp>
        <p:nvCxnSpPr>
          <p:cNvPr id="35" name="Linea 35"/>
          <p:cNvCxnSpPr/>
          <p:nvPr/>
        </p:nvCxnSpPr>
        <p:spPr>
          <a:xfrm flipH="1">
            <a:off x="5129784" y="4498848"/>
            <a:ext cx="950976" cy="484632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6" name="Forma 36"/>
          <p:cNvSpPr/>
          <p:nvPr/>
        </p:nvSpPr>
        <p:spPr>
          <a:xfrm>
            <a:off x="4279392" y="4983480"/>
            <a:ext cx="1700784" cy="530352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Trujillo</a:t>
            </a:r>
          </a:p>
        </p:txBody>
      </p:sp>
      <p:cxnSp>
        <p:nvCxnSpPr>
          <p:cNvPr id="37" name="Linea 37"/>
          <p:cNvCxnSpPr/>
          <p:nvPr/>
        </p:nvCxnSpPr>
        <p:spPr>
          <a:xfrm>
            <a:off x="6080760" y="4498848"/>
            <a:ext cx="868680" cy="484632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8" name="Forma 38"/>
          <p:cNvSpPr/>
          <p:nvPr/>
        </p:nvSpPr>
        <p:spPr>
          <a:xfrm>
            <a:off x="6099048" y="4983480"/>
            <a:ext cx="1700784" cy="530352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Cusco</a:t>
            </a:r>
          </a:p>
        </p:txBody>
      </p:sp>
      <p:cxnSp>
        <p:nvCxnSpPr>
          <p:cNvPr id="39" name="Linea 39"/>
          <p:cNvCxnSpPr/>
          <p:nvPr/>
        </p:nvCxnSpPr>
        <p:spPr>
          <a:xfrm>
            <a:off x="6080760" y="4498848"/>
            <a:ext cx="2688336" cy="484632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40" name="Forma 40"/>
          <p:cNvSpPr/>
          <p:nvPr/>
        </p:nvSpPr>
        <p:spPr>
          <a:xfrm>
            <a:off x="7918704" y="4983480"/>
            <a:ext cx="1700784" cy="530352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Piura</a:t>
            </a:r>
          </a:p>
        </p:txBody>
      </p:sp>
      <p:cxnSp>
        <p:nvCxnSpPr>
          <p:cNvPr id="41" name="Linea 41"/>
          <p:cNvCxnSpPr/>
          <p:nvPr/>
        </p:nvCxnSpPr>
        <p:spPr>
          <a:xfrm>
            <a:off x="6080760" y="4498848"/>
            <a:ext cx="4507992" cy="484632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42" name="Forma 42"/>
          <p:cNvSpPr/>
          <p:nvPr/>
        </p:nvSpPr>
        <p:spPr>
          <a:xfrm>
            <a:off x="9738360" y="4983480"/>
            <a:ext cx="1700784" cy="530352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Ayacucho</a:t>
            </a:r>
          </a:p>
        </p:txBody>
      </p:sp>
      <p:sp>
        <p:nvSpPr>
          <p:cNvPr id="43" name="Forma 43"/>
          <p:cNvSpPr/>
          <p:nvPr/>
        </p:nvSpPr>
        <p:spPr>
          <a:xfrm>
            <a:off x="640080" y="5715000"/>
            <a:ext cx="749808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F5EBD8"/>
                </a:solidFill>
                <a:latin typeface="Segoe UI"/>
                <a:cs typeface="Segoe UI"/>
              </a:rPr>
              <a:t>Multi-Source Inventory (Adobe Commerce): cada tienda es una fuente de stock</a:t>
            </a:r>
          </a:p>
        </p:txBody>
      </p:sp>
      <p:sp>
        <p:nvSpPr>
          <p:cNvPr id="44" name="Forma 44"/>
          <p:cNvSpPr/>
          <p:nvPr/>
        </p:nvSpPr>
        <p:spPr>
          <a:xfrm>
            <a:off x="640080" y="6126480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Fuentes: PwC (2025), Librerías Crisol y Gestión (2025). Sucursales: las del prototipo.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4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4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4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4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4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LA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ÚLTIMA</a:t>
            </a: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 UNIDAD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9" name="Forma 19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03 / 14</a:t>
            </a:r>
          </a:p>
        </p:txBody>
      </p:sp>
      <p:sp>
        <p:nvSpPr>
          <p:cNvPr id="20" name="Forma 20"/>
          <p:cNvSpPr/>
          <p:nvPr/>
        </p:nvSpPr>
        <p:spPr>
          <a:xfrm>
            <a:off x="640080" y="1600200"/>
            <a:ext cx="10881360" cy="5029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200" i="1" dirty="0">
                <a:solidFill>
                  <a:srgbClr val="F5EBD8"/>
                </a:solidFill>
                <a:latin typeface="DM Serif Display"/>
                <a:cs typeface="DM Serif Display"/>
              </a:rPr>
              <a:t>¿Qué ocurre si dos clientes intentan comprar el último ejemplar?</a:t>
            </a:r>
          </a:p>
        </p:txBody>
      </p:sp>
      <p:sp>
        <p:nvSpPr>
          <p:cNvPr id="21" name="Forma 21"/>
          <p:cNvSpPr/>
          <p:nvPr/>
        </p:nvSpPr>
        <p:spPr>
          <a:xfrm>
            <a:off x="2834640" y="246888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0F1A3D"/>
          </a:solidFill>
          <a:ln w="12700">
            <a:solidFill>
              <a:srgbClr val="A9E85E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A9E85E"/>
                </a:solidFill>
                <a:latin typeface="Segoe UI"/>
                <a:cs typeface="Segoe UI"/>
              </a:rPr>
              <a:t>1 ejemplar</a:t>
            </a:r>
          </a:p>
        </p:txBody>
      </p:sp>
      <p:pic>
        <p:nvPicPr>
          <p:cNvPr id="22" name="Imagen 2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2880360"/>
            <a:ext cx="1554480" cy="2331720"/>
          </a:xfrm>
          <a:prstGeom prst="rect">
            <a:avLst/>
          </a:prstGeom>
        </p:spPr>
      </p:pic>
      <p:sp>
        <p:nvSpPr>
          <p:cNvPr id="23" name="Forma 23"/>
          <p:cNvSpPr/>
          <p:nvPr/>
        </p:nvSpPr>
        <p:spPr>
          <a:xfrm>
            <a:off x="640080" y="3200400"/>
            <a:ext cx="1325880" cy="5029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Cliente A</a:t>
            </a:r>
          </a:p>
        </p:txBody>
      </p:sp>
      <p:cxnSp>
        <p:nvCxnSpPr>
          <p:cNvPr id="24" name="Linea 24"/>
          <p:cNvCxnSpPr/>
          <p:nvPr/>
        </p:nvCxnSpPr>
        <p:spPr>
          <a:xfrm>
            <a:off x="2011680" y="3451860"/>
            <a:ext cx="777240" cy="571500"/>
          </a:xfrm>
          <a:prstGeom prst="line">
            <a:avLst/>
          </a:prstGeom>
          <a:ln w="28575" cap="rnd">
            <a:solidFill>
              <a:srgbClr val="FF665A"/>
            </a:solidFill>
            <a:round/>
            <a:tailEnd type="triangle" w="med" len="med"/>
          </a:ln>
        </p:spPr>
      </p:cxnSp>
      <p:sp>
        <p:nvSpPr>
          <p:cNvPr id="25" name="Forma 25"/>
          <p:cNvSpPr/>
          <p:nvPr/>
        </p:nvSpPr>
        <p:spPr>
          <a:xfrm>
            <a:off x="640080" y="4297680"/>
            <a:ext cx="1325880" cy="5029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Cliente B</a:t>
            </a:r>
          </a:p>
        </p:txBody>
      </p:sp>
      <p:cxnSp>
        <p:nvCxnSpPr>
          <p:cNvPr id="26" name="Linea 26"/>
          <p:cNvCxnSpPr/>
          <p:nvPr/>
        </p:nvCxnSpPr>
        <p:spPr>
          <a:xfrm flipV="1">
            <a:off x="2011680" y="4023360"/>
            <a:ext cx="777240" cy="525780"/>
          </a:xfrm>
          <a:prstGeom prst="line">
            <a:avLst/>
          </a:prstGeom>
          <a:ln w="28575" cap="rnd">
            <a:solidFill>
              <a:srgbClr val="FF665A"/>
            </a:solidFill>
            <a:round/>
            <a:tailEnd type="triangle" w="med" len="med"/>
          </a:ln>
        </p:spPr>
      </p:cxnSp>
      <p:sp>
        <p:nvSpPr>
          <p:cNvPr id="27" name="Forma 27"/>
          <p:cNvSpPr/>
          <p:nvPr/>
        </p:nvSpPr>
        <p:spPr>
          <a:xfrm>
            <a:off x="640080" y="5440680"/>
            <a:ext cx="3840480" cy="7315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i="1" dirty="0">
                <a:solidFill>
                  <a:srgbClr val="B7B3A8"/>
                </a:solidFill>
                <a:latin typeface="Segoe UI"/>
                <a:cs typeface="Segoe UI"/>
              </a:rPr>
              <a:t>Los dos pagan; solo uno puede llevárselo.</a:t>
            </a:r>
          </a:p>
        </p:txBody>
      </p:sp>
      <p:sp>
        <p:nvSpPr>
          <p:cNvPr id="28" name="Forma 28"/>
          <p:cNvSpPr/>
          <p:nvPr/>
        </p:nvSpPr>
        <p:spPr>
          <a:xfrm>
            <a:off x="5029200" y="2377440"/>
            <a:ext cx="6519672" cy="11887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9" name="Forma 29"/>
          <p:cNvSpPr/>
          <p:nvPr/>
        </p:nvSpPr>
        <p:spPr>
          <a:xfrm>
            <a:off x="5212080" y="2487168"/>
            <a:ext cx="64008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400" dirty="0">
                <a:solidFill>
                  <a:srgbClr val="FF665A"/>
                </a:solidFill>
                <a:latin typeface="DM Serif Display"/>
                <a:cs typeface="DM Serif Display"/>
              </a:rPr>
              <a:t>1</a:t>
            </a:r>
          </a:p>
        </p:txBody>
      </p:sp>
      <p:sp>
        <p:nvSpPr>
          <p:cNvPr id="30" name="Forma 30"/>
          <p:cNvSpPr/>
          <p:nvPr/>
        </p:nvSpPr>
        <p:spPr>
          <a:xfrm>
            <a:off x="5943600" y="25146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900" dirty="0">
                <a:solidFill>
                  <a:srgbClr val="F5EBD8"/>
                </a:solidFill>
                <a:latin typeface="DM Serif Display"/>
                <a:cs typeface="DM Serif Display"/>
              </a:rPr>
              <a:t>Sobreventa</a:t>
            </a:r>
          </a:p>
        </p:txBody>
      </p:sp>
      <p:sp>
        <p:nvSpPr>
          <p:cNvPr id="31" name="Forma 31"/>
          <p:cNvSpPr/>
          <p:nvPr/>
        </p:nvSpPr>
        <p:spPr>
          <a:xfrm>
            <a:off x="5943600" y="2926080"/>
            <a:ext cx="5486400" cy="594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B7B3A8"/>
                </a:solidFill>
                <a:latin typeface="Segoe UI"/>
                <a:cs typeface="Segoe UI"/>
              </a:rPr>
              <a:t>Se ofrece un libro que ya no está disponible.</a:t>
            </a:r>
          </a:p>
        </p:txBody>
      </p:sp>
      <p:sp>
        <p:nvSpPr>
          <p:cNvPr id="32" name="Forma 32"/>
          <p:cNvSpPr/>
          <p:nvPr/>
        </p:nvSpPr>
        <p:spPr>
          <a:xfrm>
            <a:off x="5029200" y="3703320"/>
            <a:ext cx="6519672" cy="11887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3" name="Forma 33"/>
          <p:cNvSpPr/>
          <p:nvPr/>
        </p:nvSpPr>
        <p:spPr>
          <a:xfrm>
            <a:off x="5212080" y="3813048"/>
            <a:ext cx="64008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400" dirty="0">
                <a:solidFill>
                  <a:srgbClr val="36C8D4"/>
                </a:solidFill>
                <a:latin typeface="DM Serif Display"/>
                <a:cs typeface="DM Serif Display"/>
              </a:rPr>
              <a:t>2</a:t>
            </a:r>
          </a:p>
        </p:txBody>
      </p:sp>
      <p:sp>
        <p:nvSpPr>
          <p:cNvPr id="34" name="Forma 34"/>
          <p:cNvSpPr/>
          <p:nvPr/>
        </p:nvSpPr>
        <p:spPr>
          <a:xfrm>
            <a:off x="5943600" y="384048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900" dirty="0">
                <a:solidFill>
                  <a:srgbClr val="F5EBD8"/>
                </a:solidFill>
                <a:latin typeface="DM Serif Display"/>
                <a:cs typeface="DM Serif Display"/>
              </a:rPr>
              <a:t>Venta perdida</a:t>
            </a:r>
          </a:p>
        </p:txBody>
      </p:sp>
      <p:sp>
        <p:nvSpPr>
          <p:cNvPr id="35" name="Forma 35"/>
          <p:cNvSpPr/>
          <p:nvPr/>
        </p:nvSpPr>
        <p:spPr>
          <a:xfrm>
            <a:off x="5943600" y="4251960"/>
            <a:ext cx="5486400" cy="594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B7B3A8"/>
                </a:solidFill>
                <a:latin typeface="Segoe UI"/>
                <a:cs typeface="Segoe UI"/>
              </a:rPr>
              <a:t>No se aprovecha el stock de otra sucursal.</a:t>
            </a:r>
          </a:p>
        </p:txBody>
      </p:sp>
      <p:sp>
        <p:nvSpPr>
          <p:cNvPr id="36" name="Forma 36"/>
          <p:cNvSpPr/>
          <p:nvPr/>
        </p:nvSpPr>
        <p:spPr>
          <a:xfrm>
            <a:off x="5029200" y="5029200"/>
            <a:ext cx="6519672" cy="11887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A78BF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7" name="Forma 37"/>
          <p:cNvSpPr/>
          <p:nvPr/>
        </p:nvSpPr>
        <p:spPr>
          <a:xfrm>
            <a:off x="5212080" y="5138928"/>
            <a:ext cx="64008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400" dirty="0">
                <a:solidFill>
                  <a:srgbClr val="A78BFA"/>
                </a:solidFill>
                <a:latin typeface="DM Serif Display"/>
                <a:cs typeface="DM Serif Display"/>
              </a:rPr>
              <a:t>3</a:t>
            </a:r>
          </a:p>
        </p:txBody>
      </p:sp>
      <p:sp>
        <p:nvSpPr>
          <p:cNvPr id="38" name="Forma 38"/>
          <p:cNvSpPr/>
          <p:nvPr/>
        </p:nvSpPr>
        <p:spPr>
          <a:xfrm>
            <a:off x="5943600" y="516636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900" dirty="0">
                <a:solidFill>
                  <a:srgbClr val="F5EBD8"/>
                </a:solidFill>
                <a:latin typeface="DM Serif Display"/>
                <a:cs typeface="DM Serif Display"/>
              </a:rPr>
              <a:t>Incertidumbre</a:t>
            </a:r>
          </a:p>
        </p:txBody>
      </p:sp>
      <p:sp>
        <p:nvSpPr>
          <p:cNvPr id="39" name="Forma 39"/>
          <p:cNvSpPr/>
          <p:nvPr/>
        </p:nvSpPr>
        <p:spPr>
          <a:xfrm>
            <a:off x="5943600" y="5577840"/>
            <a:ext cx="5486400" cy="594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B7B3A8"/>
                </a:solidFill>
                <a:latin typeface="Segoe UI"/>
                <a:cs typeface="Segoe UI"/>
              </a:rPr>
              <a:t>El cliente no sabe en qué estado está su pedido durante un traslado.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POCO COSTO, RED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PEQUEÑA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B7B3A8"/>
                </a:solidFill>
                <a:latin typeface="Segoe UI"/>
                <a:cs typeface="Segoe UI"/>
              </a:rPr>
              <a:t>La escala prevista y los recursos gratuitos condicionan toda la arquitectura.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20" name="Forma 20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04 / 14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" y="2148840"/>
            <a:ext cx="3474720" cy="14173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2" name="Forma 22"/>
          <p:cNvSpPr/>
          <p:nvPr/>
        </p:nvSpPr>
        <p:spPr>
          <a:xfrm>
            <a:off x="822960" y="2240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RECURSOS · ARM FREE TIER</a:t>
            </a:r>
          </a:p>
        </p:txBody>
      </p:sp>
      <p:sp>
        <p:nvSpPr>
          <p:cNvPr id="23" name="Forma 23"/>
          <p:cNvSpPr/>
          <p:nvPr/>
        </p:nvSpPr>
        <p:spPr>
          <a:xfrm>
            <a:off x="822960" y="251460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b="1" dirty="0">
                <a:solidFill>
                  <a:srgbClr val="FF665A"/>
                </a:solidFill>
                <a:latin typeface="Segoe UI"/>
                <a:cs typeface="Segoe UI"/>
              </a:rPr>
              <a:t>2 OCPU</a:t>
            </a:r>
          </a:p>
        </p:txBody>
      </p:sp>
      <p:sp>
        <p:nvSpPr>
          <p:cNvPr id="24" name="Forma 24"/>
          <p:cNvSpPr/>
          <p:nvPr/>
        </p:nvSpPr>
        <p:spPr>
          <a:xfrm>
            <a:off x="822960" y="315468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Oracle Cloud, sin servicios de pago</a:t>
            </a:r>
          </a:p>
        </p:txBody>
      </p:sp>
      <p:sp>
        <p:nvSpPr>
          <p:cNvPr id="25" name="Forma 25"/>
          <p:cNvSpPr/>
          <p:nvPr/>
        </p:nvSpPr>
        <p:spPr>
          <a:xfrm>
            <a:off x="4361688" y="2148840"/>
            <a:ext cx="3474720" cy="14173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6" name="Forma 26"/>
          <p:cNvSpPr/>
          <p:nvPr/>
        </p:nvSpPr>
        <p:spPr>
          <a:xfrm>
            <a:off x="4544568" y="2240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MEMORIA</a:t>
            </a:r>
          </a:p>
        </p:txBody>
      </p:sp>
      <p:sp>
        <p:nvSpPr>
          <p:cNvPr id="27" name="Forma 27"/>
          <p:cNvSpPr/>
          <p:nvPr/>
        </p:nvSpPr>
        <p:spPr>
          <a:xfrm>
            <a:off x="4544568" y="251460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b="1" dirty="0">
                <a:solidFill>
                  <a:srgbClr val="FF665A"/>
                </a:solidFill>
                <a:latin typeface="Segoe UI"/>
                <a:cs typeface="Segoe UI"/>
              </a:rPr>
              <a:t>12 GB</a:t>
            </a:r>
          </a:p>
        </p:txBody>
      </p:sp>
      <p:sp>
        <p:nvSpPr>
          <p:cNvPr id="28" name="Forma 28"/>
          <p:cNvSpPr/>
          <p:nvPr/>
        </p:nvSpPr>
        <p:spPr>
          <a:xfrm>
            <a:off x="4544568" y="315468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de RAM en total para todo el sistema</a:t>
            </a:r>
          </a:p>
        </p:txBody>
      </p:sp>
      <p:sp>
        <p:nvSpPr>
          <p:cNvPr id="29" name="Forma 29"/>
          <p:cNvSpPr/>
          <p:nvPr/>
        </p:nvSpPr>
        <p:spPr>
          <a:xfrm>
            <a:off x="8083296" y="2148840"/>
            <a:ext cx="3474720" cy="141732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0" name="Forma 30"/>
          <p:cNvSpPr/>
          <p:nvPr/>
        </p:nvSpPr>
        <p:spPr>
          <a:xfrm>
            <a:off x="8266176" y="224028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ESCALA PREVISTA</a:t>
            </a:r>
          </a:p>
        </p:txBody>
      </p:sp>
      <p:sp>
        <p:nvSpPr>
          <p:cNvPr id="31" name="Forma 31"/>
          <p:cNvSpPr/>
          <p:nvPr/>
        </p:nvSpPr>
        <p:spPr>
          <a:xfrm>
            <a:off x="8266176" y="2514600"/>
            <a:ext cx="310896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600" b="1" dirty="0">
                <a:solidFill>
                  <a:srgbClr val="FF665A"/>
                </a:solidFill>
                <a:latin typeface="Segoe UI"/>
                <a:cs typeface="Segoe UI"/>
              </a:rPr>
              <a:t>5 – 10</a:t>
            </a:r>
          </a:p>
        </p:txBody>
      </p:sp>
      <p:sp>
        <p:nvSpPr>
          <p:cNvPr id="32" name="Forma 32"/>
          <p:cNvSpPr/>
          <p:nvPr/>
        </p:nvSpPr>
        <p:spPr>
          <a:xfrm>
            <a:off x="8266176" y="315468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sucursales; hasta unas 20 sin rediseñar</a:t>
            </a:r>
          </a:p>
        </p:txBody>
      </p:sp>
      <p:sp>
        <p:nvSpPr>
          <p:cNvPr id="33" name="Forma 33"/>
          <p:cNvSpPr/>
          <p:nvPr/>
        </p:nvSpPr>
        <p:spPr>
          <a:xfrm>
            <a:off x="640080" y="37947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B7B3A8"/>
                </a:solidFill>
                <a:latin typeface="Segoe UI"/>
                <a:cs typeface="Segoe UI"/>
              </a:rPr>
              <a:t>CUATRO SERVICIOS ACTUALES</a:t>
            </a:r>
          </a:p>
        </p:txBody>
      </p:sp>
      <p:sp>
        <p:nvSpPr>
          <p:cNvPr id="34" name="Forma 34"/>
          <p:cNvSpPr/>
          <p:nvPr/>
        </p:nvSpPr>
        <p:spPr>
          <a:xfrm>
            <a:off x="640080" y="4114800"/>
            <a:ext cx="2651760" cy="1097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5" name="Forma 35"/>
          <p:cNvSpPr/>
          <p:nvPr/>
        </p:nvSpPr>
        <p:spPr>
          <a:xfrm>
            <a:off x="804672" y="42062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E-commerce</a:t>
            </a:r>
          </a:p>
        </p:txBody>
      </p:sp>
      <p:sp>
        <p:nvSpPr>
          <p:cNvPr id="36" name="Forma 36"/>
          <p:cNvSpPr/>
          <p:nvPr/>
        </p:nvSpPr>
        <p:spPr>
          <a:xfrm>
            <a:off x="804672" y="46177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vender, cobrar y entregar</a:t>
            </a:r>
          </a:p>
        </p:txBody>
      </p:sp>
      <p:sp>
        <p:nvSpPr>
          <p:cNvPr id="37" name="Forma 37"/>
          <p:cNvSpPr/>
          <p:nvPr/>
        </p:nvSpPr>
        <p:spPr>
          <a:xfrm>
            <a:off x="3419856" y="4114800"/>
            <a:ext cx="2651760" cy="1097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8" name="Forma 38"/>
          <p:cNvSpPr/>
          <p:nvPr/>
        </p:nvSpPr>
        <p:spPr>
          <a:xfrm>
            <a:off x="3584448" y="42062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Inventario</a:t>
            </a:r>
          </a:p>
        </p:txBody>
      </p:sp>
      <p:sp>
        <p:nvSpPr>
          <p:cNvPr id="39" name="Forma 39"/>
          <p:cNvSpPr/>
          <p:nvPr/>
        </p:nvSpPr>
        <p:spPr>
          <a:xfrm>
            <a:off x="3584448" y="46177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stock real y traslados</a:t>
            </a:r>
          </a:p>
        </p:txBody>
      </p:sp>
      <p:sp>
        <p:nvSpPr>
          <p:cNvPr id="40" name="Forma 40"/>
          <p:cNvSpPr/>
          <p:nvPr/>
        </p:nvSpPr>
        <p:spPr>
          <a:xfrm>
            <a:off x="6199632" y="4114800"/>
            <a:ext cx="2651760" cy="1097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1" name="Forma 41"/>
          <p:cNvSpPr/>
          <p:nvPr/>
        </p:nvSpPr>
        <p:spPr>
          <a:xfrm>
            <a:off x="6364224" y="42062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Identidad</a:t>
            </a:r>
          </a:p>
        </p:txBody>
      </p:sp>
      <p:sp>
        <p:nvSpPr>
          <p:cNvPr id="42" name="Forma 42"/>
          <p:cNvSpPr/>
          <p:nvPr/>
        </p:nvSpPr>
        <p:spPr>
          <a:xfrm>
            <a:off x="6364224" y="46177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quién accede y a qué sucursal</a:t>
            </a:r>
          </a:p>
        </p:txBody>
      </p:sp>
      <p:sp>
        <p:nvSpPr>
          <p:cNvPr id="43" name="Forma 43"/>
          <p:cNvSpPr/>
          <p:nvPr/>
        </p:nvSpPr>
        <p:spPr>
          <a:xfrm>
            <a:off x="8979408" y="4114800"/>
            <a:ext cx="2651760" cy="10972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4" name="Forma 44"/>
          <p:cNvSpPr/>
          <p:nvPr/>
        </p:nvSpPr>
        <p:spPr>
          <a:xfrm>
            <a:off x="9144000" y="42062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Asistente de Compra</a:t>
            </a:r>
          </a:p>
        </p:txBody>
      </p:sp>
      <p:sp>
        <p:nvSpPr>
          <p:cNvPr id="45" name="Forma 45"/>
          <p:cNvSpPr/>
          <p:nvPr/>
        </p:nvSpPr>
        <p:spPr>
          <a:xfrm>
            <a:off x="9144000" y="46177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recomienda con IA, solo lectura</a:t>
            </a:r>
          </a:p>
        </p:txBody>
      </p:sp>
      <p:sp>
        <p:nvSpPr>
          <p:cNvPr id="46" name="Forma 46"/>
          <p:cNvSpPr/>
          <p:nvPr/>
        </p:nvSpPr>
        <p:spPr>
          <a:xfrm>
            <a:off x="640080" y="5532120"/>
            <a:ext cx="310896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La web es solo cliente de los servicios</a:t>
            </a:r>
          </a:p>
        </p:txBody>
      </p:sp>
      <p:sp>
        <p:nvSpPr>
          <p:cNvPr id="47" name="Forma 47"/>
          <p:cNvSpPr/>
          <p:nvPr/>
        </p:nvSpPr>
        <p:spPr>
          <a:xfrm>
            <a:off x="3886200" y="5532120"/>
            <a:ext cx="274320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F5EBD8"/>
                </a:solidFill>
                <a:latin typeface="Segoe UI"/>
                <a:cs typeface="Segoe UI"/>
              </a:rPr>
              <a:t>Libros impresos y digitales</a:t>
            </a:r>
          </a:p>
        </p:txBody>
      </p:sp>
      <p:sp>
        <p:nvSpPr>
          <p:cNvPr id="48" name="Forma 48"/>
          <p:cNvSpPr/>
          <p:nvPr/>
        </p:nvSpPr>
        <p:spPr>
          <a:xfrm>
            <a:off x="6766560" y="5532120"/>
            <a:ext cx="384048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  <a:prstDash val="dash"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B7B3A8"/>
                </a:solidFill>
                <a:latin typeface="Segoe UI"/>
                <a:cs typeface="Segoe UI"/>
              </a:rPr>
              <a:t>Analítica y reportes (RF21): fase posterior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DOS SISTEMAS,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UNA REGLA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9" name="Forma 19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05 / 14</a:t>
            </a:r>
          </a:p>
        </p:txBody>
      </p:sp>
      <p:sp>
        <p:nvSpPr>
          <p:cNvPr id="20" name="Forma 20"/>
          <p:cNvSpPr/>
          <p:nvPr/>
        </p:nvSpPr>
        <p:spPr>
          <a:xfrm>
            <a:off x="640080" y="1783080"/>
            <a:ext cx="5074920" cy="29718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5400">
            <a:solidFill>
              <a:srgbClr val="A78BF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1" name="Forma 21"/>
          <p:cNvSpPr/>
          <p:nvPr/>
        </p:nvSpPr>
        <p:spPr>
          <a:xfrm>
            <a:off x="868680" y="187452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000" dirty="0">
                <a:solidFill>
                  <a:srgbClr val="F5EBD8"/>
                </a:solidFill>
                <a:latin typeface="DM Serif Display"/>
                <a:cs typeface="DM Serif Display"/>
              </a:rPr>
              <a:t>Inventario Multi-Sucursal</a:t>
            </a:r>
          </a:p>
        </p:txBody>
      </p:sp>
      <p:sp>
        <p:nvSpPr>
          <p:cNvPr id="22" name="Forma 22"/>
          <p:cNvSpPr/>
          <p:nvPr/>
        </p:nvSpPr>
        <p:spPr>
          <a:xfrm>
            <a:off x="868680" y="2377440"/>
            <a:ext cx="1463040" cy="10058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1033272" y="246888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STOCK FÍSICO</a:t>
            </a:r>
          </a:p>
        </p:txBody>
      </p:sp>
      <p:sp>
        <p:nvSpPr>
          <p:cNvPr id="24" name="Forma 24"/>
          <p:cNvSpPr/>
          <p:nvPr/>
        </p:nvSpPr>
        <p:spPr>
          <a:xfrm>
            <a:off x="1033272" y="2743200"/>
            <a:ext cx="1188720" cy="594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b="1" dirty="0">
                <a:solidFill>
                  <a:srgbClr val="F5EBD8"/>
                </a:solidFill>
                <a:latin typeface="Segoe UI"/>
                <a:cs typeface="Segoe UI"/>
              </a:rPr>
              <a:t>90</a:t>
            </a:r>
          </a:p>
        </p:txBody>
      </p:sp>
      <p:sp>
        <p:nvSpPr>
          <p:cNvPr id="25" name="Forma 25"/>
          <p:cNvSpPr/>
          <p:nvPr/>
        </p:nvSpPr>
        <p:spPr>
          <a:xfrm>
            <a:off x="2441448" y="2377440"/>
            <a:ext cx="1463040" cy="10058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6" name="Forma 26"/>
          <p:cNvSpPr/>
          <p:nvPr/>
        </p:nvSpPr>
        <p:spPr>
          <a:xfrm>
            <a:off x="2606040" y="246888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RESERVADO</a:t>
            </a:r>
          </a:p>
        </p:txBody>
      </p:sp>
      <p:sp>
        <p:nvSpPr>
          <p:cNvPr id="27" name="Forma 27"/>
          <p:cNvSpPr/>
          <p:nvPr/>
        </p:nvSpPr>
        <p:spPr>
          <a:xfrm>
            <a:off x="2606040" y="2743200"/>
            <a:ext cx="1188720" cy="594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b="1" dirty="0">
                <a:solidFill>
                  <a:srgbClr val="F5EBD8"/>
                </a:solidFill>
                <a:latin typeface="Segoe UI"/>
                <a:cs typeface="Segoe UI"/>
              </a:rPr>
              <a:t>13</a:t>
            </a:r>
          </a:p>
        </p:txBody>
      </p:sp>
      <p:sp>
        <p:nvSpPr>
          <p:cNvPr id="28" name="Forma 28"/>
          <p:cNvSpPr/>
          <p:nvPr/>
        </p:nvSpPr>
        <p:spPr>
          <a:xfrm>
            <a:off x="4014216" y="2377440"/>
            <a:ext cx="1463040" cy="100584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9" name="Forma 29"/>
          <p:cNvSpPr/>
          <p:nvPr/>
        </p:nvSpPr>
        <p:spPr>
          <a:xfrm>
            <a:off x="4178808" y="246888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VENDIBLE</a:t>
            </a:r>
          </a:p>
        </p:txBody>
      </p:sp>
      <p:sp>
        <p:nvSpPr>
          <p:cNvPr id="30" name="Forma 30"/>
          <p:cNvSpPr/>
          <p:nvPr/>
        </p:nvSpPr>
        <p:spPr>
          <a:xfrm>
            <a:off x="4178808" y="2743200"/>
            <a:ext cx="1188720" cy="5943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3200" b="1" dirty="0">
                <a:solidFill>
                  <a:srgbClr val="A9E85E"/>
                </a:solidFill>
                <a:latin typeface="Segoe UI"/>
                <a:cs typeface="Segoe UI"/>
              </a:rPr>
              <a:t>77</a:t>
            </a:r>
          </a:p>
        </p:txBody>
      </p:sp>
      <p:sp>
        <p:nvSpPr>
          <p:cNvPr id="31" name="Forma 31"/>
          <p:cNvSpPr/>
          <p:nvPr/>
        </p:nvSpPr>
        <p:spPr>
          <a:xfrm>
            <a:off x="868680" y="3520440"/>
            <a:ext cx="4617720" cy="384048"/>
          </a:xfrm>
          <a:prstGeom prst="roundRect">
            <a:avLst>
              <a:gd name="adj" fmla="val 50000"/>
            </a:avLst>
          </a:prstGeom>
          <a:solidFill>
            <a:srgbClr val="A9E85E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0F1A3D"/>
                </a:solidFill>
                <a:latin typeface="Segoe UI"/>
                <a:cs typeface="Segoe UI"/>
              </a:rPr>
              <a:t>Stock vendible = stock físico − reservas activas</a:t>
            </a:r>
          </a:p>
        </p:txBody>
      </p:sp>
      <p:sp>
        <p:nvSpPr>
          <p:cNvPr id="32" name="Forma 32"/>
          <p:cNvSpPr/>
          <p:nvPr/>
        </p:nvSpPr>
        <p:spPr>
          <a:xfrm>
            <a:off x="868680" y="4023360"/>
            <a:ext cx="461772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Cada sucursal es una fuente; reservas, traslados y ajustes quedan auditados. Cifras de ejemplo del prototipo (Ayacucho).</a:t>
            </a:r>
          </a:p>
        </p:txBody>
      </p:sp>
      <p:sp>
        <p:nvSpPr>
          <p:cNvPr id="33" name="Forma 33"/>
          <p:cNvSpPr/>
          <p:nvPr/>
        </p:nvSpPr>
        <p:spPr>
          <a:xfrm>
            <a:off x="6492240" y="1783080"/>
            <a:ext cx="5056632" cy="29718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540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4" name="Forma 34"/>
          <p:cNvSpPr/>
          <p:nvPr/>
        </p:nvSpPr>
        <p:spPr>
          <a:xfrm>
            <a:off x="6720840" y="187452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000" dirty="0">
                <a:solidFill>
                  <a:srgbClr val="F5EBD8"/>
                </a:solidFill>
                <a:latin typeface="DM Serif Display"/>
                <a:cs typeface="DM Serif Display"/>
              </a:rPr>
              <a:t>E-commerce</a:t>
            </a:r>
          </a:p>
        </p:txBody>
      </p:sp>
      <p:pic>
        <p:nvPicPr>
          <p:cNvPr id="35" name="Imagen 3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423160"/>
            <a:ext cx="658368" cy="987552"/>
          </a:xfrm>
          <a:prstGeom prst="rect">
            <a:avLst/>
          </a:prstGeom>
        </p:spPr>
      </p:pic>
      <p:pic>
        <p:nvPicPr>
          <p:cNvPr id="36" name="Imagen 3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48" y="2423160"/>
            <a:ext cx="658368" cy="987552"/>
          </a:xfrm>
          <a:prstGeom prst="rect">
            <a:avLst/>
          </a:prstGeom>
        </p:spPr>
      </p:pic>
      <p:pic>
        <p:nvPicPr>
          <p:cNvPr id="37" name="Imagen 3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0456" y="2423160"/>
            <a:ext cx="658368" cy="987552"/>
          </a:xfrm>
          <a:prstGeom prst="rect">
            <a:avLst/>
          </a:prstGeom>
        </p:spPr>
      </p:pic>
      <p:sp>
        <p:nvSpPr>
          <p:cNvPr id="38" name="Forma 38"/>
          <p:cNvSpPr/>
          <p:nvPr/>
        </p:nvSpPr>
        <p:spPr>
          <a:xfrm>
            <a:off x="9052560" y="2697480"/>
            <a:ext cx="100584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A78BF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dirty="0">
                <a:solidFill>
                  <a:srgbClr val="A78BFA"/>
                </a:solidFill>
                <a:latin typeface="Segoe UI"/>
                <a:cs typeface="Segoe UI"/>
              </a:rPr>
              <a:t>IMPRESO</a:t>
            </a:r>
          </a:p>
        </p:txBody>
      </p:sp>
      <p:sp>
        <p:nvSpPr>
          <p:cNvPr id="39" name="Forma 39"/>
          <p:cNvSpPr/>
          <p:nvPr/>
        </p:nvSpPr>
        <p:spPr>
          <a:xfrm>
            <a:off x="10149840" y="2697480"/>
            <a:ext cx="1097280" cy="29260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C8D4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dirty="0">
                <a:solidFill>
                  <a:srgbClr val="36C8D4"/>
                </a:solidFill>
                <a:latin typeface="Segoe UI"/>
                <a:cs typeface="Segoe UI"/>
              </a:rPr>
              <a:t>DIGITAL</a:t>
            </a:r>
          </a:p>
        </p:txBody>
      </p:sp>
      <p:sp>
        <p:nvSpPr>
          <p:cNvPr id="40" name="Forma 40"/>
          <p:cNvSpPr/>
          <p:nvPr/>
        </p:nvSpPr>
        <p:spPr>
          <a:xfrm>
            <a:off x="6720840" y="3566160"/>
            <a:ext cx="461772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Catálogo, carrito, checkout y pagos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Pedidos, entregas y biblioteca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Devoluciones y reclamos</a:t>
            </a:r>
          </a:p>
        </p:txBody>
      </p:sp>
      <p:cxnSp>
        <p:nvCxnSpPr>
          <p:cNvPr id="41" name="Linea 41"/>
          <p:cNvCxnSpPr/>
          <p:nvPr/>
        </p:nvCxnSpPr>
        <p:spPr>
          <a:xfrm>
            <a:off x="5760720" y="2926080"/>
            <a:ext cx="68580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cxnSp>
        <p:nvCxnSpPr>
          <p:cNvPr id="42" name="Linea 42"/>
          <p:cNvCxnSpPr/>
          <p:nvPr/>
        </p:nvCxnSpPr>
        <p:spPr>
          <a:xfrm flipH="1">
            <a:off x="5760720" y="3429000"/>
            <a:ext cx="68580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43" name="Forma 43"/>
          <p:cNvSpPr/>
          <p:nvPr/>
        </p:nvSpPr>
        <p:spPr>
          <a:xfrm>
            <a:off x="5669280" y="251460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36C8D4"/>
                </a:solidFill>
                <a:latin typeface="Segoe UI"/>
                <a:cs typeface="Segoe UI"/>
              </a:rPr>
              <a:t>REST</a:t>
            </a:r>
          </a:p>
        </p:txBody>
      </p:sp>
      <p:sp>
        <p:nvSpPr>
          <p:cNvPr id="44" name="Forma 44"/>
          <p:cNvSpPr/>
          <p:nvPr/>
        </p:nvSpPr>
        <p:spPr>
          <a:xfrm>
            <a:off x="640080" y="5029200"/>
            <a:ext cx="3474720" cy="1097280"/>
          </a:xfrm>
          <a:prstGeom prst="roundRect">
            <a:avLst>
              <a:gd name="adj" fmla="val 2500"/>
            </a:avLst>
          </a:prstGeom>
          <a:noFill/>
          <a:ln w="12700">
            <a:solidFill>
              <a:srgbClr val="36457A"/>
            </a:solidFill>
            <a:prstDash val="dash"/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5" name="Forma 45"/>
          <p:cNvSpPr/>
          <p:nvPr/>
        </p:nvSpPr>
        <p:spPr>
          <a:xfrm>
            <a:off x="804672" y="512064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DM Serif Display"/>
                <a:cs typeface="DM Serif Display"/>
              </a:rPr>
              <a:t>Identidad</a:t>
            </a:r>
          </a:p>
        </p:txBody>
      </p:sp>
      <p:sp>
        <p:nvSpPr>
          <p:cNvPr id="46" name="Forma 46"/>
          <p:cNvSpPr/>
          <p:nvPr/>
        </p:nvSpPr>
        <p:spPr>
          <a:xfrm>
            <a:off x="804672" y="553212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roles, alcance por sucursal y segundo factor</a:t>
            </a:r>
          </a:p>
        </p:txBody>
      </p:sp>
      <p:sp>
        <p:nvSpPr>
          <p:cNvPr id="47" name="Forma 47"/>
          <p:cNvSpPr/>
          <p:nvPr/>
        </p:nvSpPr>
        <p:spPr>
          <a:xfrm>
            <a:off x="4361688" y="5029200"/>
            <a:ext cx="3474720" cy="1097280"/>
          </a:xfrm>
          <a:prstGeom prst="roundRect">
            <a:avLst>
              <a:gd name="adj" fmla="val 2500"/>
            </a:avLst>
          </a:prstGeom>
          <a:noFill/>
          <a:ln w="12700">
            <a:solidFill>
              <a:srgbClr val="36457A"/>
            </a:solidFill>
            <a:prstDash val="dash"/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8" name="Forma 48"/>
          <p:cNvSpPr/>
          <p:nvPr/>
        </p:nvSpPr>
        <p:spPr>
          <a:xfrm>
            <a:off x="4526280" y="512064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DM Serif Display"/>
                <a:cs typeface="DM Serif Display"/>
              </a:rPr>
              <a:t>Asistente de Compra</a:t>
            </a:r>
          </a:p>
        </p:txBody>
      </p:sp>
      <p:sp>
        <p:nvSpPr>
          <p:cNvPr id="49" name="Forma 49"/>
          <p:cNvSpPr/>
          <p:nvPr/>
        </p:nvSpPr>
        <p:spPr>
          <a:xfrm>
            <a:off x="4526280" y="553212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recomendaciones con IA, solo lectura</a:t>
            </a:r>
          </a:p>
        </p:txBody>
      </p:sp>
      <p:sp>
        <p:nvSpPr>
          <p:cNvPr id="50" name="Forma 50"/>
          <p:cNvSpPr/>
          <p:nvPr/>
        </p:nvSpPr>
        <p:spPr>
          <a:xfrm>
            <a:off x="8083296" y="5029200"/>
            <a:ext cx="3474720" cy="1097280"/>
          </a:xfrm>
          <a:prstGeom prst="roundRect">
            <a:avLst>
              <a:gd name="adj" fmla="val 2500"/>
            </a:avLst>
          </a:prstGeom>
          <a:noFill/>
          <a:ln w="12700">
            <a:solidFill>
              <a:srgbClr val="36457A"/>
            </a:solidFill>
            <a:prstDash val="dash"/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51" name="Forma 51"/>
          <p:cNvSpPr/>
          <p:nvPr/>
        </p:nvSpPr>
        <p:spPr>
          <a:xfrm>
            <a:off x="8247888" y="512064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600" dirty="0">
                <a:solidFill>
                  <a:srgbClr val="F5EBD8"/>
                </a:solidFill>
                <a:latin typeface="DM Serif Display"/>
                <a:cs typeface="DM Serif Display"/>
              </a:rPr>
              <a:t>BabelHub.Web</a:t>
            </a:r>
          </a:p>
        </p:txBody>
      </p:sp>
      <p:sp>
        <p:nvSpPr>
          <p:cNvPr id="52" name="Forma 52"/>
          <p:cNvSpPr/>
          <p:nvPr/>
        </p:nvSpPr>
        <p:spPr>
          <a:xfrm>
            <a:off x="8247888" y="553212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aplicación web: cliente de los servicios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RESERVAR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ANTES</a:t>
            </a: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 DE COBRAR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B7B3A8"/>
                </a:solidFill>
                <a:latin typeface="Segoe UI"/>
                <a:cs typeface="Segoe UI"/>
              </a:rPr>
              <a:t>La reserva temporal protege la última unidad mientras el cliente paga.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20" name="Forma 20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06 / 14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822960" y="3749040"/>
            <a:ext cx="10515600" cy="0"/>
          </a:xfrm>
          <a:prstGeom prst="line">
            <a:avLst/>
          </a:prstGeom>
          <a:ln w="38100" cap="rnd">
            <a:solidFill>
              <a:srgbClr val="36C8D4"/>
            </a:solidFill>
            <a:round/>
          </a:ln>
        </p:spPr>
      </p:cxnSp>
      <p:sp>
        <p:nvSpPr>
          <p:cNvPr id="22" name="Forma 22"/>
          <p:cNvSpPr/>
          <p:nvPr/>
        </p:nvSpPr>
        <p:spPr>
          <a:xfrm>
            <a:off x="1444752" y="3456432"/>
            <a:ext cx="585216" cy="585216"/>
          </a:xfrm>
          <a:prstGeom prst="ellipse">
            <a:avLst/>
          </a:prstGeom>
          <a:solidFill>
            <a:srgbClr val="1B2A57"/>
          </a:solidFill>
          <a:ln w="15875">
            <a:solidFill>
              <a:srgbClr val="36C8D4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F5EBD8"/>
                </a:solidFill>
                <a:latin typeface="Segoe UI"/>
                <a:cs typeface="Segoe UI"/>
              </a:rPr>
              <a:t>1</a:t>
            </a:r>
          </a:p>
        </p:txBody>
      </p:sp>
      <p:sp>
        <p:nvSpPr>
          <p:cNvPr id="23" name="Forma 23"/>
          <p:cNvSpPr/>
          <p:nvPr/>
        </p:nvSpPr>
        <p:spPr>
          <a:xfrm>
            <a:off x="667512" y="4206240"/>
            <a:ext cx="2139696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5EBD8"/>
                </a:solidFill>
                <a:latin typeface="Segoe UI"/>
                <a:cs typeface="Segoe UI"/>
              </a:rPr>
              <a:t>Confirma el pedido</a:t>
            </a:r>
          </a:p>
        </p:txBody>
      </p:sp>
      <p:sp>
        <p:nvSpPr>
          <p:cNvPr id="24" name="Forma 24"/>
          <p:cNvSpPr/>
          <p:nvPr/>
        </p:nvSpPr>
        <p:spPr>
          <a:xfrm>
            <a:off x="731520" y="4617720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El cliente decide comprar.</a:t>
            </a:r>
          </a:p>
        </p:txBody>
      </p:sp>
      <p:sp>
        <p:nvSpPr>
          <p:cNvPr id="25" name="Forma 25"/>
          <p:cNvSpPr/>
          <p:nvPr/>
        </p:nvSpPr>
        <p:spPr>
          <a:xfrm>
            <a:off x="3639312" y="3456432"/>
            <a:ext cx="585216" cy="585216"/>
          </a:xfrm>
          <a:prstGeom prst="ellipse">
            <a:avLst/>
          </a:prstGeom>
          <a:solidFill>
            <a:srgbClr val="FF665A"/>
          </a:solidFill>
          <a:ln w="15875">
            <a:solidFill>
              <a:srgbClr val="FF665A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172554"/>
                </a:solidFill>
                <a:latin typeface="Segoe UI"/>
                <a:cs typeface="Segoe UI"/>
              </a:rPr>
              <a:t>2</a:t>
            </a:r>
          </a:p>
        </p:txBody>
      </p:sp>
      <p:sp>
        <p:nvSpPr>
          <p:cNvPr id="26" name="Forma 26"/>
          <p:cNvSpPr/>
          <p:nvPr/>
        </p:nvSpPr>
        <p:spPr>
          <a:xfrm>
            <a:off x="2862072" y="4206240"/>
            <a:ext cx="2139696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5EBD8"/>
                </a:solidFill>
                <a:latin typeface="Segoe UI"/>
                <a:cs typeface="Segoe UI"/>
              </a:rPr>
              <a:t>Reserva temporal</a:t>
            </a:r>
          </a:p>
        </p:txBody>
      </p:sp>
      <p:sp>
        <p:nvSpPr>
          <p:cNvPr id="27" name="Forma 27"/>
          <p:cNvSpPr/>
          <p:nvPr/>
        </p:nvSpPr>
        <p:spPr>
          <a:xfrm>
            <a:off x="2926080" y="4617720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E-commerce pide a Inventario apartar las unidades por 15 minutos.</a:t>
            </a:r>
          </a:p>
        </p:txBody>
      </p:sp>
      <p:sp>
        <p:nvSpPr>
          <p:cNvPr id="28" name="Forma 28"/>
          <p:cNvSpPr/>
          <p:nvPr/>
        </p:nvSpPr>
        <p:spPr>
          <a:xfrm>
            <a:off x="5833872" y="3456432"/>
            <a:ext cx="585216" cy="585216"/>
          </a:xfrm>
          <a:prstGeom prst="ellipse">
            <a:avLst/>
          </a:prstGeom>
          <a:solidFill>
            <a:srgbClr val="1B2A57"/>
          </a:solidFill>
          <a:ln w="15875">
            <a:solidFill>
              <a:srgbClr val="36C8D4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F5EBD8"/>
                </a:solidFill>
                <a:latin typeface="Segoe UI"/>
                <a:cs typeface="Segoe UI"/>
              </a:rPr>
              <a:t>3</a:t>
            </a:r>
          </a:p>
        </p:txBody>
      </p:sp>
      <p:sp>
        <p:nvSpPr>
          <p:cNvPr id="29" name="Forma 29"/>
          <p:cNvSpPr/>
          <p:nvPr/>
        </p:nvSpPr>
        <p:spPr>
          <a:xfrm>
            <a:off x="5056632" y="4206240"/>
            <a:ext cx="2139696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5EBD8"/>
                </a:solidFill>
                <a:latin typeface="Segoe UI"/>
                <a:cs typeface="Segoe UI"/>
              </a:rPr>
              <a:t>Valida y asigna</a:t>
            </a:r>
          </a:p>
        </p:txBody>
      </p:sp>
      <p:sp>
        <p:nvSpPr>
          <p:cNvPr id="30" name="Forma 30"/>
          <p:cNvSpPr/>
          <p:nvPr/>
        </p:nvSpPr>
        <p:spPr>
          <a:xfrm>
            <a:off x="5120640" y="4617720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Inventario comprueba el stock y elige la fuente.</a:t>
            </a:r>
          </a:p>
        </p:txBody>
      </p:sp>
      <p:sp>
        <p:nvSpPr>
          <p:cNvPr id="31" name="Forma 31"/>
          <p:cNvSpPr/>
          <p:nvPr/>
        </p:nvSpPr>
        <p:spPr>
          <a:xfrm>
            <a:off x="8028432" y="3456432"/>
            <a:ext cx="585216" cy="585216"/>
          </a:xfrm>
          <a:prstGeom prst="ellipse">
            <a:avLst/>
          </a:prstGeom>
          <a:solidFill>
            <a:srgbClr val="1B2A57"/>
          </a:solidFill>
          <a:ln w="15875">
            <a:solidFill>
              <a:srgbClr val="36C8D4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F5EBD8"/>
                </a:solidFill>
                <a:latin typeface="Segoe UI"/>
                <a:cs typeface="Segoe UI"/>
              </a:rPr>
              <a:t>4</a:t>
            </a:r>
          </a:p>
        </p:txBody>
      </p:sp>
      <p:sp>
        <p:nvSpPr>
          <p:cNvPr id="32" name="Forma 32"/>
          <p:cNvSpPr/>
          <p:nvPr/>
        </p:nvSpPr>
        <p:spPr>
          <a:xfrm>
            <a:off x="7251192" y="4206240"/>
            <a:ext cx="2139696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5EBD8"/>
                </a:solidFill>
                <a:latin typeface="Segoe UI"/>
                <a:cs typeface="Segoe UI"/>
              </a:rPr>
              <a:t>Pago</a:t>
            </a:r>
          </a:p>
        </p:txBody>
      </p:sp>
      <p:sp>
        <p:nvSpPr>
          <p:cNvPr id="33" name="Forma 33"/>
          <p:cNvSpPr/>
          <p:nvPr/>
        </p:nvSpPr>
        <p:spPr>
          <a:xfrm>
            <a:off x="7315200" y="4617720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Culqi cobra con clave de idempotencia.</a:t>
            </a:r>
          </a:p>
        </p:txBody>
      </p:sp>
      <p:sp>
        <p:nvSpPr>
          <p:cNvPr id="34" name="Forma 34"/>
          <p:cNvSpPr/>
          <p:nvPr/>
        </p:nvSpPr>
        <p:spPr>
          <a:xfrm>
            <a:off x="10222992" y="3456432"/>
            <a:ext cx="585216" cy="585216"/>
          </a:xfrm>
          <a:prstGeom prst="ellipse">
            <a:avLst/>
          </a:prstGeom>
          <a:solidFill>
            <a:srgbClr val="1B2A57"/>
          </a:solidFill>
          <a:ln w="15875">
            <a:solidFill>
              <a:srgbClr val="36C8D4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b="1" dirty="0">
                <a:solidFill>
                  <a:srgbClr val="F5EBD8"/>
                </a:solidFill>
                <a:latin typeface="Segoe UI"/>
                <a:cs typeface="Segoe UI"/>
              </a:rPr>
              <a:t>5</a:t>
            </a:r>
          </a:p>
        </p:txBody>
      </p:sp>
      <p:sp>
        <p:nvSpPr>
          <p:cNvPr id="35" name="Forma 35"/>
          <p:cNvSpPr/>
          <p:nvPr/>
        </p:nvSpPr>
        <p:spPr>
          <a:xfrm>
            <a:off x="9445752" y="4206240"/>
            <a:ext cx="2139696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5EBD8"/>
                </a:solidFill>
                <a:latin typeface="Segoe UI"/>
                <a:cs typeface="Segoe UI"/>
              </a:rPr>
              <a:t>Reserva confirmada</a:t>
            </a:r>
          </a:p>
        </p:txBody>
      </p:sp>
      <p:sp>
        <p:nvSpPr>
          <p:cNvPr id="36" name="Forma 36"/>
          <p:cNvSpPr/>
          <p:nvPr/>
        </p:nvSpPr>
        <p:spPr>
          <a:xfrm>
            <a:off x="9509760" y="4617720"/>
            <a:ext cx="201168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Con el pago aprobado, la reserva se confirma.</a:t>
            </a:r>
          </a:p>
        </p:txBody>
      </p:sp>
      <p:cxnSp>
        <p:nvCxnSpPr>
          <p:cNvPr id="37" name="Linea 37"/>
          <p:cNvCxnSpPr/>
          <p:nvPr/>
        </p:nvCxnSpPr>
        <p:spPr>
          <a:xfrm>
            <a:off x="3931920" y="2971800"/>
            <a:ext cx="6583680" cy="0"/>
          </a:xfrm>
          <a:prstGeom prst="line">
            <a:avLst/>
          </a:prstGeom>
          <a:ln w="31750" cap="rnd">
            <a:solidFill>
              <a:srgbClr val="FF665A"/>
            </a:solidFill>
            <a:prstDash val="dash"/>
            <a:round/>
          </a:ln>
        </p:spPr>
      </p:cxnSp>
      <p:sp>
        <p:nvSpPr>
          <p:cNvPr id="38" name="Forma 38"/>
          <p:cNvSpPr/>
          <p:nvPr/>
        </p:nvSpPr>
        <p:spPr>
          <a:xfrm>
            <a:off x="6309360" y="2514600"/>
            <a:ext cx="2560320" cy="292608"/>
          </a:xfrm>
          <a:prstGeom prst="roundRect">
            <a:avLst>
              <a:gd name="adj" fmla="val 50000"/>
            </a:avLst>
          </a:prstGeom>
          <a:solidFill>
            <a:srgbClr val="0F1A3D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FF665A"/>
                </a:solidFill>
                <a:latin typeface="Segoe UI"/>
                <a:cs typeface="Segoe UI"/>
              </a:rPr>
              <a:t>ventana de 15 minutos</a:t>
            </a:r>
          </a:p>
        </p:txBody>
      </p:sp>
      <p:sp>
        <p:nvSpPr>
          <p:cNvPr id="39" name="Forma 39"/>
          <p:cNvSpPr/>
          <p:nvPr/>
        </p:nvSpPr>
        <p:spPr>
          <a:xfrm>
            <a:off x="640080" y="5577840"/>
            <a:ext cx="3474720" cy="65836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A9E85E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Stock vendible nunca negativo</a:t>
            </a:r>
          </a:p>
        </p:txBody>
      </p:sp>
      <p:sp>
        <p:nvSpPr>
          <p:cNvPr id="40" name="Forma 40"/>
          <p:cNvSpPr/>
          <p:nvPr/>
        </p:nvSpPr>
        <p:spPr>
          <a:xfrm>
            <a:off x="4361688" y="5577840"/>
            <a:ext cx="3474720" cy="65836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36C8D4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Un cobro, aunque se repita la operación</a:t>
            </a:r>
          </a:p>
        </p:txBody>
      </p:sp>
      <p:sp>
        <p:nvSpPr>
          <p:cNvPr id="41" name="Forma 41"/>
          <p:cNvSpPr/>
          <p:nvPr/>
        </p:nvSpPr>
        <p:spPr>
          <a:xfrm>
            <a:off x="8083296" y="5577840"/>
            <a:ext cx="3474720" cy="65836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FF665A"/>
            </a:solidFill>
          </a:ln>
        </p:spPr>
        <p:txBody>
          <a:bodyPr wrap="square" lIns="73152" tIns="73152" rIns="73152" bIns="73152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Si no se completa, la reserva expira o se libera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DE LA NECESIDAD A LA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DECISIÓN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B7B3A8"/>
                </a:solidFill>
                <a:latin typeface="Segoe UI"/>
                <a:cs typeface="Segoe UI"/>
              </a:rPr>
              <a:t>El hilo de la sobreventa, paso a paso, sin enumerar todos los documentos.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20" name="Forma 20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07 / 14</a:t>
            </a:r>
          </a:p>
        </p:txBody>
      </p:sp>
      <p:sp>
        <p:nvSpPr>
          <p:cNvPr id="21" name="Forma 21"/>
          <p:cNvSpPr/>
          <p:nvPr/>
        </p:nvSpPr>
        <p:spPr>
          <a:xfrm>
            <a:off x="658368" y="2194560"/>
            <a:ext cx="1371600" cy="2743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2" name="Forma 22"/>
          <p:cNvSpPr/>
          <p:nvPr/>
        </p:nvSpPr>
        <p:spPr>
          <a:xfrm>
            <a:off x="749808" y="23042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60" dirty="0">
                <a:solidFill>
                  <a:srgbClr val="FF665A"/>
                </a:solidFill>
                <a:latin typeface="Segoe UI"/>
                <a:cs typeface="Segoe UI"/>
              </a:rPr>
              <a:t>NECESIDAD</a:t>
            </a:r>
          </a:p>
        </p:txBody>
      </p:sp>
      <p:sp>
        <p:nvSpPr>
          <p:cNvPr id="23" name="Forma 23"/>
          <p:cNvSpPr/>
          <p:nvPr/>
        </p:nvSpPr>
        <p:spPr>
          <a:xfrm>
            <a:off x="749808" y="2651760"/>
            <a:ext cx="1188720" cy="1463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F5EBD8"/>
                </a:solidFill>
                <a:latin typeface="Segoe UI"/>
                <a:cs typeface="Segoe UI"/>
              </a:rPr>
              <a:t>Conocer el stock real</a:t>
            </a:r>
          </a:p>
        </p:txBody>
      </p:sp>
      <p:sp>
        <p:nvSpPr>
          <p:cNvPr id="24" name="Forma 24"/>
          <p:cNvSpPr/>
          <p:nvPr/>
        </p:nvSpPr>
        <p:spPr>
          <a:xfrm>
            <a:off x="749808" y="3977640"/>
            <a:ext cx="118872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NN01 · NN06</a:t>
            </a:r>
          </a:p>
        </p:txBody>
      </p:sp>
      <p:cxnSp>
        <p:nvCxnSpPr>
          <p:cNvPr id="25" name="Linea 25"/>
          <p:cNvCxnSpPr/>
          <p:nvPr/>
        </p:nvCxnSpPr>
        <p:spPr>
          <a:xfrm>
            <a:off x="2029968" y="3566160"/>
            <a:ext cx="210312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6" name="Forma 26"/>
          <p:cNvSpPr/>
          <p:nvPr/>
        </p:nvSpPr>
        <p:spPr>
          <a:xfrm>
            <a:off x="2240280" y="2194560"/>
            <a:ext cx="1371600" cy="2743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7" name="Forma 27"/>
          <p:cNvSpPr/>
          <p:nvPr/>
        </p:nvSpPr>
        <p:spPr>
          <a:xfrm>
            <a:off x="2331720" y="23042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60" dirty="0">
                <a:solidFill>
                  <a:srgbClr val="FF665A"/>
                </a:solidFill>
                <a:latin typeface="Segoe UI"/>
                <a:cs typeface="Segoe UI"/>
              </a:rPr>
              <a:t>REQUISITO</a:t>
            </a:r>
          </a:p>
        </p:txBody>
      </p:sp>
      <p:sp>
        <p:nvSpPr>
          <p:cNvPr id="28" name="Forma 28"/>
          <p:cNvSpPr/>
          <p:nvPr/>
        </p:nvSpPr>
        <p:spPr>
          <a:xfrm>
            <a:off x="2331720" y="2651760"/>
            <a:ext cx="1188720" cy="1463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F5EBD8"/>
                </a:solidFill>
                <a:latin typeface="Segoe UI"/>
                <a:cs typeface="Segoe UI"/>
              </a:rPr>
              <a:t>Stock vendible y reserva</a:t>
            </a:r>
          </a:p>
        </p:txBody>
      </p:sp>
      <p:sp>
        <p:nvSpPr>
          <p:cNvPr id="29" name="Forma 29"/>
          <p:cNvSpPr/>
          <p:nvPr/>
        </p:nvSpPr>
        <p:spPr>
          <a:xfrm>
            <a:off x="2331720" y="3977640"/>
            <a:ext cx="118872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RF13 · RF14 · RNF01</a:t>
            </a:r>
          </a:p>
        </p:txBody>
      </p:sp>
      <p:cxnSp>
        <p:nvCxnSpPr>
          <p:cNvPr id="30" name="Linea 30"/>
          <p:cNvCxnSpPr/>
          <p:nvPr/>
        </p:nvCxnSpPr>
        <p:spPr>
          <a:xfrm>
            <a:off x="3611880" y="3566160"/>
            <a:ext cx="210312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1" name="Forma 31"/>
          <p:cNvSpPr/>
          <p:nvPr/>
        </p:nvSpPr>
        <p:spPr>
          <a:xfrm>
            <a:off x="3822192" y="2194560"/>
            <a:ext cx="1371600" cy="2743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2" name="Forma 32"/>
          <p:cNvSpPr/>
          <p:nvPr/>
        </p:nvSpPr>
        <p:spPr>
          <a:xfrm>
            <a:off x="3913632" y="23042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60" dirty="0">
                <a:solidFill>
                  <a:srgbClr val="FF665A"/>
                </a:solidFill>
                <a:latin typeface="Segoe UI"/>
                <a:cs typeface="Segoe UI"/>
              </a:rPr>
              <a:t>ATRIBUTO</a:t>
            </a:r>
          </a:p>
        </p:txBody>
      </p:sp>
      <p:sp>
        <p:nvSpPr>
          <p:cNvPr id="33" name="Forma 33"/>
          <p:cNvSpPr/>
          <p:nvPr/>
        </p:nvSpPr>
        <p:spPr>
          <a:xfrm>
            <a:off x="3913632" y="2651760"/>
            <a:ext cx="1188720" cy="1463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F5EBD8"/>
                </a:solidFill>
                <a:latin typeface="Segoe UI"/>
                <a:cs typeface="Segoe UI"/>
              </a:rPr>
              <a:t>Consistencia crítica</a:t>
            </a:r>
          </a:p>
        </p:txBody>
      </p:sp>
      <p:sp>
        <p:nvSpPr>
          <p:cNvPr id="34" name="Forma 34"/>
          <p:cNvSpPr/>
          <p:nvPr/>
        </p:nvSpPr>
        <p:spPr>
          <a:xfrm>
            <a:off x="3913632" y="3977640"/>
            <a:ext cx="118872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AC01: 0 casos de stock negativo</a:t>
            </a:r>
          </a:p>
        </p:txBody>
      </p:sp>
      <p:cxnSp>
        <p:nvCxnSpPr>
          <p:cNvPr id="35" name="Linea 35"/>
          <p:cNvCxnSpPr/>
          <p:nvPr/>
        </p:nvCxnSpPr>
        <p:spPr>
          <a:xfrm>
            <a:off x="5193792" y="3566160"/>
            <a:ext cx="210312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6" name="Forma 36"/>
          <p:cNvSpPr/>
          <p:nvPr/>
        </p:nvSpPr>
        <p:spPr>
          <a:xfrm>
            <a:off x="5404104" y="2194560"/>
            <a:ext cx="1371600" cy="2743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7" name="Forma 37"/>
          <p:cNvSpPr/>
          <p:nvPr/>
        </p:nvSpPr>
        <p:spPr>
          <a:xfrm>
            <a:off x="5495544" y="23042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60" dirty="0">
                <a:solidFill>
                  <a:srgbClr val="FF665A"/>
                </a:solidFill>
                <a:latin typeface="Segoe UI"/>
                <a:cs typeface="Segoe UI"/>
              </a:rPr>
              <a:t>DRIVER</a:t>
            </a:r>
          </a:p>
        </p:txBody>
      </p:sp>
      <p:sp>
        <p:nvSpPr>
          <p:cNvPr id="38" name="Forma 38"/>
          <p:cNvSpPr/>
          <p:nvPr/>
        </p:nvSpPr>
        <p:spPr>
          <a:xfrm>
            <a:off x="5495544" y="2651760"/>
            <a:ext cx="1188720" cy="1463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F5EBD8"/>
                </a:solidFill>
                <a:latin typeface="Segoe UI"/>
                <a:cs typeface="Segoe UI"/>
              </a:rPr>
              <a:t>Evitar la sobreventa</a:t>
            </a:r>
          </a:p>
        </p:txBody>
      </p:sp>
      <p:sp>
        <p:nvSpPr>
          <p:cNvPr id="39" name="Forma 39"/>
          <p:cNvSpPr/>
          <p:nvPr/>
        </p:nvSpPr>
        <p:spPr>
          <a:xfrm>
            <a:off x="5495544" y="3977640"/>
            <a:ext cx="118872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DA01</a:t>
            </a:r>
          </a:p>
        </p:txBody>
      </p:sp>
      <p:cxnSp>
        <p:nvCxnSpPr>
          <p:cNvPr id="40" name="Linea 40"/>
          <p:cNvCxnSpPr/>
          <p:nvPr/>
        </p:nvCxnSpPr>
        <p:spPr>
          <a:xfrm>
            <a:off x="6775704" y="3566160"/>
            <a:ext cx="210312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41" name="Forma 41"/>
          <p:cNvSpPr/>
          <p:nvPr/>
        </p:nvSpPr>
        <p:spPr>
          <a:xfrm>
            <a:off x="6986016" y="2194560"/>
            <a:ext cx="1371600" cy="2743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2" name="Forma 42"/>
          <p:cNvSpPr/>
          <p:nvPr/>
        </p:nvSpPr>
        <p:spPr>
          <a:xfrm>
            <a:off x="7077456" y="23042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60" dirty="0">
                <a:solidFill>
                  <a:srgbClr val="FF665A"/>
                </a:solidFill>
                <a:latin typeface="Segoe UI"/>
                <a:cs typeface="Segoe UI"/>
              </a:rPr>
              <a:t>DECISIONES</a:t>
            </a:r>
          </a:p>
        </p:txBody>
      </p:sp>
      <p:sp>
        <p:nvSpPr>
          <p:cNvPr id="43" name="Forma 43"/>
          <p:cNvSpPr/>
          <p:nvPr/>
        </p:nvSpPr>
        <p:spPr>
          <a:xfrm>
            <a:off x="7077456" y="2651760"/>
            <a:ext cx="1188720" cy="1463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F5EBD8"/>
                </a:solidFill>
                <a:latin typeface="Segoe UI"/>
                <a:cs typeface="Segoe UI"/>
              </a:rPr>
              <a:t>Inventario separado, BD propia, reserva temporal y control de concurrencia</a:t>
            </a:r>
          </a:p>
        </p:txBody>
      </p:sp>
      <p:sp>
        <p:nvSpPr>
          <p:cNvPr id="44" name="Forma 44"/>
          <p:cNvSpPr/>
          <p:nvPr/>
        </p:nvSpPr>
        <p:spPr>
          <a:xfrm>
            <a:off x="7077456" y="3977640"/>
            <a:ext cx="118872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AD01 · AD03 · AD08 · AD23</a:t>
            </a:r>
          </a:p>
        </p:txBody>
      </p:sp>
      <p:cxnSp>
        <p:nvCxnSpPr>
          <p:cNvPr id="45" name="Linea 45"/>
          <p:cNvCxnSpPr/>
          <p:nvPr/>
        </p:nvCxnSpPr>
        <p:spPr>
          <a:xfrm>
            <a:off x="8357616" y="3566160"/>
            <a:ext cx="210312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46" name="Forma 46"/>
          <p:cNvSpPr/>
          <p:nvPr/>
        </p:nvSpPr>
        <p:spPr>
          <a:xfrm>
            <a:off x="8567928" y="2194560"/>
            <a:ext cx="1371600" cy="27432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7" name="Forma 47"/>
          <p:cNvSpPr/>
          <p:nvPr/>
        </p:nvSpPr>
        <p:spPr>
          <a:xfrm>
            <a:off x="8659368" y="23042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60" dirty="0">
                <a:solidFill>
                  <a:srgbClr val="FF665A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48" name="Forma 48"/>
          <p:cNvSpPr/>
          <p:nvPr/>
        </p:nvSpPr>
        <p:spPr>
          <a:xfrm>
            <a:off x="8659368" y="2651760"/>
            <a:ext cx="1188720" cy="1463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F5EBD8"/>
                </a:solidFill>
                <a:latin typeface="Segoe UI"/>
                <a:cs typeface="Segoe UI"/>
              </a:rPr>
              <a:t>Servicio de Inventario transaccional</a:t>
            </a:r>
          </a:p>
        </p:txBody>
      </p:sp>
      <p:sp>
        <p:nvSpPr>
          <p:cNvPr id="49" name="Forma 49"/>
          <p:cNvSpPr/>
          <p:nvPr/>
        </p:nvSpPr>
        <p:spPr>
          <a:xfrm>
            <a:off x="8659368" y="3977640"/>
            <a:ext cx="118872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B7B3A8"/>
                </a:solidFill>
                <a:latin typeface="Segoe UI"/>
                <a:cs typeface="Segoe UI"/>
              </a:rPr>
              <a:t>Basada en servicios</a:t>
            </a:r>
          </a:p>
        </p:txBody>
      </p:sp>
      <p:cxnSp>
        <p:nvCxnSpPr>
          <p:cNvPr id="50" name="Linea 50"/>
          <p:cNvCxnSpPr/>
          <p:nvPr/>
        </p:nvCxnSpPr>
        <p:spPr>
          <a:xfrm>
            <a:off x="9939528" y="3566160"/>
            <a:ext cx="210312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51" name="Forma 51"/>
          <p:cNvSpPr/>
          <p:nvPr/>
        </p:nvSpPr>
        <p:spPr>
          <a:xfrm>
            <a:off x="10149840" y="2194560"/>
            <a:ext cx="1371600" cy="2743200"/>
          </a:xfrm>
          <a:prstGeom prst="roundRect">
            <a:avLst>
              <a:gd name="adj" fmla="val 2500"/>
            </a:avLst>
          </a:prstGeom>
          <a:solidFill>
            <a:srgbClr val="36C8D4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52" name="Forma 52"/>
          <p:cNvSpPr/>
          <p:nvPr/>
        </p:nvSpPr>
        <p:spPr>
          <a:xfrm>
            <a:off x="10241280" y="230428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b="1" spc="60" dirty="0">
                <a:solidFill>
                  <a:srgbClr val="0F1A3D"/>
                </a:solidFill>
                <a:latin typeface="Segoe UI"/>
                <a:cs typeface="Segoe UI"/>
              </a:rPr>
              <a:t>SPEC</a:t>
            </a:r>
          </a:p>
        </p:txBody>
      </p:sp>
      <p:sp>
        <p:nvSpPr>
          <p:cNvPr id="53" name="Forma 53"/>
          <p:cNvSpPr/>
          <p:nvPr/>
        </p:nvSpPr>
        <p:spPr>
          <a:xfrm>
            <a:off x="10241280" y="2651760"/>
            <a:ext cx="1188720" cy="1463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b="1" dirty="0">
                <a:solidFill>
                  <a:srgbClr val="0F1A3D"/>
                </a:solidFill>
                <a:latin typeface="Segoe UI"/>
                <a:cs typeface="Segoe UI"/>
              </a:rPr>
              <a:t>Reservas y selección de fuente</a:t>
            </a:r>
          </a:p>
        </p:txBody>
      </p:sp>
      <p:sp>
        <p:nvSpPr>
          <p:cNvPr id="54" name="Forma 54"/>
          <p:cNvSpPr/>
          <p:nvPr/>
        </p:nvSpPr>
        <p:spPr>
          <a:xfrm>
            <a:off x="10241280" y="3977640"/>
            <a:ext cx="118872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b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0F1A3D"/>
                </a:solidFill>
                <a:latin typeface="Segoe UI"/>
                <a:cs typeface="Segoe UI"/>
              </a:rPr>
              <a:t>prefijo SEL</a:t>
            </a:r>
          </a:p>
        </p:txBody>
      </p:sp>
      <p:sp>
        <p:nvSpPr>
          <p:cNvPr id="55" name="Forma 55"/>
          <p:cNvSpPr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400" i="1" dirty="0">
                <a:solidFill>
                  <a:srgbClr val="F5EBD8"/>
                </a:solidFill>
                <a:latin typeface="DM Serif Display"/>
                <a:cs typeface="DM Serif Display"/>
              </a:rPr>
              <a:t>Una necesidad, siete pasos trazables</a:t>
            </a:r>
          </a:p>
        </p:txBody>
      </p:sp>
      <p:sp>
        <p:nvSpPr>
          <p:cNvPr id="56" name="Forma 56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B7B3A8"/>
                </a:solidFill>
                <a:latin typeface="Segoe UI"/>
                <a:cs typeface="Segoe UI"/>
              </a:rPr>
              <a:t>Las 19 specs aprobadas siguen la misma cadena.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22" presetClass="entr" presetSubtype="8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4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SERVICIOS GRUESOS,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CAPAS</a:t>
            </a: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 POR DENTRO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9" name="Forma 19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08 / 14</a:t>
            </a:r>
          </a:p>
        </p:txBody>
      </p:sp>
      <p:sp>
        <p:nvSpPr>
          <p:cNvPr id="20" name="Forma 20"/>
          <p:cNvSpPr/>
          <p:nvPr/>
        </p:nvSpPr>
        <p:spPr>
          <a:xfrm>
            <a:off x="640080" y="1783080"/>
            <a:ext cx="10908792" cy="457200"/>
          </a:xfrm>
          <a:prstGeom prst="roundRect">
            <a:avLst>
              <a:gd name="adj" fmla="val 2500"/>
            </a:avLst>
          </a:prstGeom>
          <a:solidFill>
            <a:srgbClr val="1B2A57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BabelHub.Web · cliente de los servicios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1965960" y="2240280"/>
            <a:ext cx="0" cy="45720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2" name="Forma 22"/>
          <p:cNvSpPr/>
          <p:nvPr/>
        </p:nvSpPr>
        <p:spPr>
          <a:xfrm>
            <a:off x="640080" y="2743200"/>
            <a:ext cx="2651760" cy="11430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777240" y="28346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E-commerce</a:t>
            </a:r>
          </a:p>
        </p:txBody>
      </p:sp>
      <p:sp>
        <p:nvSpPr>
          <p:cNvPr id="24" name="Forma 24"/>
          <p:cNvSpPr/>
          <p:nvPr/>
        </p:nvSpPr>
        <p:spPr>
          <a:xfrm>
            <a:off x="777240" y="32461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catálogo, carrito, pagos, pedidos</a:t>
            </a:r>
          </a:p>
        </p:txBody>
      </p:sp>
      <p:cxnSp>
        <p:nvCxnSpPr>
          <p:cNvPr id="25" name="Linea 25"/>
          <p:cNvCxnSpPr/>
          <p:nvPr/>
        </p:nvCxnSpPr>
        <p:spPr>
          <a:xfrm>
            <a:off x="4745736" y="2240280"/>
            <a:ext cx="0" cy="45720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6" name="Forma 26"/>
          <p:cNvSpPr/>
          <p:nvPr/>
        </p:nvSpPr>
        <p:spPr>
          <a:xfrm>
            <a:off x="3419856" y="2743200"/>
            <a:ext cx="2651760" cy="11430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7" name="Forma 27"/>
          <p:cNvSpPr/>
          <p:nvPr/>
        </p:nvSpPr>
        <p:spPr>
          <a:xfrm>
            <a:off x="3557016" y="28346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Inventario</a:t>
            </a:r>
          </a:p>
        </p:txBody>
      </p:sp>
      <p:sp>
        <p:nvSpPr>
          <p:cNvPr id="28" name="Forma 28"/>
          <p:cNvSpPr/>
          <p:nvPr/>
        </p:nvSpPr>
        <p:spPr>
          <a:xfrm>
            <a:off x="3557016" y="32461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stock, reservas, traslados</a:t>
            </a:r>
          </a:p>
        </p:txBody>
      </p:sp>
      <p:cxnSp>
        <p:nvCxnSpPr>
          <p:cNvPr id="29" name="Linea 29"/>
          <p:cNvCxnSpPr/>
          <p:nvPr/>
        </p:nvCxnSpPr>
        <p:spPr>
          <a:xfrm>
            <a:off x="7525512" y="2240280"/>
            <a:ext cx="0" cy="45720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0" name="Forma 30"/>
          <p:cNvSpPr/>
          <p:nvPr/>
        </p:nvSpPr>
        <p:spPr>
          <a:xfrm>
            <a:off x="6199632" y="2743200"/>
            <a:ext cx="2651760" cy="11430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1" name="Forma 31"/>
          <p:cNvSpPr/>
          <p:nvPr/>
        </p:nvSpPr>
        <p:spPr>
          <a:xfrm>
            <a:off x="6336792" y="28346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Identidad</a:t>
            </a:r>
          </a:p>
        </p:txBody>
      </p:sp>
      <p:sp>
        <p:nvSpPr>
          <p:cNvPr id="32" name="Forma 32"/>
          <p:cNvSpPr/>
          <p:nvPr/>
        </p:nvSpPr>
        <p:spPr>
          <a:xfrm>
            <a:off x="6336792" y="32461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usuarios, roles y sucursal</a:t>
            </a:r>
          </a:p>
        </p:txBody>
      </p:sp>
      <p:cxnSp>
        <p:nvCxnSpPr>
          <p:cNvPr id="33" name="Linea 33"/>
          <p:cNvCxnSpPr/>
          <p:nvPr/>
        </p:nvCxnSpPr>
        <p:spPr>
          <a:xfrm>
            <a:off x="10305288" y="2240280"/>
            <a:ext cx="0" cy="45720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4" name="Forma 34"/>
          <p:cNvSpPr/>
          <p:nvPr/>
        </p:nvSpPr>
        <p:spPr>
          <a:xfrm>
            <a:off x="8979408" y="2743200"/>
            <a:ext cx="2651760" cy="114300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5" name="Forma 35"/>
          <p:cNvSpPr/>
          <p:nvPr/>
        </p:nvSpPr>
        <p:spPr>
          <a:xfrm>
            <a:off x="9116568" y="28346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700" dirty="0">
                <a:solidFill>
                  <a:srgbClr val="F5EBD8"/>
                </a:solidFill>
                <a:latin typeface="DM Serif Display"/>
                <a:cs typeface="DM Serif Display"/>
              </a:rPr>
              <a:t>Asistente</a:t>
            </a:r>
          </a:p>
        </p:txBody>
      </p:sp>
      <p:sp>
        <p:nvSpPr>
          <p:cNvPr id="36" name="Forma 36"/>
          <p:cNvSpPr/>
          <p:nvPr/>
        </p:nvSpPr>
        <p:spPr>
          <a:xfrm>
            <a:off x="9116568" y="3246120"/>
            <a:ext cx="237744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dirty="0">
                <a:solidFill>
                  <a:srgbClr val="B7B3A8"/>
                </a:solidFill>
                <a:latin typeface="Segoe UI"/>
                <a:cs typeface="Segoe UI"/>
              </a:rPr>
              <a:t>recomienda, solo lectura</a:t>
            </a:r>
          </a:p>
        </p:txBody>
      </p:sp>
      <p:sp>
        <p:nvSpPr>
          <p:cNvPr id="37" name="Forma 37"/>
          <p:cNvSpPr/>
          <p:nvPr/>
        </p:nvSpPr>
        <p:spPr>
          <a:xfrm>
            <a:off x="640080" y="41148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spc="60" dirty="0">
                <a:solidFill>
                  <a:srgbClr val="B7B3A8"/>
                </a:solidFill>
                <a:latin typeface="Segoe UI"/>
                <a:cs typeface="Segoe UI"/>
              </a:rPr>
              <a:t>DENTRO DE CADA SERVICIO: CLEAN ARCHITECTURE</a:t>
            </a:r>
          </a:p>
        </p:txBody>
      </p:sp>
      <p:sp>
        <p:nvSpPr>
          <p:cNvPr id="38" name="Forma 38"/>
          <p:cNvSpPr/>
          <p:nvPr/>
        </p:nvSpPr>
        <p:spPr>
          <a:xfrm>
            <a:off x="640080" y="4434840"/>
            <a:ext cx="4754880" cy="402336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Presentación / Api</a:t>
            </a:r>
          </a:p>
        </p:txBody>
      </p:sp>
      <p:sp>
        <p:nvSpPr>
          <p:cNvPr id="39" name="Forma 39"/>
          <p:cNvSpPr/>
          <p:nvPr/>
        </p:nvSpPr>
        <p:spPr>
          <a:xfrm>
            <a:off x="640080" y="4892040"/>
            <a:ext cx="4754880" cy="402336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Aplicación · casos de uso y puertos</a:t>
            </a:r>
          </a:p>
        </p:txBody>
      </p:sp>
      <p:sp>
        <p:nvSpPr>
          <p:cNvPr id="40" name="Forma 40"/>
          <p:cNvSpPr/>
          <p:nvPr/>
        </p:nvSpPr>
        <p:spPr>
          <a:xfrm>
            <a:off x="640080" y="5349240"/>
            <a:ext cx="4754880" cy="402336"/>
          </a:xfrm>
          <a:prstGeom prst="roundRect">
            <a:avLst>
              <a:gd name="adj" fmla="val 2500"/>
            </a:avLst>
          </a:prstGeom>
          <a:solidFill>
            <a:srgbClr val="FF665A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172554"/>
                </a:solidFill>
                <a:latin typeface="Segoe UI"/>
                <a:cs typeface="Segoe UI"/>
              </a:rPr>
              <a:t>Dominio · reglas del negocio</a:t>
            </a:r>
          </a:p>
        </p:txBody>
      </p:sp>
      <p:sp>
        <p:nvSpPr>
          <p:cNvPr id="41" name="Forma 41"/>
          <p:cNvSpPr/>
          <p:nvPr/>
        </p:nvSpPr>
        <p:spPr>
          <a:xfrm>
            <a:off x="640080" y="5806440"/>
            <a:ext cx="4754880" cy="402336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Infraestructura · implementa los puertos</a:t>
            </a:r>
          </a:p>
        </p:txBody>
      </p:sp>
      <p:cxnSp>
        <p:nvCxnSpPr>
          <p:cNvPr id="42" name="Linea 42"/>
          <p:cNvCxnSpPr/>
          <p:nvPr/>
        </p:nvCxnSpPr>
        <p:spPr>
          <a:xfrm>
            <a:off x="5669280" y="4480560"/>
            <a:ext cx="0" cy="169164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43" name="Forma 43"/>
          <p:cNvSpPr/>
          <p:nvPr/>
        </p:nvSpPr>
        <p:spPr>
          <a:xfrm>
            <a:off x="5760720" y="502920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36C8D4"/>
                </a:solidFill>
                <a:latin typeface="Segoe UI"/>
                <a:cs typeface="Segoe UI"/>
              </a:rPr>
              <a:t>hacia el dominio</a:t>
            </a:r>
          </a:p>
        </p:txBody>
      </p:sp>
      <p:sp>
        <p:nvSpPr>
          <p:cNvPr id="44" name="Forma 44"/>
          <p:cNvSpPr/>
          <p:nvPr/>
        </p:nvSpPr>
        <p:spPr>
          <a:xfrm>
            <a:off x="6766560" y="4160520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FF665A"/>
                </a:solidFill>
                <a:latin typeface="Segoe UI"/>
                <a:cs typeface="Segoe UI"/>
              </a:rPr>
              <a:t>Basada en servicios</a:t>
            </a:r>
            <a:r>
              <a:rPr lang="es-PE" sz="1500" dirty="0">
                <a:solidFill>
                  <a:srgbClr val="F5EBD8"/>
                </a:solidFill>
                <a:latin typeface="Segoe UI"/>
                <a:cs typeface="Segoe UI"/>
              </a:rPr>
              <a:t> de granularidad gruesa, con </a:t>
            </a:r>
            <a:r>
              <a:rPr lang="es-PE" sz="1500" b="1" dirty="0">
                <a:solidFill>
                  <a:srgbClr val="FF665A"/>
                </a:solidFill>
                <a:latin typeface="Segoe UI"/>
                <a:cs typeface="Segoe UI"/>
              </a:rPr>
              <a:t>REST síncrono</a:t>
            </a:r>
            <a:r>
              <a:rPr lang="es-PE" sz="1500" dirty="0">
                <a:solidFill>
                  <a:srgbClr val="F5EBD8"/>
                </a:solidFill>
                <a:latin typeface="Segoe UI"/>
                <a:cs typeface="Segoe UI"/>
              </a:rPr>
              <a:t> y una base de datos por sistema.</a:t>
            </a:r>
          </a:p>
        </p:txBody>
      </p:sp>
      <p:sp>
        <p:nvSpPr>
          <p:cNvPr id="45" name="Forma 45"/>
          <p:cNvSpPr/>
          <p:nvPr/>
        </p:nvSpPr>
        <p:spPr>
          <a:xfrm>
            <a:off x="6766560" y="5212080"/>
            <a:ext cx="4782312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B7B3A8"/>
                </a:solidFill>
                <a:latin typeface="Segoe UI"/>
                <a:cs typeface="Segoe UI"/>
              </a:rPr>
              <a:t>✕  Monolito: mezcla venta e inventario</a:t>
            </a:r>
          </a:p>
        </p:txBody>
      </p:sp>
      <p:sp>
        <p:nvSpPr>
          <p:cNvPr id="46" name="Forma 46"/>
          <p:cNvSpPr/>
          <p:nvPr/>
        </p:nvSpPr>
        <p:spPr>
          <a:xfrm>
            <a:off x="6766560" y="5577840"/>
            <a:ext cx="4782312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B7B3A8"/>
                </a:solidFill>
                <a:latin typeface="Segoe UI"/>
                <a:cs typeface="Segoe UI"/>
              </a:rPr>
              <a:t>✕  Microservicios finos: no caben en 12 GB</a:t>
            </a:r>
          </a:p>
        </p:txBody>
      </p:sp>
      <p:sp>
        <p:nvSpPr>
          <p:cNvPr id="47" name="Forma 47"/>
          <p:cNvSpPr/>
          <p:nvPr/>
        </p:nvSpPr>
        <p:spPr>
          <a:xfrm>
            <a:off x="6766560" y="5943600"/>
            <a:ext cx="4782312" cy="310896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b="1" dirty="0">
                <a:solidFill>
                  <a:srgbClr val="B7B3A8"/>
                </a:solidFill>
                <a:latin typeface="Segoe UI"/>
                <a:cs typeface="Segoe UI"/>
              </a:rPr>
              <a:t>✕  Eventos: innecesarios a esta escala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4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TRES NIVELES DE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ZOOM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B7B3A8"/>
                </a:solidFill>
                <a:latin typeface="Segoe UI"/>
                <a:cs typeface="Segoe UI"/>
              </a:rPr>
              <a:t>La misma arquitectura vista desde tres distancias.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20" name="Forma 20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09 / 14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" y="2103120"/>
            <a:ext cx="3474720" cy="36118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2" name="Forma 22"/>
          <p:cNvSpPr/>
          <p:nvPr/>
        </p:nvSpPr>
        <p:spPr>
          <a:xfrm>
            <a:off x="822960" y="21945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NIVEL 1 · CONTEXTO</a:t>
            </a:r>
          </a:p>
        </p:txBody>
      </p:sp>
      <p:sp>
        <p:nvSpPr>
          <p:cNvPr id="23" name="Forma 23"/>
          <p:cNvSpPr/>
          <p:nvPr/>
        </p:nvSpPr>
        <p:spPr>
          <a:xfrm>
            <a:off x="822960" y="4937760"/>
            <a:ext cx="310896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i="1" dirty="0">
                <a:solidFill>
                  <a:srgbClr val="F5EBD8"/>
                </a:solidFill>
                <a:latin typeface="Segoe UI"/>
                <a:cs typeface="Segoe UI"/>
              </a:rPr>
              <a:t>¿Quién usa el sistema y con qué se relaciona?</a:t>
            </a:r>
          </a:p>
        </p:txBody>
      </p:sp>
      <p:sp>
        <p:nvSpPr>
          <p:cNvPr id="24" name="Forma 24"/>
          <p:cNvSpPr/>
          <p:nvPr/>
        </p:nvSpPr>
        <p:spPr>
          <a:xfrm>
            <a:off x="4361688" y="2103120"/>
            <a:ext cx="3474720" cy="36118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5" name="Forma 25"/>
          <p:cNvSpPr/>
          <p:nvPr/>
        </p:nvSpPr>
        <p:spPr>
          <a:xfrm>
            <a:off x="4544568" y="21945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NIVEL 2 · CONTENEDORES</a:t>
            </a:r>
          </a:p>
        </p:txBody>
      </p:sp>
      <p:sp>
        <p:nvSpPr>
          <p:cNvPr id="26" name="Forma 26"/>
          <p:cNvSpPr/>
          <p:nvPr/>
        </p:nvSpPr>
        <p:spPr>
          <a:xfrm>
            <a:off x="4544568" y="4937760"/>
            <a:ext cx="310896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i="1" dirty="0">
                <a:solidFill>
                  <a:srgbClr val="F5EBD8"/>
                </a:solidFill>
                <a:latin typeface="Segoe UI"/>
                <a:cs typeface="Segoe UI"/>
              </a:rPr>
              <a:t>¿Qué piezas se despliegan?</a:t>
            </a:r>
          </a:p>
        </p:txBody>
      </p:sp>
      <p:sp>
        <p:nvSpPr>
          <p:cNvPr id="27" name="Forma 27"/>
          <p:cNvSpPr/>
          <p:nvPr/>
        </p:nvSpPr>
        <p:spPr>
          <a:xfrm>
            <a:off x="8083296" y="2103120"/>
            <a:ext cx="3474720" cy="36118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8" name="Forma 28"/>
          <p:cNvSpPr/>
          <p:nvPr/>
        </p:nvSpPr>
        <p:spPr>
          <a:xfrm>
            <a:off x="8266176" y="21945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NIVEL 3 · COMPONENTES</a:t>
            </a:r>
          </a:p>
        </p:txBody>
      </p:sp>
      <p:sp>
        <p:nvSpPr>
          <p:cNvPr id="29" name="Forma 29"/>
          <p:cNvSpPr/>
          <p:nvPr/>
        </p:nvSpPr>
        <p:spPr>
          <a:xfrm>
            <a:off x="8266176" y="4937760"/>
            <a:ext cx="3108960" cy="6858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i="1" dirty="0">
                <a:solidFill>
                  <a:srgbClr val="F5EBD8"/>
                </a:solidFill>
                <a:latin typeface="Segoe UI"/>
                <a:cs typeface="Segoe UI"/>
              </a:rPr>
              <a:t>¿Qué módulos tiene cada servicio?</a:t>
            </a:r>
          </a:p>
        </p:txBody>
      </p:sp>
      <p:cxnSp>
        <p:nvCxnSpPr>
          <p:cNvPr id="30" name="Linea 30"/>
          <p:cNvCxnSpPr/>
          <p:nvPr/>
        </p:nvCxnSpPr>
        <p:spPr>
          <a:xfrm>
            <a:off x="1170432" y="3246120"/>
            <a:ext cx="1207008" cy="457200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1" name="Forma 31"/>
          <p:cNvSpPr/>
          <p:nvPr/>
        </p:nvSpPr>
        <p:spPr>
          <a:xfrm>
            <a:off x="841248" y="2743200"/>
            <a:ext cx="676656" cy="50292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F5EBD8"/>
                </a:solidFill>
                <a:latin typeface="Segoe UI"/>
                <a:cs typeface="Segoe UI"/>
              </a:rPr>
              <a:t>Cliente</a:t>
            </a:r>
          </a:p>
        </p:txBody>
      </p:sp>
      <p:cxnSp>
        <p:nvCxnSpPr>
          <p:cNvPr id="32" name="Linea 32"/>
          <p:cNvCxnSpPr/>
          <p:nvPr/>
        </p:nvCxnSpPr>
        <p:spPr>
          <a:xfrm>
            <a:off x="1947672" y="3246120"/>
            <a:ext cx="429768" cy="457200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3" name="Forma 33"/>
          <p:cNvSpPr/>
          <p:nvPr/>
        </p:nvSpPr>
        <p:spPr>
          <a:xfrm>
            <a:off x="1618488" y="2743200"/>
            <a:ext cx="676656" cy="50292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F5EBD8"/>
                </a:solidFill>
                <a:latin typeface="Segoe UI"/>
                <a:cs typeface="Segoe UI"/>
              </a:rPr>
              <a:t>Sucursal</a:t>
            </a:r>
          </a:p>
        </p:txBody>
      </p:sp>
      <p:cxnSp>
        <p:nvCxnSpPr>
          <p:cNvPr id="34" name="Linea 34"/>
          <p:cNvCxnSpPr/>
          <p:nvPr/>
        </p:nvCxnSpPr>
        <p:spPr>
          <a:xfrm flipH="1">
            <a:off x="2377440" y="3246120"/>
            <a:ext cx="347472" cy="457200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5" name="Forma 35"/>
          <p:cNvSpPr/>
          <p:nvPr/>
        </p:nvSpPr>
        <p:spPr>
          <a:xfrm>
            <a:off x="2395728" y="2743200"/>
            <a:ext cx="676656" cy="50292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F5EBD8"/>
                </a:solidFill>
                <a:latin typeface="Segoe UI"/>
                <a:cs typeface="Segoe UI"/>
              </a:rPr>
              <a:t>Logíst.</a:t>
            </a:r>
          </a:p>
        </p:txBody>
      </p:sp>
      <p:cxnSp>
        <p:nvCxnSpPr>
          <p:cNvPr id="36" name="Linea 36"/>
          <p:cNvCxnSpPr/>
          <p:nvPr/>
        </p:nvCxnSpPr>
        <p:spPr>
          <a:xfrm flipH="1">
            <a:off x="2377440" y="3246120"/>
            <a:ext cx="1124712" cy="457200"/>
          </a:xfrm>
          <a:prstGeom prst="line">
            <a:avLst/>
          </a:prstGeom>
          <a:ln w="15875" cap="rnd">
            <a:solidFill>
              <a:srgbClr val="36C8D4"/>
            </a:solidFill>
            <a:round/>
          </a:ln>
        </p:spPr>
      </p:cxnSp>
      <p:sp>
        <p:nvSpPr>
          <p:cNvPr id="37" name="Forma 37"/>
          <p:cNvSpPr/>
          <p:nvPr/>
        </p:nvSpPr>
        <p:spPr>
          <a:xfrm>
            <a:off x="3172968" y="2743200"/>
            <a:ext cx="676656" cy="50292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F5EBD8"/>
                </a:solidFill>
                <a:latin typeface="Segoe UI"/>
                <a:cs typeface="Segoe UI"/>
              </a:rPr>
              <a:t>Admin</a:t>
            </a:r>
          </a:p>
        </p:txBody>
      </p:sp>
      <p:sp>
        <p:nvSpPr>
          <p:cNvPr id="38" name="Forma 38"/>
          <p:cNvSpPr/>
          <p:nvPr/>
        </p:nvSpPr>
        <p:spPr>
          <a:xfrm>
            <a:off x="1691640" y="3657600"/>
            <a:ext cx="1371600" cy="685800"/>
          </a:xfrm>
          <a:prstGeom prst="ellipse">
            <a:avLst/>
          </a:prstGeom>
          <a:solidFill>
            <a:srgbClr val="FF665A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00" b="1" dirty="0">
                <a:solidFill>
                  <a:srgbClr val="172554"/>
                </a:solidFill>
                <a:latin typeface="Segoe UI"/>
                <a:cs typeface="Segoe UI"/>
              </a:rPr>
              <a:t>BabelHub</a:t>
            </a:r>
          </a:p>
        </p:txBody>
      </p:sp>
      <p:cxnSp>
        <p:nvCxnSpPr>
          <p:cNvPr id="39" name="Linea 39"/>
          <p:cNvCxnSpPr/>
          <p:nvPr/>
        </p:nvCxnSpPr>
        <p:spPr>
          <a:xfrm flipH="1">
            <a:off x="1325880" y="4343400"/>
            <a:ext cx="1051560" cy="228600"/>
          </a:xfrm>
          <a:prstGeom prst="line">
            <a:avLst/>
          </a:prstGeom>
          <a:ln w="15875" cap="rnd">
            <a:solidFill>
              <a:srgbClr val="A9E85E"/>
            </a:solidFill>
            <a:round/>
          </a:ln>
        </p:spPr>
      </p:cxnSp>
      <p:sp>
        <p:nvSpPr>
          <p:cNvPr id="40" name="Forma 40"/>
          <p:cNvSpPr/>
          <p:nvPr/>
        </p:nvSpPr>
        <p:spPr>
          <a:xfrm>
            <a:off x="960120" y="4572000"/>
            <a:ext cx="777240" cy="292608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A9E85E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00" dirty="0">
                <a:solidFill>
                  <a:srgbClr val="F5EBD8"/>
                </a:solidFill>
                <a:latin typeface="Segoe UI"/>
                <a:cs typeface="Segoe UI"/>
              </a:rPr>
              <a:t>Culqi</a:t>
            </a:r>
          </a:p>
        </p:txBody>
      </p:sp>
      <p:cxnSp>
        <p:nvCxnSpPr>
          <p:cNvPr id="41" name="Linea 41"/>
          <p:cNvCxnSpPr/>
          <p:nvPr/>
        </p:nvCxnSpPr>
        <p:spPr>
          <a:xfrm flipH="1">
            <a:off x="2331720" y="4343400"/>
            <a:ext cx="45720" cy="228600"/>
          </a:xfrm>
          <a:prstGeom prst="line">
            <a:avLst/>
          </a:prstGeom>
          <a:ln w="15875" cap="rnd">
            <a:solidFill>
              <a:srgbClr val="A9E85E"/>
            </a:solidFill>
            <a:round/>
          </a:ln>
        </p:spPr>
      </p:cxnSp>
      <p:sp>
        <p:nvSpPr>
          <p:cNvPr id="42" name="Forma 42"/>
          <p:cNvSpPr/>
          <p:nvPr/>
        </p:nvSpPr>
        <p:spPr>
          <a:xfrm>
            <a:off x="1965960" y="4572000"/>
            <a:ext cx="777240" cy="292608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A9E85E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00" dirty="0">
                <a:solidFill>
                  <a:srgbClr val="F5EBD8"/>
                </a:solidFill>
                <a:latin typeface="Segoe UI"/>
                <a:cs typeface="Segoe UI"/>
              </a:rPr>
              <a:t>WhatsApp</a:t>
            </a:r>
          </a:p>
        </p:txBody>
      </p:sp>
      <p:cxnSp>
        <p:nvCxnSpPr>
          <p:cNvPr id="43" name="Linea 43"/>
          <p:cNvCxnSpPr/>
          <p:nvPr/>
        </p:nvCxnSpPr>
        <p:spPr>
          <a:xfrm>
            <a:off x="2377440" y="4343400"/>
            <a:ext cx="960120" cy="228600"/>
          </a:xfrm>
          <a:prstGeom prst="line">
            <a:avLst/>
          </a:prstGeom>
          <a:ln w="15875" cap="rnd">
            <a:solidFill>
              <a:srgbClr val="A9E85E"/>
            </a:solidFill>
            <a:round/>
          </a:ln>
        </p:spPr>
      </p:cxnSp>
      <p:sp>
        <p:nvSpPr>
          <p:cNvPr id="44" name="Forma 44"/>
          <p:cNvSpPr/>
          <p:nvPr/>
        </p:nvSpPr>
        <p:spPr>
          <a:xfrm>
            <a:off x="2971800" y="4572000"/>
            <a:ext cx="777240" cy="292608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A9E85E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00" dirty="0">
                <a:solidFill>
                  <a:srgbClr val="F5EBD8"/>
                </a:solidFill>
                <a:latin typeface="Segoe UI"/>
                <a:cs typeface="Segoe UI"/>
              </a:rPr>
              <a:t>Almacén</a:t>
            </a:r>
          </a:p>
        </p:txBody>
      </p:sp>
      <p:sp>
        <p:nvSpPr>
          <p:cNvPr id="45" name="Forma 45"/>
          <p:cNvSpPr/>
          <p:nvPr/>
        </p:nvSpPr>
        <p:spPr>
          <a:xfrm>
            <a:off x="4590288" y="2651760"/>
            <a:ext cx="914400" cy="50292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F5EBD8"/>
                </a:solidFill>
                <a:latin typeface="Segoe UI"/>
                <a:cs typeface="Segoe UI"/>
              </a:rPr>
              <a:t>Web</a:t>
            </a:r>
          </a:p>
        </p:txBody>
      </p:sp>
      <p:sp>
        <p:nvSpPr>
          <p:cNvPr id="46" name="Forma 46"/>
          <p:cNvSpPr/>
          <p:nvPr/>
        </p:nvSpPr>
        <p:spPr>
          <a:xfrm>
            <a:off x="5614416" y="2651760"/>
            <a:ext cx="914400" cy="50292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F5EBD8"/>
                </a:solidFill>
                <a:latin typeface="Segoe UI"/>
                <a:cs typeface="Segoe UI"/>
              </a:rPr>
              <a:t>E-commerce</a:t>
            </a:r>
          </a:p>
        </p:txBody>
      </p:sp>
      <p:sp>
        <p:nvSpPr>
          <p:cNvPr id="47" name="Forma 47"/>
          <p:cNvSpPr/>
          <p:nvPr/>
        </p:nvSpPr>
        <p:spPr>
          <a:xfrm>
            <a:off x="6638544" y="2651760"/>
            <a:ext cx="914400" cy="50292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28575">
            <a:solidFill>
              <a:srgbClr val="FF665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F5EBD8"/>
                </a:solidFill>
                <a:latin typeface="Segoe UI"/>
                <a:cs typeface="Segoe UI"/>
              </a:rPr>
              <a:t>Inventario</a:t>
            </a:r>
          </a:p>
        </p:txBody>
      </p:sp>
      <p:sp>
        <p:nvSpPr>
          <p:cNvPr id="48" name="Forma 48"/>
          <p:cNvSpPr/>
          <p:nvPr/>
        </p:nvSpPr>
        <p:spPr>
          <a:xfrm>
            <a:off x="4590288" y="3310128"/>
            <a:ext cx="914400" cy="50292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F5EBD8"/>
                </a:solidFill>
                <a:latin typeface="Segoe UI"/>
                <a:cs typeface="Segoe UI"/>
              </a:rPr>
              <a:t>Identidad</a:t>
            </a:r>
          </a:p>
        </p:txBody>
      </p:sp>
      <p:sp>
        <p:nvSpPr>
          <p:cNvPr id="49" name="Forma 49"/>
          <p:cNvSpPr/>
          <p:nvPr/>
        </p:nvSpPr>
        <p:spPr>
          <a:xfrm>
            <a:off x="5614416" y="3310128"/>
            <a:ext cx="914400" cy="50292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F5EBD8"/>
                </a:solidFill>
                <a:latin typeface="Segoe UI"/>
                <a:cs typeface="Segoe UI"/>
              </a:rPr>
              <a:t>Asistente</a:t>
            </a:r>
          </a:p>
        </p:txBody>
      </p:sp>
      <p:sp>
        <p:nvSpPr>
          <p:cNvPr id="50" name="Forma 50"/>
          <p:cNvSpPr/>
          <p:nvPr/>
        </p:nvSpPr>
        <p:spPr>
          <a:xfrm>
            <a:off x="6638544" y="3310128"/>
            <a:ext cx="914400" cy="50292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F5EBD8"/>
                </a:solidFill>
                <a:latin typeface="Segoe UI"/>
                <a:cs typeface="Segoe UI"/>
              </a:rPr>
              <a:t>Redis</a:t>
            </a:r>
          </a:p>
        </p:txBody>
      </p:sp>
      <p:sp>
        <p:nvSpPr>
          <p:cNvPr id="51" name="Forma 51"/>
          <p:cNvSpPr/>
          <p:nvPr/>
        </p:nvSpPr>
        <p:spPr>
          <a:xfrm>
            <a:off x="4590288" y="4160520"/>
            <a:ext cx="1463040" cy="45720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F5EBD8"/>
                </a:solidFill>
                <a:latin typeface="Segoe UI"/>
                <a:cs typeface="Segoe UI"/>
              </a:rPr>
              <a:t>PostgreSQL Ventas</a:t>
            </a:r>
          </a:p>
        </p:txBody>
      </p:sp>
      <p:sp>
        <p:nvSpPr>
          <p:cNvPr id="52" name="Forma 52"/>
          <p:cNvSpPr/>
          <p:nvPr/>
        </p:nvSpPr>
        <p:spPr>
          <a:xfrm>
            <a:off x="6144768" y="4160520"/>
            <a:ext cx="1463040" cy="45720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28575">
            <a:solidFill>
              <a:srgbClr val="FF665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950" dirty="0">
                <a:solidFill>
                  <a:srgbClr val="F5EBD8"/>
                </a:solidFill>
                <a:latin typeface="Segoe UI"/>
                <a:cs typeface="Segoe UI"/>
              </a:rPr>
              <a:t>PostgreSQL Inventario</a:t>
            </a:r>
          </a:p>
        </p:txBody>
      </p:sp>
      <p:sp>
        <p:nvSpPr>
          <p:cNvPr id="53" name="Forma 53"/>
          <p:cNvSpPr/>
          <p:nvPr/>
        </p:nvSpPr>
        <p:spPr>
          <a:xfrm>
            <a:off x="8302752" y="2651760"/>
            <a:ext cx="1417320" cy="68580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Fuentes</a:t>
            </a:r>
          </a:p>
        </p:txBody>
      </p:sp>
      <p:sp>
        <p:nvSpPr>
          <p:cNvPr id="54" name="Forma 54"/>
          <p:cNvSpPr/>
          <p:nvPr/>
        </p:nvSpPr>
        <p:spPr>
          <a:xfrm>
            <a:off x="9857232" y="2651760"/>
            <a:ext cx="1417320" cy="68580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28575">
            <a:solidFill>
              <a:srgbClr val="FF665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Reservas</a:t>
            </a:r>
          </a:p>
        </p:txBody>
      </p:sp>
      <p:sp>
        <p:nvSpPr>
          <p:cNvPr id="55" name="Forma 55"/>
          <p:cNvSpPr/>
          <p:nvPr/>
        </p:nvSpPr>
        <p:spPr>
          <a:xfrm>
            <a:off x="8302752" y="3520440"/>
            <a:ext cx="1417320" cy="68580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Traslados</a:t>
            </a:r>
          </a:p>
        </p:txBody>
      </p:sp>
      <p:sp>
        <p:nvSpPr>
          <p:cNvPr id="56" name="Forma 56"/>
          <p:cNvSpPr/>
          <p:nvPr/>
        </p:nvSpPr>
        <p:spPr>
          <a:xfrm>
            <a:off x="9857232" y="3520440"/>
            <a:ext cx="1417320" cy="685800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Ajustes</a:t>
            </a:r>
          </a:p>
        </p:txBody>
      </p:sp>
      <p:sp>
        <p:nvSpPr>
          <p:cNvPr id="57" name="Forma 57"/>
          <p:cNvSpPr/>
          <p:nvPr/>
        </p:nvSpPr>
        <p:spPr>
          <a:xfrm>
            <a:off x="8302752" y="4480560"/>
            <a:ext cx="2971800" cy="384048"/>
          </a:xfrm>
          <a:prstGeom prst="roundRect">
            <a:avLst>
              <a:gd name="adj" fmla="val 2500"/>
            </a:avLst>
          </a:prstGeom>
          <a:solidFill>
            <a:srgbClr val="1B2A57"/>
          </a:solidFill>
          <a:ln w="12700">
            <a:solidFill>
              <a:srgbClr val="36457A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F5EBD8"/>
                </a:solidFill>
                <a:latin typeface="Segoe UI"/>
                <a:cs typeface="Segoe UI"/>
              </a:rPr>
              <a:t>Puertos → Infraestructura</a:t>
            </a:r>
          </a:p>
        </p:txBody>
      </p:sp>
      <p:sp>
        <p:nvSpPr>
          <p:cNvPr id="58" name="Forma 58"/>
          <p:cNvSpPr/>
          <p:nvPr/>
        </p:nvSpPr>
        <p:spPr>
          <a:xfrm>
            <a:off x="640080" y="5852160"/>
            <a:ext cx="1088136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B7B3A8"/>
                </a:solidFill>
                <a:latin typeface="Segoe UI"/>
                <a:cs typeface="Segoe UI"/>
              </a:rPr>
              <a:t>Los componentes del nivel 3 son módulos, no clases: cada uno corresponde a una spec.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2" presetClass="entr" presetSubtype="4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4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4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4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presetSubtype="4" fill="hold" nodeType="withEffect">
                                  <p:stCondLst>
                                    <p:cond delay="19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20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228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252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26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276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288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312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32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336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348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360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CADA TÁCTICA PROTEGE UN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ATRIBUTO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9" name="Forma 19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10 / 14</a:t>
            </a:r>
          </a:p>
        </p:txBody>
      </p:sp>
      <p:sp>
        <p:nvSpPr>
          <p:cNvPr id="20" name="Forma 20"/>
          <p:cNvSpPr/>
          <p:nvPr/>
        </p:nvSpPr>
        <p:spPr>
          <a:xfrm>
            <a:off x="640080" y="178308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1" name="Forma 21"/>
          <p:cNvSpPr/>
          <p:nvPr/>
        </p:nvSpPr>
        <p:spPr>
          <a:xfrm>
            <a:off x="822960" y="1965960"/>
            <a:ext cx="128016" cy="128016"/>
          </a:xfrm>
          <a:prstGeom prst="ellipse">
            <a:avLst/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22" name="Forma 22"/>
          <p:cNvSpPr/>
          <p:nvPr/>
        </p:nvSpPr>
        <p:spPr>
          <a:xfrm>
            <a:off x="1051560" y="19019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CONSISTENCIA</a:t>
            </a:r>
          </a:p>
        </p:txBody>
      </p:sp>
      <p:sp>
        <p:nvSpPr>
          <p:cNvPr id="23" name="Forma 23"/>
          <p:cNvSpPr/>
          <p:nvPr/>
        </p:nvSpPr>
        <p:spPr>
          <a:xfrm>
            <a:off x="822960" y="233172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Transacción, actualización condicional e idempotencia</a:t>
            </a:r>
          </a:p>
        </p:txBody>
      </p:sp>
      <p:sp>
        <p:nvSpPr>
          <p:cNvPr id="24" name="Forma 24"/>
          <p:cNvSpPr/>
          <p:nvPr/>
        </p:nvSpPr>
        <p:spPr>
          <a:xfrm>
            <a:off x="4361688" y="178308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5" name="Forma 25"/>
          <p:cNvSpPr/>
          <p:nvPr/>
        </p:nvSpPr>
        <p:spPr>
          <a:xfrm>
            <a:off x="4544568" y="1965960"/>
            <a:ext cx="128016" cy="128016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26" name="Forma 26"/>
          <p:cNvSpPr/>
          <p:nvPr/>
        </p:nvSpPr>
        <p:spPr>
          <a:xfrm>
            <a:off x="4773168" y="19019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RENDIMIENTO</a:t>
            </a:r>
          </a:p>
        </p:txBody>
      </p:sp>
      <p:sp>
        <p:nvSpPr>
          <p:cNvPr id="27" name="Forma 27"/>
          <p:cNvSpPr/>
          <p:nvPr/>
        </p:nvSpPr>
        <p:spPr>
          <a:xfrm>
            <a:off x="4544568" y="233172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Redis, con validación definitiva contra la base al reservar</a:t>
            </a:r>
          </a:p>
        </p:txBody>
      </p:sp>
      <p:sp>
        <p:nvSpPr>
          <p:cNvPr id="28" name="Forma 28"/>
          <p:cNvSpPr/>
          <p:nvPr/>
        </p:nvSpPr>
        <p:spPr>
          <a:xfrm>
            <a:off x="8083296" y="178308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9" name="Forma 29"/>
          <p:cNvSpPr/>
          <p:nvPr/>
        </p:nvSpPr>
        <p:spPr>
          <a:xfrm>
            <a:off x="8266176" y="1965960"/>
            <a:ext cx="128016" cy="128016"/>
          </a:xfrm>
          <a:prstGeom prst="ellipse">
            <a:avLst/>
          </a:prstGeom>
          <a:solidFill>
            <a:srgbClr val="A9E85E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30" name="Forma 30"/>
          <p:cNvSpPr/>
          <p:nvPr/>
        </p:nvSpPr>
        <p:spPr>
          <a:xfrm>
            <a:off x="8494776" y="190195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DISPONIBILIDAD</a:t>
            </a:r>
          </a:p>
        </p:txBody>
      </p:sp>
      <p:sp>
        <p:nvSpPr>
          <p:cNvPr id="31" name="Forma 31"/>
          <p:cNvSpPr/>
          <p:nvPr/>
        </p:nvSpPr>
        <p:spPr>
          <a:xfrm>
            <a:off x="8266176" y="233172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Reinicio automático, degradación controlada y avisos no bloqueantes</a:t>
            </a:r>
          </a:p>
        </p:txBody>
      </p:sp>
      <p:sp>
        <p:nvSpPr>
          <p:cNvPr id="32" name="Forma 32"/>
          <p:cNvSpPr/>
          <p:nvPr/>
        </p:nvSpPr>
        <p:spPr>
          <a:xfrm>
            <a:off x="640080" y="374904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3" name="Forma 33"/>
          <p:cNvSpPr/>
          <p:nvPr/>
        </p:nvSpPr>
        <p:spPr>
          <a:xfrm>
            <a:off x="822960" y="3931920"/>
            <a:ext cx="128016" cy="128016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34" name="Forma 34"/>
          <p:cNvSpPr/>
          <p:nvPr/>
        </p:nvSpPr>
        <p:spPr>
          <a:xfrm>
            <a:off x="1051560" y="386791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SEGURIDAD</a:t>
            </a:r>
          </a:p>
        </p:txBody>
      </p:sp>
      <p:sp>
        <p:nvSpPr>
          <p:cNvPr id="35" name="Forma 35"/>
          <p:cNvSpPr/>
          <p:nvPr/>
        </p:nvSpPr>
        <p:spPr>
          <a:xfrm>
            <a:off x="822960" y="429768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Credencial de 15 min, segundo factor, alcance por sucursal y bases sin puertos publicados</a:t>
            </a:r>
          </a:p>
        </p:txBody>
      </p:sp>
      <p:sp>
        <p:nvSpPr>
          <p:cNvPr id="36" name="Forma 36"/>
          <p:cNvSpPr/>
          <p:nvPr/>
        </p:nvSpPr>
        <p:spPr>
          <a:xfrm>
            <a:off x="4361688" y="374904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7" name="Forma 37"/>
          <p:cNvSpPr/>
          <p:nvPr/>
        </p:nvSpPr>
        <p:spPr>
          <a:xfrm>
            <a:off x="4544568" y="3931920"/>
            <a:ext cx="128016" cy="128016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38" name="Forma 38"/>
          <p:cNvSpPr/>
          <p:nvPr/>
        </p:nvSpPr>
        <p:spPr>
          <a:xfrm>
            <a:off x="4773168" y="386791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CONTENIDO DIGITAL</a:t>
            </a:r>
          </a:p>
        </p:txBody>
      </p:sp>
      <p:sp>
        <p:nvSpPr>
          <p:cNvPr id="39" name="Forma 39"/>
          <p:cNvSpPr/>
          <p:nvPr/>
        </p:nvSpPr>
        <p:spPr>
          <a:xfrm>
            <a:off x="4544568" y="429768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Almacén privado y URL firmada de 5 min, con 5 descargas</a:t>
            </a:r>
          </a:p>
        </p:txBody>
      </p:sp>
      <p:sp>
        <p:nvSpPr>
          <p:cNvPr id="40" name="Forma 40"/>
          <p:cNvSpPr/>
          <p:nvPr/>
        </p:nvSpPr>
        <p:spPr>
          <a:xfrm>
            <a:off x="8083296" y="3749040"/>
            <a:ext cx="3474720" cy="17830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1" name="Forma 41"/>
          <p:cNvSpPr/>
          <p:nvPr/>
        </p:nvSpPr>
        <p:spPr>
          <a:xfrm>
            <a:off x="8266176" y="3931920"/>
            <a:ext cx="128016" cy="128016"/>
          </a:xfrm>
          <a:prstGeom prst="ellipse">
            <a:avLst/>
          </a:prstGeom>
          <a:solidFill>
            <a:srgbClr val="B7B3A8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42" name="Forma 42"/>
          <p:cNvSpPr/>
          <p:nvPr/>
        </p:nvSpPr>
        <p:spPr>
          <a:xfrm>
            <a:off x="8494776" y="3867912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5EBD8"/>
                </a:solidFill>
                <a:latin typeface="Segoe UI"/>
                <a:cs typeface="Segoe UI"/>
              </a:rPr>
              <a:t>MANTENIBILIDAD</a:t>
            </a:r>
          </a:p>
        </p:txBody>
      </p:sp>
      <p:sp>
        <p:nvSpPr>
          <p:cNvPr id="43" name="Forma 43"/>
          <p:cNvSpPr/>
          <p:nvPr/>
        </p:nvSpPr>
        <p:spPr>
          <a:xfrm>
            <a:off x="8266176" y="4297680"/>
            <a:ext cx="31089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Capas, puertos y pruebas de arquitectura</a:t>
            </a:r>
          </a:p>
        </p:txBody>
      </p:sp>
      <p:sp>
        <p:nvSpPr>
          <p:cNvPr id="44" name="Forma 44"/>
          <p:cNvSpPr/>
          <p:nvPr/>
        </p:nvSpPr>
        <p:spPr>
          <a:xfrm>
            <a:off x="2194560" y="5806440"/>
            <a:ext cx="7772400" cy="38404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6457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27 amenazas · 38 controles ASVS · Ley N.° 29733 de datos personales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IMPRESO Y DIGITAL: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REGLAS DISTINTAS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9" name="Forma 19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11 / 14</a:t>
            </a:r>
          </a:p>
        </p:txBody>
      </p:sp>
      <p:sp>
        <p:nvSpPr>
          <p:cNvPr id="20" name="Forma 20"/>
          <p:cNvSpPr/>
          <p:nvPr/>
        </p:nvSpPr>
        <p:spPr>
          <a:xfrm>
            <a:off x="640080" y="1737360"/>
            <a:ext cx="5285232" cy="960120"/>
          </a:xfrm>
          <a:prstGeom prst="roundRect">
            <a:avLst>
              <a:gd name="adj" fmla="val 2500"/>
            </a:avLst>
          </a:prstGeom>
          <a:solidFill>
            <a:srgbClr val="A78BFA"/>
          </a:solidFill>
          <a:ln>
            <a:noFill/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pic>
        <p:nvPicPr>
          <p:cNvPr id="21" name="Imagen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28800"/>
            <a:ext cx="548640" cy="822960"/>
          </a:xfrm>
          <a:prstGeom prst="rect">
            <a:avLst/>
          </a:prstGeom>
        </p:spPr>
      </p:pic>
      <p:sp>
        <p:nvSpPr>
          <p:cNvPr id="22" name="Forma 22"/>
          <p:cNvSpPr/>
          <p:nvPr/>
        </p:nvSpPr>
        <p:spPr>
          <a:xfrm>
            <a:off x="1554480" y="1874520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200" dirty="0">
                <a:solidFill>
                  <a:srgbClr val="0F1A3D"/>
                </a:solidFill>
                <a:latin typeface="DM Serif Display"/>
                <a:cs typeface="DM Serif Display"/>
              </a:rPr>
              <a:t>IMPRESO</a:t>
            </a:r>
          </a:p>
        </p:txBody>
      </p:sp>
      <p:sp>
        <p:nvSpPr>
          <p:cNvPr id="23" name="Forma 23"/>
          <p:cNvSpPr/>
          <p:nvPr/>
        </p:nvSpPr>
        <p:spPr>
          <a:xfrm>
            <a:off x="1554480" y="2331720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0F1A3D"/>
                </a:solidFill>
                <a:latin typeface="Segoe UI"/>
                <a:cs typeface="Segoe UI"/>
              </a:rPr>
              <a:t>Stock, fuentes y traslados</a:t>
            </a:r>
          </a:p>
        </p:txBody>
      </p:sp>
      <p:sp>
        <p:nvSpPr>
          <p:cNvPr id="24" name="Forma 24"/>
          <p:cNvSpPr/>
          <p:nvPr/>
        </p:nvSpPr>
        <p:spPr>
          <a:xfrm>
            <a:off x="914400" y="2926080"/>
            <a:ext cx="473659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Reserva de stock</a:t>
            </a:r>
          </a:p>
        </p:txBody>
      </p:sp>
      <p:cxnSp>
        <p:nvCxnSpPr>
          <p:cNvPr id="25" name="Linea 25"/>
          <p:cNvCxnSpPr/>
          <p:nvPr/>
        </p:nvCxnSpPr>
        <p:spPr>
          <a:xfrm>
            <a:off x="3282696" y="3493008"/>
            <a:ext cx="0" cy="265176"/>
          </a:xfrm>
          <a:prstGeom prst="line">
            <a:avLst/>
          </a:prstGeom>
          <a:ln w="25400" cap="rnd">
            <a:solidFill>
              <a:srgbClr val="A78BFA"/>
            </a:solidFill>
            <a:round/>
            <a:tailEnd type="triangle" w="med" len="med"/>
          </a:ln>
        </p:spPr>
      </p:cxnSp>
      <p:sp>
        <p:nvSpPr>
          <p:cNvPr id="26" name="Forma 26"/>
          <p:cNvSpPr/>
          <p:nvPr/>
        </p:nvSpPr>
        <p:spPr>
          <a:xfrm>
            <a:off x="914400" y="3767328"/>
            <a:ext cx="473659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Selección de fuente</a:t>
            </a:r>
          </a:p>
        </p:txBody>
      </p:sp>
      <p:cxnSp>
        <p:nvCxnSpPr>
          <p:cNvPr id="27" name="Linea 27"/>
          <p:cNvCxnSpPr/>
          <p:nvPr/>
        </p:nvCxnSpPr>
        <p:spPr>
          <a:xfrm>
            <a:off x="3282696" y="4334256"/>
            <a:ext cx="0" cy="265176"/>
          </a:xfrm>
          <a:prstGeom prst="line">
            <a:avLst/>
          </a:prstGeom>
          <a:ln w="25400" cap="rnd">
            <a:solidFill>
              <a:srgbClr val="A78BFA"/>
            </a:solidFill>
            <a:round/>
            <a:tailEnd type="triangle" w="med" len="med"/>
          </a:ln>
        </p:spPr>
      </p:cxnSp>
      <p:sp>
        <p:nvSpPr>
          <p:cNvPr id="28" name="Forma 28"/>
          <p:cNvSpPr/>
          <p:nvPr/>
        </p:nvSpPr>
        <p:spPr>
          <a:xfrm>
            <a:off x="914400" y="4608576"/>
            <a:ext cx="473659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Traslado, si hace falta</a:t>
            </a:r>
          </a:p>
        </p:txBody>
      </p:sp>
      <p:cxnSp>
        <p:nvCxnSpPr>
          <p:cNvPr id="29" name="Linea 29"/>
          <p:cNvCxnSpPr/>
          <p:nvPr/>
        </p:nvCxnSpPr>
        <p:spPr>
          <a:xfrm>
            <a:off x="3282696" y="5175504"/>
            <a:ext cx="0" cy="265176"/>
          </a:xfrm>
          <a:prstGeom prst="line">
            <a:avLst/>
          </a:prstGeom>
          <a:ln w="25400" cap="rnd">
            <a:solidFill>
              <a:srgbClr val="A78BFA"/>
            </a:solidFill>
            <a:round/>
            <a:tailEnd type="triangle" w="med" len="med"/>
          </a:ln>
        </p:spPr>
      </p:cxnSp>
      <p:sp>
        <p:nvSpPr>
          <p:cNvPr id="30" name="Forma 30"/>
          <p:cNvSpPr/>
          <p:nvPr/>
        </p:nvSpPr>
        <p:spPr>
          <a:xfrm>
            <a:off x="914400" y="5449824"/>
            <a:ext cx="473659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Preparación y entrega</a:t>
            </a:r>
          </a:p>
        </p:txBody>
      </p:sp>
      <p:sp>
        <p:nvSpPr>
          <p:cNvPr id="31" name="Forma 31"/>
          <p:cNvSpPr/>
          <p:nvPr/>
        </p:nvSpPr>
        <p:spPr>
          <a:xfrm>
            <a:off x="6263640" y="1737360"/>
            <a:ext cx="5285232" cy="960120"/>
          </a:xfrm>
          <a:prstGeom prst="roundRect">
            <a:avLst>
              <a:gd name="adj" fmla="val 2500"/>
            </a:avLst>
          </a:prstGeom>
          <a:solidFill>
            <a:srgbClr val="36C8D4"/>
          </a:solidFill>
          <a:ln>
            <a:noFill/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pic>
        <p:nvPicPr>
          <p:cNvPr id="32" name="Imagen 3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828800"/>
            <a:ext cx="548640" cy="822960"/>
          </a:xfrm>
          <a:prstGeom prst="rect">
            <a:avLst/>
          </a:prstGeom>
        </p:spPr>
      </p:pic>
      <p:sp>
        <p:nvSpPr>
          <p:cNvPr id="33" name="Forma 33"/>
          <p:cNvSpPr/>
          <p:nvPr/>
        </p:nvSpPr>
        <p:spPr>
          <a:xfrm>
            <a:off x="7178040" y="1874520"/>
            <a:ext cx="420624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200" dirty="0">
                <a:solidFill>
                  <a:srgbClr val="0F1A3D"/>
                </a:solidFill>
                <a:latin typeface="DM Serif Display"/>
                <a:cs typeface="DM Serif Display"/>
              </a:rPr>
              <a:t>DIGITAL</a:t>
            </a:r>
          </a:p>
        </p:txBody>
      </p:sp>
      <p:sp>
        <p:nvSpPr>
          <p:cNvPr id="34" name="Forma 34"/>
          <p:cNvSpPr/>
          <p:nvPr/>
        </p:nvSpPr>
        <p:spPr>
          <a:xfrm>
            <a:off x="7178040" y="2331720"/>
            <a:ext cx="420624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b="1" dirty="0">
                <a:solidFill>
                  <a:srgbClr val="0F1A3D"/>
                </a:solidFill>
                <a:latin typeface="Segoe UI"/>
                <a:cs typeface="Segoe UI"/>
              </a:rPr>
              <a:t>Sin stock, sin reserva, sin traslado</a:t>
            </a:r>
          </a:p>
        </p:txBody>
      </p:sp>
      <p:sp>
        <p:nvSpPr>
          <p:cNvPr id="35" name="Forma 35"/>
          <p:cNvSpPr/>
          <p:nvPr/>
        </p:nvSpPr>
        <p:spPr>
          <a:xfrm>
            <a:off x="6537960" y="2926080"/>
            <a:ext cx="473659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Licencia y territorio vigentes</a:t>
            </a:r>
          </a:p>
        </p:txBody>
      </p:sp>
      <p:cxnSp>
        <p:nvCxnSpPr>
          <p:cNvPr id="36" name="Linea 36"/>
          <p:cNvCxnSpPr/>
          <p:nvPr/>
        </p:nvCxnSpPr>
        <p:spPr>
          <a:xfrm>
            <a:off x="8906256" y="3493008"/>
            <a:ext cx="0" cy="265176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7" name="Forma 37"/>
          <p:cNvSpPr/>
          <p:nvPr/>
        </p:nvSpPr>
        <p:spPr>
          <a:xfrm>
            <a:off x="6537960" y="3767328"/>
            <a:ext cx="473659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Pago aprobado</a:t>
            </a:r>
          </a:p>
        </p:txBody>
      </p:sp>
      <p:cxnSp>
        <p:nvCxnSpPr>
          <p:cNvPr id="38" name="Linea 38"/>
          <p:cNvCxnSpPr/>
          <p:nvPr/>
        </p:nvCxnSpPr>
        <p:spPr>
          <a:xfrm>
            <a:off x="8906256" y="4334256"/>
            <a:ext cx="0" cy="265176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9" name="Forma 39"/>
          <p:cNvSpPr/>
          <p:nvPr/>
        </p:nvSpPr>
        <p:spPr>
          <a:xfrm>
            <a:off x="6537960" y="4608576"/>
            <a:ext cx="473659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Acceso en la biblioteca</a:t>
            </a:r>
          </a:p>
        </p:txBody>
      </p:sp>
      <p:cxnSp>
        <p:nvCxnSpPr>
          <p:cNvPr id="40" name="Linea 40"/>
          <p:cNvCxnSpPr/>
          <p:nvPr/>
        </p:nvCxnSpPr>
        <p:spPr>
          <a:xfrm>
            <a:off x="8906256" y="5175504"/>
            <a:ext cx="0" cy="265176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41" name="Forma 41"/>
          <p:cNvSpPr/>
          <p:nvPr/>
        </p:nvSpPr>
        <p:spPr>
          <a:xfrm>
            <a:off x="6537960" y="5449824"/>
            <a:ext cx="4736592" cy="56692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37160" tIns="137160" rIns="137160" bIns="13716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50" dirty="0">
                <a:solidFill>
                  <a:srgbClr val="F5EBD8"/>
                </a:solidFill>
                <a:latin typeface="Segoe UI"/>
                <a:cs typeface="Segoe UI"/>
              </a:rPr>
              <a:t>Descarga con URL firmada de 5 min (máx. 5)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DOS MÁQUINAS GRATUITAS,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BORDE PROTEGIDO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9" name="Forma 19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12 / 14</a:t>
            </a:r>
          </a:p>
        </p:txBody>
      </p:sp>
      <p:sp>
        <p:nvSpPr>
          <p:cNvPr id="20" name="Forma 20"/>
          <p:cNvSpPr/>
          <p:nvPr/>
        </p:nvSpPr>
        <p:spPr>
          <a:xfrm>
            <a:off x="3108960" y="1737360"/>
            <a:ext cx="5943600" cy="548640"/>
          </a:xfrm>
          <a:prstGeom prst="roundRect">
            <a:avLst>
              <a:gd name="adj" fmla="val 2500"/>
            </a:avLst>
          </a:prstGeom>
          <a:solidFill>
            <a:srgbClr val="36C8D4"/>
          </a:solidFill>
          <a:ln>
            <a:noFill/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00" b="1" dirty="0">
                <a:solidFill>
                  <a:srgbClr val="0F1A3D"/>
                </a:solidFill>
                <a:latin typeface="Segoe UI"/>
                <a:cs typeface="Segoe UI"/>
              </a:rPr>
              <a:t>Cloudflare gratuito · DNS, TLS, WAF y túnel</a:t>
            </a:r>
          </a:p>
        </p:txBody>
      </p:sp>
      <p:cxnSp>
        <p:nvCxnSpPr>
          <p:cNvPr id="21" name="Linea 21"/>
          <p:cNvCxnSpPr/>
          <p:nvPr/>
        </p:nvCxnSpPr>
        <p:spPr>
          <a:xfrm flipH="1">
            <a:off x="3200400" y="2286000"/>
            <a:ext cx="1097280" cy="50292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2" name="Forma 22"/>
          <p:cNvSpPr/>
          <p:nvPr/>
        </p:nvSpPr>
        <p:spPr>
          <a:xfrm>
            <a:off x="640080" y="1691640"/>
            <a:ext cx="2377440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i="1" dirty="0">
                <a:solidFill>
                  <a:srgbClr val="36C8D4"/>
                </a:solidFill>
                <a:latin typeface="Segoe UI"/>
                <a:cs typeface="Segoe UI"/>
              </a:rPr>
              <a:t>túnel saliente: sin puertos de entrada abiertos</a:t>
            </a:r>
          </a:p>
        </p:txBody>
      </p:sp>
      <p:sp>
        <p:nvSpPr>
          <p:cNvPr id="23" name="Forma 23"/>
          <p:cNvSpPr/>
          <p:nvPr/>
        </p:nvSpPr>
        <p:spPr>
          <a:xfrm>
            <a:off x="640080" y="2788920"/>
            <a:ext cx="5852160" cy="26517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F5EBD8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4" name="Forma 24"/>
          <p:cNvSpPr/>
          <p:nvPr/>
        </p:nvSpPr>
        <p:spPr>
          <a:xfrm>
            <a:off x="868680" y="2880360"/>
            <a:ext cx="53949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b="1" dirty="0">
                <a:solidFill>
                  <a:srgbClr val="F5EBD8"/>
                </a:solidFill>
                <a:latin typeface="Segoe UI"/>
                <a:cs typeface="Segoe UI"/>
              </a:rPr>
              <a:t>VM de aplicaciones · ARM, 1 OCPU y 6 GB</a:t>
            </a:r>
          </a:p>
        </p:txBody>
      </p:sp>
      <p:sp>
        <p:nvSpPr>
          <p:cNvPr id="25" name="Forma 25"/>
          <p:cNvSpPr/>
          <p:nvPr/>
        </p:nvSpPr>
        <p:spPr>
          <a:xfrm>
            <a:off x="868680" y="3337560"/>
            <a:ext cx="5394960" cy="566928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Nginx · BabelHub.Web</a:t>
            </a:r>
          </a:p>
        </p:txBody>
      </p:sp>
      <p:sp>
        <p:nvSpPr>
          <p:cNvPr id="26" name="Forma 26"/>
          <p:cNvSpPr/>
          <p:nvPr/>
        </p:nvSpPr>
        <p:spPr>
          <a:xfrm>
            <a:off x="868680" y="4023360"/>
            <a:ext cx="5394960" cy="566928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E-commerce · Inventario · Identidad · Asistente</a:t>
            </a:r>
          </a:p>
        </p:txBody>
      </p:sp>
      <p:sp>
        <p:nvSpPr>
          <p:cNvPr id="27" name="Forma 27"/>
          <p:cNvSpPr/>
          <p:nvPr/>
        </p:nvSpPr>
        <p:spPr>
          <a:xfrm>
            <a:off x="868680" y="4709160"/>
            <a:ext cx="5394960" cy="566928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Redis · n8n + Evolution API (WhatsApp)</a:t>
            </a:r>
          </a:p>
        </p:txBody>
      </p:sp>
      <p:cxnSp>
        <p:nvCxnSpPr>
          <p:cNvPr id="28" name="Linea 28"/>
          <p:cNvCxnSpPr/>
          <p:nvPr/>
        </p:nvCxnSpPr>
        <p:spPr>
          <a:xfrm>
            <a:off x="6492240" y="4114800"/>
            <a:ext cx="548640" cy="0"/>
          </a:xfrm>
          <a:prstGeom prst="line">
            <a:avLst/>
          </a:prstGeom>
          <a:ln w="3175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9" name="Forma 29"/>
          <p:cNvSpPr/>
          <p:nvPr/>
        </p:nvSpPr>
        <p:spPr>
          <a:xfrm>
            <a:off x="6400800" y="3703320"/>
            <a:ext cx="822960" cy="320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dirty="0">
                <a:solidFill>
                  <a:srgbClr val="36C8D4"/>
                </a:solidFill>
                <a:latin typeface="Segoe UI"/>
                <a:cs typeface="Segoe UI"/>
              </a:rPr>
              <a:t>5432</a:t>
            </a:r>
          </a:p>
        </p:txBody>
      </p:sp>
      <p:sp>
        <p:nvSpPr>
          <p:cNvPr id="30" name="Forma 30"/>
          <p:cNvSpPr/>
          <p:nvPr/>
        </p:nvSpPr>
        <p:spPr>
          <a:xfrm>
            <a:off x="7040880" y="2788920"/>
            <a:ext cx="4507992" cy="26517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5400">
            <a:solidFill>
              <a:srgbClr val="FF665A"/>
            </a:solidFill>
            <a:prstDash val="dash"/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1" name="Forma 31"/>
          <p:cNvSpPr/>
          <p:nvPr/>
        </p:nvSpPr>
        <p:spPr>
          <a:xfrm>
            <a:off x="7269480" y="2880360"/>
            <a:ext cx="4023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b="1" dirty="0">
                <a:solidFill>
                  <a:srgbClr val="F5EBD8"/>
                </a:solidFill>
                <a:latin typeface="Segoe UI"/>
                <a:cs typeface="Segoe UI"/>
              </a:rPr>
              <a:t>VM de datos · ARM, 1 OCPU y 6 GB</a:t>
            </a:r>
          </a:p>
        </p:txBody>
      </p:sp>
      <p:sp>
        <p:nvSpPr>
          <p:cNvPr id="32" name="Forma 32"/>
          <p:cNvSpPr/>
          <p:nvPr/>
        </p:nvSpPr>
        <p:spPr>
          <a:xfrm>
            <a:off x="7269480" y="3337560"/>
            <a:ext cx="4050792" cy="566928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PostgreSQL ventas e identidad</a:t>
            </a:r>
          </a:p>
        </p:txBody>
      </p:sp>
      <p:sp>
        <p:nvSpPr>
          <p:cNvPr id="33" name="Forma 33"/>
          <p:cNvSpPr/>
          <p:nvPr/>
        </p:nvSpPr>
        <p:spPr>
          <a:xfrm>
            <a:off x="7269480" y="4023360"/>
            <a:ext cx="4050792" cy="566928"/>
          </a:xfrm>
          <a:prstGeom prst="roundRect">
            <a:avLst>
              <a:gd name="adj" fmla="val 2500"/>
            </a:avLst>
          </a:prstGeom>
          <a:solidFill>
            <a:srgbClr val="0F1A3D"/>
          </a:solidFill>
          <a:ln w="12700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dirty="0">
                <a:solidFill>
                  <a:srgbClr val="F5EBD8"/>
                </a:solidFill>
                <a:latin typeface="Segoe UI"/>
                <a:cs typeface="Segoe UI"/>
              </a:rPr>
              <a:t>PostgreSQL inventario</a:t>
            </a:r>
          </a:p>
        </p:txBody>
      </p:sp>
      <p:sp>
        <p:nvSpPr>
          <p:cNvPr id="34" name="Forma 34"/>
          <p:cNvSpPr/>
          <p:nvPr/>
        </p:nvSpPr>
        <p:spPr>
          <a:xfrm>
            <a:off x="7269480" y="4754880"/>
            <a:ext cx="4050792" cy="6400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F665A"/>
                </a:solidFill>
                <a:latin typeface="Segoe UI"/>
                <a:cs typeface="Segoe UI"/>
              </a:rPr>
              <a:t>Sin acceso desde Internet: el puerto 5432 solo acepta la VM de aplicaciones</a:t>
            </a:r>
          </a:p>
        </p:txBody>
      </p:sp>
      <p:sp>
        <p:nvSpPr>
          <p:cNvPr id="35" name="Forma 35"/>
          <p:cNvSpPr/>
          <p:nvPr/>
        </p:nvSpPr>
        <p:spPr>
          <a:xfrm>
            <a:off x="640080" y="5623560"/>
            <a:ext cx="3474720" cy="65836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A9E85E"/>
            </a:solidFill>
          </a:ln>
        </p:spPr>
        <p:txBody>
          <a:bodyPr wrap="square" lIns="109728" tIns="109728" rIns="109728" bIns="10972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Respaldos cifrados diarios: RPO ≤ 24 h y RTO ≤ 4 h</a:t>
            </a:r>
          </a:p>
        </p:txBody>
      </p:sp>
      <p:sp>
        <p:nvSpPr>
          <p:cNvPr id="36" name="Forma 36"/>
          <p:cNvSpPr/>
          <p:nvPr/>
        </p:nvSpPr>
        <p:spPr>
          <a:xfrm>
            <a:off x="4361688" y="5623560"/>
            <a:ext cx="3474720" cy="65836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A78BFA"/>
            </a:solidFill>
          </a:ln>
        </p:spPr>
        <p:txBody>
          <a:bodyPr wrap="square" lIns="109728" tIns="109728" rIns="109728" bIns="10972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Cuello de botella previsto: la CPU, no la RAM</a:t>
            </a:r>
          </a:p>
        </p:txBody>
      </p:sp>
      <p:sp>
        <p:nvSpPr>
          <p:cNvPr id="37" name="Forma 37"/>
          <p:cNvSpPr/>
          <p:nvPr/>
        </p:nvSpPr>
        <p:spPr>
          <a:xfrm>
            <a:off x="8083296" y="5623560"/>
            <a:ext cx="3474720" cy="658368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22225">
            <a:solidFill>
              <a:srgbClr val="FF665A"/>
            </a:solidFill>
          </a:ln>
        </p:spPr>
        <p:txBody>
          <a:bodyPr wrap="square" lIns="109728" tIns="109728" rIns="109728" bIns="10972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Objetivo k6: p95 &lt; 500 ms con 50 usuarios. Aún no medido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LA DOCUMENTACIÓN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CONECTA TODO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1600200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B7B3A8"/>
                </a:solidFill>
                <a:latin typeface="Segoe UI"/>
                <a:cs typeface="Segoe UI"/>
              </a:rPr>
              <a:t>Requisitos y componentes quedan unidos por una cadena verificable.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20" name="Forma 20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13 / 14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" y="2148840"/>
            <a:ext cx="1627632" cy="17373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2" name="Forma 22"/>
          <p:cNvSpPr/>
          <p:nvPr/>
        </p:nvSpPr>
        <p:spPr>
          <a:xfrm>
            <a:off x="768096" y="224028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Análisis</a:t>
            </a:r>
          </a:p>
        </p:txBody>
      </p:sp>
      <p:sp>
        <p:nvSpPr>
          <p:cNvPr id="23" name="Forma 23"/>
          <p:cNvSpPr/>
          <p:nvPr/>
        </p:nvSpPr>
        <p:spPr>
          <a:xfrm>
            <a:off x="768096" y="2743200"/>
            <a:ext cx="137160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necesidades, requisitos y calidad</a:t>
            </a:r>
          </a:p>
        </p:txBody>
      </p:sp>
      <p:cxnSp>
        <p:nvCxnSpPr>
          <p:cNvPr id="24" name="Linea 24"/>
          <p:cNvCxnSpPr/>
          <p:nvPr/>
        </p:nvCxnSpPr>
        <p:spPr>
          <a:xfrm>
            <a:off x="2267712" y="3017520"/>
            <a:ext cx="219456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5" name="Forma 25"/>
          <p:cNvSpPr/>
          <p:nvPr/>
        </p:nvSpPr>
        <p:spPr>
          <a:xfrm>
            <a:off x="2487168" y="2148840"/>
            <a:ext cx="1627632" cy="17373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6" name="Forma 26"/>
          <p:cNvSpPr/>
          <p:nvPr/>
        </p:nvSpPr>
        <p:spPr>
          <a:xfrm>
            <a:off x="2615184" y="224028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Arquitectura</a:t>
            </a:r>
          </a:p>
        </p:txBody>
      </p:sp>
      <p:sp>
        <p:nvSpPr>
          <p:cNvPr id="27" name="Forma 27"/>
          <p:cNvSpPr/>
          <p:nvPr/>
        </p:nvSpPr>
        <p:spPr>
          <a:xfrm>
            <a:off x="2615184" y="2743200"/>
            <a:ext cx="137160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drivers, decisiones, estilo y despliegue</a:t>
            </a:r>
          </a:p>
        </p:txBody>
      </p:sp>
      <p:cxnSp>
        <p:nvCxnSpPr>
          <p:cNvPr id="28" name="Linea 28"/>
          <p:cNvCxnSpPr/>
          <p:nvPr/>
        </p:nvCxnSpPr>
        <p:spPr>
          <a:xfrm>
            <a:off x="4114800" y="3017520"/>
            <a:ext cx="219456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9" name="Forma 29"/>
          <p:cNvSpPr/>
          <p:nvPr/>
        </p:nvSpPr>
        <p:spPr>
          <a:xfrm>
            <a:off x="4334256" y="2148840"/>
            <a:ext cx="1627632" cy="17373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0" name="Forma 30"/>
          <p:cNvSpPr/>
          <p:nvPr/>
        </p:nvSpPr>
        <p:spPr>
          <a:xfrm>
            <a:off x="4462272" y="224028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Diseño</a:t>
            </a:r>
          </a:p>
        </p:txBody>
      </p:sp>
      <p:sp>
        <p:nvSpPr>
          <p:cNvPr id="31" name="Forma 31"/>
          <p:cNvSpPr/>
          <p:nvPr/>
        </p:nvSpPr>
        <p:spPr>
          <a:xfrm>
            <a:off x="4462272" y="2743200"/>
            <a:ext cx="137160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capas, módulos, datos y concurrencia</a:t>
            </a:r>
          </a:p>
        </p:txBody>
      </p:sp>
      <p:cxnSp>
        <p:nvCxnSpPr>
          <p:cNvPr id="32" name="Linea 32"/>
          <p:cNvCxnSpPr/>
          <p:nvPr/>
        </p:nvCxnSpPr>
        <p:spPr>
          <a:xfrm>
            <a:off x="5961888" y="3017520"/>
            <a:ext cx="219456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3" name="Forma 33"/>
          <p:cNvSpPr/>
          <p:nvPr/>
        </p:nvSpPr>
        <p:spPr>
          <a:xfrm>
            <a:off x="6181344" y="2148840"/>
            <a:ext cx="1627632" cy="17373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4" name="Forma 34"/>
          <p:cNvSpPr/>
          <p:nvPr/>
        </p:nvSpPr>
        <p:spPr>
          <a:xfrm>
            <a:off x="6309360" y="224028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Modelo C4</a:t>
            </a:r>
          </a:p>
        </p:txBody>
      </p:sp>
      <p:sp>
        <p:nvSpPr>
          <p:cNvPr id="35" name="Forma 35"/>
          <p:cNvSpPr/>
          <p:nvPr/>
        </p:nvSpPr>
        <p:spPr>
          <a:xfrm>
            <a:off x="6309360" y="2743200"/>
            <a:ext cx="137160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contexto, contenedores y componentes</a:t>
            </a:r>
          </a:p>
        </p:txBody>
      </p:sp>
      <p:cxnSp>
        <p:nvCxnSpPr>
          <p:cNvPr id="36" name="Linea 36"/>
          <p:cNvCxnSpPr/>
          <p:nvPr/>
        </p:nvCxnSpPr>
        <p:spPr>
          <a:xfrm>
            <a:off x="7808976" y="3017520"/>
            <a:ext cx="219456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7" name="Forma 37"/>
          <p:cNvSpPr/>
          <p:nvPr/>
        </p:nvSpPr>
        <p:spPr>
          <a:xfrm>
            <a:off x="8028432" y="2148840"/>
            <a:ext cx="1627632" cy="17373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8" name="Forma 38"/>
          <p:cNvSpPr/>
          <p:nvPr/>
        </p:nvSpPr>
        <p:spPr>
          <a:xfrm>
            <a:off x="8156448" y="224028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Seguridad y UX</a:t>
            </a:r>
          </a:p>
        </p:txBody>
      </p:sp>
      <p:sp>
        <p:nvSpPr>
          <p:cNvPr id="39" name="Forma 39"/>
          <p:cNvSpPr/>
          <p:nvPr/>
        </p:nvSpPr>
        <p:spPr>
          <a:xfrm>
            <a:off x="8156448" y="2743200"/>
            <a:ext cx="137160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amenazas, controles y accesibilidad</a:t>
            </a:r>
          </a:p>
        </p:txBody>
      </p:sp>
      <p:cxnSp>
        <p:nvCxnSpPr>
          <p:cNvPr id="40" name="Linea 40"/>
          <p:cNvCxnSpPr/>
          <p:nvPr/>
        </p:nvCxnSpPr>
        <p:spPr>
          <a:xfrm>
            <a:off x="9656064" y="3017520"/>
            <a:ext cx="219456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41" name="Forma 41"/>
          <p:cNvSpPr/>
          <p:nvPr/>
        </p:nvSpPr>
        <p:spPr>
          <a:xfrm>
            <a:off x="9875520" y="2148840"/>
            <a:ext cx="1627632" cy="17373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31750">
            <a:solidFill>
              <a:srgbClr val="FF665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42" name="Forma 42"/>
          <p:cNvSpPr/>
          <p:nvPr/>
        </p:nvSpPr>
        <p:spPr>
          <a:xfrm>
            <a:off x="10003536" y="224028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DM Serif Display"/>
                <a:cs typeface="DM Serif Display"/>
              </a:rPr>
              <a:t>Specs y pruebas</a:t>
            </a:r>
          </a:p>
        </p:txBody>
      </p:sp>
      <p:sp>
        <p:nvSpPr>
          <p:cNvPr id="43" name="Forma 43"/>
          <p:cNvSpPr/>
          <p:nvPr/>
        </p:nvSpPr>
        <p:spPr>
          <a:xfrm>
            <a:off x="10003536" y="2743200"/>
            <a:ext cx="1371600" cy="10972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criterios de aceptación</a:t>
            </a:r>
          </a:p>
        </p:txBody>
      </p:sp>
      <p:sp>
        <p:nvSpPr>
          <p:cNvPr id="44" name="Forma 44"/>
          <p:cNvSpPr/>
          <p:nvPr/>
        </p:nvSpPr>
        <p:spPr>
          <a:xfrm>
            <a:off x="640080" y="4160520"/>
            <a:ext cx="2743200" cy="1554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8400" dirty="0">
                <a:solidFill>
                  <a:srgbClr val="FF665A"/>
                </a:solidFill>
                <a:latin typeface="DM Serif Display"/>
                <a:cs typeface="DM Serif Display"/>
              </a:rPr>
              <a:t>19</a:t>
            </a:r>
          </a:p>
        </p:txBody>
      </p:sp>
      <p:sp>
        <p:nvSpPr>
          <p:cNvPr id="45" name="Forma 45"/>
          <p:cNvSpPr/>
          <p:nvPr/>
        </p:nvSpPr>
        <p:spPr>
          <a:xfrm>
            <a:off x="3154680" y="452628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2200" dirty="0">
                <a:solidFill>
                  <a:srgbClr val="F5EBD8"/>
                </a:solidFill>
                <a:latin typeface="DM Serif Display"/>
                <a:cs typeface="DM Serif Display"/>
              </a:rPr>
              <a:t>specs aprobadas</a:t>
            </a:r>
          </a:p>
        </p:txBody>
      </p:sp>
      <p:sp>
        <p:nvSpPr>
          <p:cNvPr id="46" name="Forma 46"/>
          <p:cNvSpPr/>
          <p:nvPr/>
        </p:nvSpPr>
        <p:spPr>
          <a:xfrm>
            <a:off x="3154680" y="5029200"/>
            <a:ext cx="329184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250" dirty="0">
                <a:solidFill>
                  <a:srgbClr val="B7B3A8"/>
                </a:solidFill>
                <a:latin typeface="Segoe UI"/>
                <a:cs typeface="Segoe UI"/>
              </a:rPr>
              <a:t>Cada componente del nivel 3 tiene su spec, con requisitos y criterios verificables.</a:t>
            </a:r>
          </a:p>
        </p:txBody>
      </p:sp>
      <p:sp>
        <p:nvSpPr>
          <p:cNvPr id="47" name="Forma 47"/>
          <p:cNvSpPr/>
          <p:nvPr/>
        </p:nvSpPr>
        <p:spPr>
          <a:xfrm>
            <a:off x="6766560" y="4572000"/>
            <a:ext cx="109728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Componente</a:t>
            </a:r>
          </a:p>
        </p:txBody>
      </p:sp>
      <p:cxnSp>
        <p:nvCxnSpPr>
          <p:cNvPr id="48" name="Linea 48"/>
          <p:cNvCxnSpPr/>
          <p:nvPr/>
        </p:nvCxnSpPr>
        <p:spPr>
          <a:xfrm>
            <a:off x="7863840" y="4983480"/>
            <a:ext cx="118872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49" name="Forma 49"/>
          <p:cNvSpPr/>
          <p:nvPr/>
        </p:nvSpPr>
        <p:spPr>
          <a:xfrm>
            <a:off x="7982712" y="4572000"/>
            <a:ext cx="109728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Spec</a:t>
            </a:r>
          </a:p>
        </p:txBody>
      </p:sp>
      <p:cxnSp>
        <p:nvCxnSpPr>
          <p:cNvPr id="50" name="Linea 50"/>
          <p:cNvCxnSpPr/>
          <p:nvPr/>
        </p:nvCxnSpPr>
        <p:spPr>
          <a:xfrm>
            <a:off x="9079992" y="4983480"/>
            <a:ext cx="118872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51" name="Forma 51"/>
          <p:cNvSpPr/>
          <p:nvPr/>
        </p:nvSpPr>
        <p:spPr>
          <a:xfrm>
            <a:off x="9198864" y="4572000"/>
            <a:ext cx="109728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Criterio AC-XXX-NN</a:t>
            </a:r>
          </a:p>
        </p:txBody>
      </p:sp>
      <p:cxnSp>
        <p:nvCxnSpPr>
          <p:cNvPr id="52" name="Linea 52"/>
          <p:cNvCxnSpPr/>
          <p:nvPr/>
        </p:nvCxnSpPr>
        <p:spPr>
          <a:xfrm>
            <a:off x="10296144" y="4983480"/>
            <a:ext cx="118872" cy="0"/>
          </a:xfrm>
          <a:prstGeom prst="line">
            <a:avLst/>
          </a:prstGeom>
          <a:ln w="25400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53" name="Forma 53"/>
          <p:cNvSpPr/>
          <p:nvPr/>
        </p:nvSpPr>
        <p:spPr>
          <a:xfrm>
            <a:off x="10415016" y="4572000"/>
            <a:ext cx="1097280" cy="8229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45720" tIns="45720" rIns="45720" bIns="4572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00" dirty="0">
                <a:solidFill>
                  <a:srgbClr val="F5EBD8"/>
                </a:solidFill>
                <a:latin typeface="Segoe UI"/>
                <a:cs typeface="Segoe UI"/>
              </a:rPr>
              <a:t>Prueba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771632" y="182880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Cierre</a:t>
            </a:r>
          </a:p>
        </p:txBody>
      </p:sp>
      <p:sp>
        <p:nvSpPr>
          <p:cNvPr id="10" name="Forma 10"/>
          <p:cNvSpPr/>
          <p:nvPr/>
        </p:nvSpPr>
        <p:spPr>
          <a:xfrm>
            <a:off x="9610344" y="182880"/>
            <a:ext cx="1088136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11" name="Forma 11"/>
          <p:cNvSpPr/>
          <p:nvPr/>
        </p:nvSpPr>
        <p:spPr>
          <a:xfrm>
            <a:off x="8682228" y="182880"/>
            <a:ext cx="85496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Calidad</a:t>
            </a:r>
          </a:p>
        </p:txBody>
      </p:sp>
      <p:sp>
        <p:nvSpPr>
          <p:cNvPr id="12" name="Forma 12"/>
          <p:cNvSpPr/>
          <p:nvPr/>
        </p:nvSpPr>
        <p:spPr>
          <a:xfrm>
            <a:off x="8142732" y="182880"/>
            <a:ext cx="46634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13" name="Forma 13"/>
          <p:cNvSpPr/>
          <p:nvPr/>
        </p:nvSpPr>
        <p:spPr>
          <a:xfrm>
            <a:off x="6825996" y="182880"/>
            <a:ext cx="1243584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Arquitectura</a:t>
            </a:r>
          </a:p>
        </p:txBody>
      </p:sp>
      <p:sp>
        <p:nvSpPr>
          <p:cNvPr id="14" name="Forma 14"/>
          <p:cNvSpPr/>
          <p:nvPr/>
        </p:nvSpPr>
        <p:spPr>
          <a:xfrm>
            <a:off x="582015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Solución</a:t>
            </a:r>
          </a:p>
        </p:txBody>
      </p:sp>
      <p:sp>
        <p:nvSpPr>
          <p:cNvPr id="15" name="Forma 15"/>
          <p:cNvSpPr/>
          <p:nvPr/>
        </p:nvSpPr>
        <p:spPr>
          <a:xfrm>
            <a:off x="4814316" y="182880"/>
            <a:ext cx="932688" cy="27432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B7B3A8"/>
                </a:solidFill>
                <a:latin typeface="Segoe UI"/>
                <a:cs typeface="Segoe UI"/>
              </a:rPr>
              <a:t>Contexto</a:t>
            </a:r>
          </a:p>
        </p:txBody>
      </p:sp>
      <p:cxnSp>
        <p:nvCxnSpPr>
          <p:cNvPr id="16" name="Linea 16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7" name="Forma 17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4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VOLVER AL </a:t>
            </a:r>
            <a:r>
              <a:rPr lang="es-PE" sz="34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PROBLEMA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9" name="Forma 19"/>
          <p:cNvSpPr/>
          <p:nvPr/>
        </p:nvSpPr>
        <p:spPr>
          <a:xfrm>
            <a:off x="10241280" y="6473952"/>
            <a:ext cx="1307592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14 / 14</a:t>
            </a:r>
          </a:p>
        </p:txBody>
      </p:sp>
      <p:sp>
        <p:nvSpPr>
          <p:cNvPr id="20" name="Forma 20"/>
          <p:cNvSpPr/>
          <p:nvPr/>
        </p:nvSpPr>
        <p:spPr>
          <a:xfrm>
            <a:off x="6400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172554"/>
                </a:solidFill>
                <a:latin typeface="Segoe UI"/>
                <a:cs typeface="Segoe UI"/>
              </a:rPr>
              <a:t>Sobreventa entre sucursales</a:t>
            </a:r>
          </a:p>
        </p:txBody>
      </p:sp>
      <p:cxnSp>
        <p:nvCxnSpPr>
          <p:cNvPr id="21" name="Linea 21"/>
          <p:cNvCxnSpPr/>
          <p:nvPr/>
        </p:nvCxnSpPr>
        <p:spPr>
          <a:xfrm>
            <a:off x="2286000" y="2423160"/>
            <a:ext cx="18288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2" name="Forma 22"/>
          <p:cNvSpPr/>
          <p:nvPr/>
        </p:nvSpPr>
        <p:spPr>
          <a:xfrm>
            <a:off x="24688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Consistencia del inventario</a:t>
            </a:r>
          </a:p>
        </p:txBody>
      </p:sp>
      <p:cxnSp>
        <p:nvCxnSpPr>
          <p:cNvPr id="23" name="Linea 23"/>
          <p:cNvCxnSpPr/>
          <p:nvPr/>
        </p:nvCxnSpPr>
        <p:spPr>
          <a:xfrm>
            <a:off x="4114800" y="2423160"/>
            <a:ext cx="18288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4" name="Forma 24"/>
          <p:cNvSpPr/>
          <p:nvPr/>
        </p:nvSpPr>
        <p:spPr>
          <a:xfrm>
            <a:off x="42976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Servicio y base propios</a:t>
            </a:r>
          </a:p>
        </p:txBody>
      </p:sp>
      <p:cxnSp>
        <p:nvCxnSpPr>
          <p:cNvPr id="25" name="Linea 25"/>
          <p:cNvCxnSpPr/>
          <p:nvPr/>
        </p:nvCxnSpPr>
        <p:spPr>
          <a:xfrm>
            <a:off x="5943600" y="2423160"/>
            <a:ext cx="18288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6" name="Forma 26"/>
          <p:cNvSpPr/>
          <p:nvPr/>
        </p:nvSpPr>
        <p:spPr>
          <a:xfrm>
            <a:off x="61264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Reservas transaccionales</a:t>
            </a:r>
          </a:p>
        </p:txBody>
      </p:sp>
      <p:cxnSp>
        <p:nvCxnSpPr>
          <p:cNvPr id="27" name="Linea 27"/>
          <p:cNvCxnSpPr/>
          <p:nvPr/>
        </p:nvCxnSpPr>
        <p:spPr>
          <a:xfrm>
            <a:off x="7772400" y="2423160"/>
            <a:ext cx="18288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28" name="Forma 28"/>
          <p:cNvSpPr/>
          <p:nvPr/>
        </p:nvSpPr>
        <p:spPr>
          <a:xfrm>
            <a:off x="79552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Servicios con Clean Architecture</a:t>
            </a:r>
          </a:p>
        </p:txBody>
      </p:sp>
      <p:cxnSp>
        <p:nvCxnSpPr>
          <p:cNvPr id="29" name="Linea 29"/>
          <p:cNvCxnSpPr/>
          <p:nvPr/>
        </p:nvCxnSpPr>
        <p:spPr>
          <a:xfrm>
            <a:off x="9601200" y="2423160"/>
            <a:ext cx="182880" cy="0"/>
          </a:xfrm>
          <a:prstGeom prst="line">
            <a:avLst/>
          </a:prstGeom>
          <a:ln w="28575" cap="rnd">
            <a:solidFill>
              <a:srgbClr val="36C8D4"/>
            </a:solidFill>
            <a:round/>
            <a:tailEnd type="triangle" w="med" len="med"/>
          </a:ln>
        </p:spPr>
      </p:cxnSp>
      <p:sp>
        <p:nvSpPr>
          <p:cNvPr id="30" name="Forma 30"/>
          <p:cNvSpPr/>
          <p:nvPr/>
        </p:nvSpPr>
        <p:spPr>
          <a:xfrm>
            <a:off x="9784080" y="1783080"/>
            <a:ext cx="1645920" cy="1280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C8D4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300" b="1" dirty="0">
                <a:solidFill>
                  <a:srgbClr val="F5EBD8"/>
                </a:solidFill>
                <a:latin typeface="Segoe UI"/>
                <a:cs typeface="Segoe UI"/>
              </a:rPr>
              <a:t>Componentes trazables a specs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3520440"/>
            <a:ext cx="3474720" cy="2423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2" name="Forma 32"/>
          <p:cNvSpPr/>
          <p:nvPr/>
        </p:nvSpPr>
        <p:spPr>
          <a:xfrm>
            <a:off x="868680" y="361188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400" dirty="0">
                <a:solidFill>
                  <a:srgbClr val="FF665A"/>
                </a:solidFill>
                <a:latin typeface="DM Serif Display"/>
                <a:cs typeface="DM Serif Display"/>
              </a:rPr>
              <a:t>1</a:t>
            </a:r>
          </a:p>
        </p:txBody>
      </p:sp>
      <p:sp>
        <p:nvSpPr>
          <p:cNvPr id="33" name="Forma 33"/>
          <p:cNvSpPr/>
          <p:nvPr/>
        </p:nvSpPr>
        <p:spPr>
          <a:xfrm>
            <a:off x="868680" y="4526280"/>
            <a:ext cx="3017520" cy="1325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Segoe UI"/>
                <a:cs typeface="Segoe UI"/>
              </a:rPr>
              <a:t>Separar E-commerce e Inventario protege una regla crítica del negocio.</a:t>
            </a:r>
          </a:p>
        </p:txBody>
      </p:sp>
      <p:sp>
        <p:nvSpPr>
          <p:cNvPr id="34" name="Forma 34"/>
          <p:cNvSpPr/>
          <p:nvPr/>
        </p:nvSpPr>
        <p:spPr>
          <a:xfrm>
            <a:off x="4361688" y="3520440"/>
            <a:ext cx="3474720" cy="2423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5" name="Forma 35"/>
          <p:cNvSpPr/>
          <p:nvPr/>
        </p:nvSpPr>
        <p:spPr>
          <a:xfrm>
            <a:off x="4590288" y="361188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400" dirty="0">
                <a:solidFill>
                  <a:srgbClr val="FF665A"/>
                </a:solidFill>
                <a:latin typeface="DM Serif Display"/>
                <a:cs typeface="DM Serif Display"/>
              </a:rPr>
              <a:t>2</a:t>
            </a:r>
          </a:p>
        </p:txBody>
      </p:sp>
      <p:sp>
        <p:nvSpPr>
          <p:cNvPr id="36" name="Forma 36"/>
          <p:cNvSpPr/>
          <p:nvPr/>
        </p:nvSpPr>
        <p:spPr>
          <a:xfrm>
            <a:off x="4590288" y="4526280"/>
            <a:ext cx="3017520" cy="1325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Segoe UI"/>
                <a:cs typeface="Segoe UI"/>
              </a:rPr>
              <a:t>Las decisiones responden a atributos de calidad, escala y recursos limitados.</a:t>
            </a:r>
          </a:p>
        </p:txBody>
      </p:sp>
      <p:sp>
        <p:nvSpPr>
          <p:cNvPr id="37" name="Forma 37"/>
          <p:cNvSpPr/>
          <p:nvPr/>
        </p:nvSpPr>
        <p:spPr>
          <a:xfrm>
            <a:off x="8083296" y="3520440"/>
            <a:ext cx="3474720" cy="242316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38" name="Forma 38"/>
          <p:cNvSpPr/>
          <p:nvPr/>
        </p:nvSpPr>
        <p:spPr>
          <a:xfrm>
            <a:off x="8311896" y="3611880"/>
            <a:ext cx="914400" cy="8229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4400" dirty="0">
                <a:solidFill>
                  <a:srgbClr val="FF665A"/>
                </a:solidFill>
                <a:latin typeface="DM Serif Display"/>
                <a:cs typeface="DM Serif Display"/>
              </a:rPr>
              <a:t>3</a:t>
            </a:r>
          </a:p>
        </p:txBody>
      </p:sp>
      <p:sp>
        <p:nvSpPr>
          <p:cNvPr id="39" name="Forma 39"/>
          <p:cNvSpPr/>
          <p:nvPr/>
        </p:nvSpPr>
        <p:spPr>
          <a:xfrm>
            <a:off x="8311896" y="4526280"/>
            <a:ext cx="3017520" cy="13258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dirty="0">
                <a:solidFill>
                  <a:srgbClr val="F5EBD8"/>
                </a:solidFill>
                <a:latin typeface="Segoe UI"/>
                <a:cs typeface="Segoe UI"/>
              </a:rPr>
              <a:t>La trazabilidad conecta el problema con componentes y criterios verificables.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18872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FF665A"/>
          </a:solidFill>
          <a:ln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dirty="0">
                <a:solidFill>
                  <a:srgbClr val="172554"/>
                </a:solidFill>
                <a:latin typeface="Segoe UI"/>
                <a:cs typeface="Segoe UI"/>
              </a:rPr>
              <a:t>DIAPOSITIVAS DE RESPALDO</a:t>
            </a:r>
          </a:p>
        </p:txBody>
      </p:sp>
      <p:sp>
        <p:nvSpPr>
          <p:cNvPr id="3" name="Forma 3"/>
          <p:cNvSpPr/>
          <p:nvPr/>
        </p:nvSpPr>
        <p:spPr>
          <a:xfrm>
            <a:off x="640080" y="1783080"/>
            <a:ext cx="7315200" cy="14630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50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PARA </a:t>
            </a:r>
            <a:r>
              <a:rPr lang="es-PE" sz="50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PREGUNTAS</a:t>
            </a:r>
          </a:p>
        </p:txBody>
      </p:sp>
      <p:sp>
        <p:nvSpPr>
          <p:cNvPr id="4" name="Forma 4"/>
          <p:cNvSpPr/>
          <p:nvPr/>
        </p:nvSpPr>
        <p:spPr>
          <a:xfrm>
            <a:off x="640080" y="3383280"/>
            <a:ext cx="6858000" cy="2743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Evolución de la propuesta inicial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Drivers y decisiones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C4: contexto, contenedores y componentes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Matriz requisito–componente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700" dirty="0">
                <a:solidFill>
                  <a:srgbClr val="B7B3A8"/>
                </a:solidFill>
                <a:latin typeface="Segoe UI"/>
                <a:cs typeface="Segoe UI"/>
              </a:rPr>
              <a:t>Seguridad, despliegue y glosario</a:t>
            </a:r>
          </a:p>
        </p:txBody>
      </p:sp>
      <p:cxnSp>
        <p:nvCxnSpPr>
          <p:cNvPr id="5" name="Linea 5"/>
          <p:cNvCxnSpPr/>
          <p:nvPr/>
        </p:nvCxnSpPr>
        <p:spPr>
          <a:xfrm flipH="1">
            <a:off x="10607040" y="1371600"/>
            <a:ext cx="1581912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>
            <a:off x="10607040" y="1371600"/>
            <a:ext cx="0" cy="164592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 flipH="1">
            <a:off x="9326880" y="3017520"/>
            <a:ext cx="1280160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2115800" y="12984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9" name="Forma 9"/>
          <p:cNvSpPr/>
          <p:nvPr/>
        </p:nvSpPr>
        <p:spPr>
          <a:xfrm>
            <a:off x="10533888" y="12984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10" name="Forma 10"/>
          <p:cNvSpPr/>
          <p:nvPr/>
        </p:nvSpPr>
        <p:spPr>
          <a:xfrm>
            <a:off x="10533888" y="294436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11" name="Linea 11"/>
          <p:cNvCxnSpPr/>
          <p:nvPr/>
        </p:nvCxnSpPr>
        <p:spPr>
          <a:xfrm flipH="1">
            <a:off x="10241280" y="5486400"/>
            <a:ext cx="1947672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12" name="Linea 12"/>
          <p:cNvCxnSpPr/>
          <p:nvPr/>
        </p:nvCxnSpPr>
        <p:spPr>
          <a:xfrm flipV="1">
            <a:off x="10241280" y="4114800"/>
            <a:ext cx="0" cy="137160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cxnSp>
        <p:nvCxnSpPr>
          <p:cNvPr id="13" name="Linea 13"/>
          <p:cNvCxnSpPr/>
          <p:nvPr/>
        </p:nvCxnSpPr>
        <p:spPr>
          <a:xfrm flipH="1">
            <a:off x="9326880" y="4114800"/>
            <a:ext cx="914400" cy="0"/>
          </a:xfrm>
          <a:prstGeom prst="line">
            <a:avLst/>
          </a:prstGeom>
          <a:ln w="25400" cap="rnd">
            <a:solidFill>
              <a:srgbClr val="36C8D4"/>
            </a:solidFill>
            <a:round/>
          </a:ln>
        </p:spPr>
      </p:cxnSp>
      <p:sp>
        <p:nvSpPr>
          <p:cNvPr id="14" name="Forma 14"/>
          <p:cNvSpPr/>
          <p:nvPr/>
        </p:nvSpPr>
        <p:spPr>
          <a:xfrm>
            <a:off x="12115800" y="54132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15" name="Forma 15"/>
          <p:cNvSpPr/>
          <p:nvPr/>
        </p:nvSpPr>
        <p:spPr>
          <a:xfrm>
            <a:off x="10168128" y="54132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16" name="Forma 16"/>
          <p:cNvSpPr/>
          <p:nvPr/>
        </p:nvSpPr>
        <p:spPr>
          <a:xfrm>
            <a:off x="10168128" y="4041648"/>
            <a:ext cx="146304" cy="146304"/>
          </a:xfrm>
          <a:prstGeom prst="ellipse">
            <a:avLst/>
          </a:prstGeom>
          <a:solidFill>
            <a:srgbClr val="36C8D4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sp>
        <p:nvSpPr>
          <p:cNvPr id="17" name="Forma 17"/>
          <p:cNvSpPr/>
          <p:nvPr/>
        </p:nvSpPr>
        <p:spPr>
          <a:xfrm>
            <a:off x="7909560" y="2743200"/>
            <a:ext cx="1417320" cy="1417320"/>
          </a:xfrm>
          <a:prstGeom prst="ellipse">
            <a:avLst/>
          </a:prstGeom>
          <a:solidFill>
            <a:srgbClr val="FF665A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500" b="1" dirty="0">
                <a:solidFill>
                  <a:srgbClr val="172554"/>
                </a:solidFill>
                <a:latin typeface="DM Serif Display"/>
                <a:cs typeface="DM Serif Display"/>
              </a:rPr>
              <a:t>Respaldo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1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EVOLUCIÓN DE LA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PROPUESTA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1783080"/>
            <a:ext cx="1920240" cy="475488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Aspecto</a:t>
            </a:r>
          </a:p>
        </p:txBody>
      </p:sp>
      <p:sp>
        <p:nvSpPr>
          <p:cNvPr id="14" name="Forma 14"/>
          <p:cNvSpPr/>
          <p:nvPr/>
        </p:nvSpPr>
        <p:spPr>
          <a:xfrm>
            <a:off x="2560320" y="1783080"/>
            <a:ext cx="3840480" cy="475488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Propuesta inicial</a:t>
            </a:r>
          </a:p>
        </p:txBody>
      </p:sp>
      <p:sp>
        <p:nvSpPr>
          <p:cNvPr id="15" name="Forma 15"/>
          <p:cNvSpPr/>
          <p:nvPr/>
        </p:nvSpPr>
        <p:spPr>
          <a:xfrm>
            <a:off x="6400800" y="1783080"/>
            <a:ext cx="5148072" cy="475488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Estado actual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2258568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Servicios</a:t>
            </a:r>
          </a:p>
        </p:txBody>
      </p:sp>
      <p:sp>
        <p:nvSpPr>
          <p:cNvPr id="17" name="Forma 17"/>
          <p:cNvSpPr/>
          <p:nvPr/>
        </p:nvSpPr>
        <p:spPr>
          <a:xfrm>
            <a:off x="2560320" y="2258568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Ventas, Inventario y Analítica</a:t>
            </a:r>
          </a:p>
        </p:txBody>
      </p:sp>
      <p:sp>
        <p:nvSpPr>
          <p:cNvPr id="18" name="Forma 18"/>
          <p:cNvSpPr/>
          <p:nvPr/>
        </p:nvSpPr>
        <p:spPr>
          <a:xfrm>
            <a:off x="6400800" y="2258568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E-commerce, Inventario, Identidad y Asistente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2734056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Interfaz</a:t>
            </a:r>
          </a:p>
        </p:txBody>
      </p:sp>
      <p:sp>
        <p:nvSpPr>
          <p:cNvPr id="20" name="Forma 20"/>
          <p:cNvSpPr/>
          <p:nvPr/>
        </p:nvSpPr>
        <p:spPr>
          <a:xfrm>
            <a:off x="2560320" y="2734056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Sitio, panel y app móvil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0" y="2734056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Una web con tres áreas; la app móvil, después</a:t>
            </a:r>
          </a:p>
        </p:txBody>
      </p:sp>
      <p:sp>
        <p:nvSpPr>
          <p:cNvPr id="22" name="Forma 22"/>
          <p:cNvSpPr/>
          <p:nvPr/>
        </p:nvSpPr>
        <p:spPr>
          <a:xfrm>
            <a:off x="640080" y="3209544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Entrada</a:t>
            </a:r>
          </a:p>
        </p:txBody>
      </p:sp>
      <p:sp>
        <p:nvSpPr>
          <p:cNvPr id="23" name="Forma 23"/>
          <p:cNvSpPr/>
          <p:nvPr/>
        </p:nvSpPr>
        <p:spPr>
          <a:xfrm>
            <a:off x="2560320" y="3209544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API Gateway</a:t>
            </a:r>
          </a:p>
        </p:txBody>
      </p:sp>
      <p:sp>
        <p:nvSpPr>
          <p:cNvPr id="24" name="Forma 24"/>
          <p:cNvSpPr/>
          <p:nvPr/>
        </p:nvSpPr>
        <p:spPr>
          <a:xfrm>
            <a:off x="6400800" y="3209544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Cloudflare (DNS, TLS, WAF, túnel) y Nginx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3685032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Productos</a:t>
            </a:r>
          </a:p>
        </p:txBody>
      </p:sp>
      <p:sp>
        <p:nvSpPr>
          <p:cNvPr id="26" name="Forma 26"/>
          <p:cNvSpPr/>
          <p:nvPr/>
        </p:nvSpPr>
        <p:spPr>
          <a:xfrm>
            <a:off x="2560320" y="3685032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Solo libros impresos</a:t>
            </a:r>
          </a:p>
        </p:txBody>
      </p:sp>
      <p:sp>
        <p:nvSpPr>
          <p:cNvPr id="27" name="Forma 27"/>
          <p:cNvSpPr/>
          <p:nvPr/>
        </p:nvSpPr>
        <p:spPr>
          <a:xfrm>
            <a:off x="6400800" y="3685032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Impresos y digitales, con licencias</a:t>
            </a:r>
          </a:p>
        </p:txBody>
      </p:sp>
      <p:sp>
        <p:nvSpPr>
          <p:cNvPr id="28" name="Forma 28"/>
          <p:cNvSpPr/>
          <p:nvPr/>
        </p:nvSpPr>
        <p:spPr>
          <a:xfrm>
            <a:off x="640080" y="4160520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Seguridad</a:t>
            </a:r>
          </a:p>
        </p:txBody>
      </p:sp>
      <p:sp>
        <p:nvSpPr>
          <p:cNvPr id="29" name="Forma 29"/>
          <p:cNvSpPr/>
          <p:nvPr/>
        </p:nvSpPr>
        <p:spPr>
          <a:xfrm>
            <a:off x="2560320" y="4160520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Token con sucursal, TLS, OWASP</a:t>
            </a:r>
          </a:p>
        </p:txBody>
      </p:sp>
      <p:sp>
        <p:nvSpPr>
          <p:cNvPr id="30" name="Forma 30"/>
          <p:cNvSpPr/>
          <p:nvPr/>
        </p:nvSpPr>
        <p:spPr>
          <a:xfrm>
            <a:off x="6400800" y="4160520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Amenazas, controles ASVS y segundo factor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4636008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Despliegue</a:t>
            </a:r>
          </a:p>
        </p:txBody>
      </p:sp>
      <p:sp>
        <p:nvSpPr>
          <p:cNvPr id="32" name="Forma 32"/>
          <p:cNvSpPr/>
          <p:nvPr/>
        </p:nvSpPr>
        <p:spPr>
          <a:xfrm>
            <a:off x="2560320" y="4636008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Múltiples zonas en la nube</a:t>
            </a:r>
          </a:p>
        </p:txBody>
      </p:sp>
      <p:sp>
        <p:nvSpPr>
          <p:cNvPr id="33" name="Forma 33"/>
          <p:cNvSpPr/>
          <p:nvPr/>
        </p:nvSpPr>
        <p:spPr>
          <a:xfrm>
            <a:off x="6400800" y="4636008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Dos VMs ARM gratuitas y base separada</a:t>
            </a:r>
          </a:p>
        </p:txBody>
      </p:sp>
      <p:sp>
        <p:nvSpPr>
          <p:cNvPr id="34" name="Forma 34"/>
          <p:cNvSpPr/>
          <p:nvPr/>
        </p:nvSpPr>
        <p:spPr>
          <a:xfrm>
            <a:off x="640080" y="5111496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Método</a:t>
            </a:r>
          </a:p>
        </p:txBody>
      </p:sp>
      <p:sp>
        <p:nvSpPr>
          <p:cNvPr id="35" name="Forma 35"/>
          <p:cNvSpPr/>
          <p:nvPr/>
        </p:nvSpPr>
        <p:spPr>
          <a:xfrm>
            <a:off x="2560320" y="5111496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Documento de propuesta</a:t>
            </a:r>
          </a:p>
        </p:txBody>
      </p:sp>
      <p:sp>
        <p:nvSpPr>
          <p:cNvPr id="36" name="Forma 36"/>
          <p:cNvSpPr/>
          <p:nvPr/>
        </p:nvSpPr>
        <p:spPr>
          <a:xfrm>
            <a:off x="6400800" y="5111496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Spec-Driven Development, 19 specs</a:t>
            </a:r>
          </a:p>
        </p:txBody>
      </p:sp>
      <p:sp>
        <p:nvSpPr>
          <p:cNvPr id="37" name="Forma 37"/>
          <p:cNvSpPr/>
          <p:nvPr/>
        </p:nvSpPr>
        <p:spPr>
          <a:xfrm>
            <a:off x="640080" y="5586984"/>
            <a:ext cx="192024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Sistema operativo</a:t>
            </a:r>
          </a:p>
        </p:txBody>
      </p:sp>
      <p:sp>
        <p:nvSpPr>
          <p:cNvPr id="38" name="Forma 38"/>
          <p:cNvSpPr/>
          <p:nvPr/>
        </p:nvSpPr>
        <p:spPr>
          <a:xfrm>
            <a:off x="2560320" y="5586984"/>
            <a:ext cx="3840480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Debian estable</a:t>
            </a:r>
          </a:p>
        </p:txBody>
      </p:sp>
      <p:sp>
        <p:nvSpPr>
          <p:cNvPr id="39" name="Forma 39"/>
          <p:cNvSpPr/>
          <p:nvPr/>
        </p:nvSpPr>
        <p:spPr>
          <a:xfrm>
            <a:off x="6400800" y="5586984"/>
            <a:ext cx="5148072" cy="475488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Ubuntu Server LTS mínimo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2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DRIVERS Y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DECISIONES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1783080"/>
            <a:ext cx="4572000" cy="457200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Driver</a:t>
            </a:r>
          </a:p>
        </p:txBody>
      </p:sp>
      <p:sp>
        <p:nvSpPr>
          <p:cNvPr id="14" name="Forma 14"/>
          <p:cNvSpPr/>
          <p:nvPr/>
        </p:nvSpPr>
        <p:spPr>
          <a:xfrm>
            <a:off x="5212080" y="1783080"/>
            <a:ext cx="4023360" cy="457200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Qué exige</a:t>
            </a:r>
          </a:p>
        </p:txBody>
      </p:sp>
      <p:sp>
        <p:nvSpPr>
          <p:cNvPr id="15" name="Forma 15"/>
          <p:cNvSpPr/>
          <p:nvPr/>
        </p:nvSpPr>
        <p:spPr>
          <a:xfrm>
            <a:off x="9235440" y="1783080"/>
            <a:ext cx="2313432" cy="457200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Decisiones</a:t>
            </a:r>
          </a:p>
        </p:txBody>
      </p:sp>
      <p:sp>
        <p:nvSpPr>
          <p:cNvPr id="16" name="Forma 16"/>
          <p:cNvSpPr/>
          <p:nvPr/>
        </p:nvSpPr>
        <p:spPr>
          <a:xfrm>
            <a:off x="640080" y="22402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DA01 Evitar la sobreventa</a:t>
            </a:r>
          </a:p>
        </p:txBody>
      </p:sp>
      <p:sp>
        <p:nvSpPr>
          <p:cNvPr id="17" name="Forma 17"/>
          <p:cNvSpPr/>
          <p:nvPr/>
        </p:nvSpPr>
        <p:spPr>
          <a:xfrm>
            <a:off x="5212080" y="22402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Servicio y base propios, reservas</a:t>
            </a:r>
          </a:p>
        </p:txBody>
      </p:sp>
      <p:sp>
        <p:nvSpPr>
          <p:cNvPr id="18" name="Forma 18"/>
          <p:cNvSpPr/>
          <p:nvPr/>
        </p:nvSpPr>
        <p:spPr>
          <a:xfrm>
            <a:off x="9235440" y="22402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AD01, 03, 08, 23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26974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DA02 Rendimiento en picos</a:t>
            </a:r>
          </a:p>
        </p:txBody>
      </p:sp>
      <p:sp>
        <p:nvSpPr>
          <p:cNvPr id="20" name="Forma 20"/>
          <p:cNvSpPr/>
          <p:nvPr/>
        </p:nvSpPr>
        <p:spPr>
          <a:xfrm>
            <a:off x="5212080" y="26974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Caché de disponibilidad</a:t>
            </a:r>
          </a:p>
        </p:txBody>
      </p:sp>
      <p:sp>
        <p:nvSpPr>
          <p:cNvPr id="21" name="Forma 21"/>
          <p:cNvSpPr/>
          <p:nvPr/>
        </p:nvSpPr>
        <p:spPr>
          <a:xfrm>
            <a:off x="9235440" y="26974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AD06</a:t>
            </a:r>
          </a:p>
        </p:txBody>
      </p:sp>
      <p:sp>
        <p:nvSpPr>
          <p:cNvPr id="22" name="Forma 22"/>
          <p:cNvSpPr/>
          <p:nvPr/>
        </p:nvSpPr>
        <p:spPr>
          <a:xfrm>
            <a:off x="640080" y="31546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DA03 Operar sin SLA</a:t>
            </a:r>
          </a:p>
        </p:txBody>
      </p:sp>
      <p:sp>
        <p:nvSpPr>
          <p:cNvPr id="23" name="Forma 23"/>
          <p:cNvSpPr/>
          <p:nvPr/>
        </p:nvSpPr>
        <p:spPr>
          <a:xfrm>
            <a:off x="5212080" y="31546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Reinicio y degradación controlada</a:t>
            </a:r>
          </a:p>
        </p:txBody>
      </p:sp>
      <p:sp>
        <p:nvSpPr>
          <p:cNvPr id="24" name="Forma 24"/>
          <p:cNvSpPr/>
          <p:nvPr/>
        </p:nvSpPr>
        <p:spPr>
          <a:xfrm>
            <a:off x="9235440" y="31546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AD10, 25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36118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DA04 Sumar sucursales</a:t>
            </a:r>
          </a:p>
        </p:txBody>
      </p:sp>
      <p:sp>
        <p:nvSpPr>
          <p:cNvPr id="26" name="Forma 26"/>
          <p:cNvSpPr/>
          <p:nvPr/>
        </p:nvSpPr>
        <p:spPr>
          <a:xfrm>
            <a:off x="5212080" y="36118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Sucursal como dato</a:t>
            </a:r>
          </a:p>
        </p:txBody>
      </p:sp>
      <p:sp>
        <p:nvSpPr>
          <p:cNvPr id="27" name="Forma 27"/>
          <p:cNvSpPr/>
          <p:nvPr/>
        </p:nvSpPr>
        <p:spPr>
          <a:xfrm>
            <a:off x="9235440" y="36118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AD01, 03</a:t>
            </a:r>
          </a:p>
        </p:txBody>
      </p:sp>
      <p:sp>
        <p:nvSpPr>
          <p:cNvPr id="28" name="Forma 28"/>
          <p:cNvSpPr/>
          <p:nvPr/>
        </p:nvSpPr>
        <p:spPr>
          <a:xfrm>
            <a:off x="640080" y="40690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DA05 Acceso por sucursal</a:t>
            </a:r>
          </a:p>
        </p:txBody>
      </p:sp>
      <p:sp>
        <p:nvSpPr>
          <p:cNvPr id="29" name="Forma 29"/>
          <p:cNvSpPr/>
          <p:nvPr/>
        </p:nvSpPr>
        <p:spPr>
          <a:xfrm>
            <a:off x="5212080" y="40690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Identidad central, token fuera del navegador</a:t>
            </a:r>
          </a:p>
        </p:txBody>
      </p:sp>
      <p:sp>
        <p:nvSpPr>
          <p:cNvPr id="30" name="Forma 30"/>
          <p:cNvSpPr/>
          <p:nvPr/>
        </p:nvSpPr>
        <p:spPr>
          <a:xfrm>
            <a:off x="9235440" y="40690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AD05, 12, 13, 15, 18, 22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45262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DA06 Integraciones externas</a:t>
            </a:r>
          </a:p>
        </p:txBody>
      </p:sp>
      <p:sp>
        <p:nvSpPr>
          <p:cNvPr id="32" name="Forma 32"/>
          <p:cNvSpPr/>
          <p:nvPr/>
        </p:nvSpPr>
        <p:spPr>
          <a:xfrm>
            <a:off x="5212080" y="45262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Puertos por proveedor</a:t>
            </a:r>
          </a:p>
        </p:txBody>
      </p:sp>
      <p:sp>
        <p:nvSpPr>
          <p:cNvPr id="33" name="Forma 33"/>
          <p:cNvSpPr/>
          <p:nvPr/>
        </p:nvSpPr>
        <p:spPr>
          <a:xfrm>
            <a:off x="9235440" y="45262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AD07, 09, 16, 17</a:t>
            </a:r>
          </a:p>
        </p:txBody>
      </p:sp>
      <p:sp>
        <p:nvSpPr>
          <p:cNvPr id="34" name="Forma 34"/>
          <p:cNvSpPr/>
          <p:nvPr/>
        </p:nvSpPr>
        <p:spPr>
          <a:xfrm>
            <a:off x="640080" y="49834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DA09 Recursos gratuitos ARM</a:t>
            </a:r>
          </a:p>
        </p:txBody>
      </p:sp>
      <p:sp>
        <p:nvSpPr>
          <p:cNvPr id="35" name="Forma 35"/>
          <p:cNvSpPr/>
          <p:nvPr/>
        </p:nvSpPr>
        <p:spPr>
          <a:xfrm>
            <a:off x="5212080" y="49834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Pocos servicios, imágenes multi-arch</a:t>
            </a:r>
          </a:p>
        </p:txBody>
      </p:sp>
      <p:sp>
        <p:nvSpPr>
          <p:cNvPr id="36" name="Forma 36"/>
          <p:cNvSpPr/>
          <p:nvPr/>
        </p:nvSpPr>
        <p:spPr>
          <a:xfrm>
            <a:off x="9235440" y="49834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AD02, 10, 11</a:t>
            </a:r>
          </a:p>
        </p:txBody>
      </p:sp>
      <p:sp>
        <p:nvSpPr>
          <p:cNvPr id="37" name="Forma 37"/>
          <p:cNvSpPr/>
          <p:nvPr/>
        </p:nvSpPr>
        <p:spPr>
          <a:xfrm>
            <a:off x="640080" y="54406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DA12 Libros digitales</a:t>
            </a:r>
          </a:p>
        </p:txBody>
      </p:sp>
      <p:sp>
        <p:nvSpPr>
          <p:cNvPr id="38" name="Forma 38"/>
          <p:cNvSpPr/>
          <p:nvPr/>
        </p:nvSpPr>
        <p:spPr>
          <a:xfrm>
            <a:off x="5212080" y="54406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Almacén de objetos y URL firmada</a:t>
            </a:r>
          </a:p>
        </p:txBody>
      </p:sp>
      <p:sp>
        <p:nvSpPr>
          <p:cNvPr id="39" name="Forma 39"/>
          <p:cNvSpPr/>
          <p:nvPr/>
        </p:nvSpPr>
        <p:spPr>
          <a:xfrm>
            <a:off x="9235440" y="54406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AD19, 20</a:t>
            </a:r>
          </a:p>
        </p:txBody>
      </p:sp>
      <p:sp>
        <p:nvSpPr>
          <p:cNvPr id="40" name="Forma 40"/>
          <p:cNvSpPr/>
          <p:nvPr/>
        </p:nvSpPr>
        <p:spPr>
          <a:xfrm>
            <a:off x="640080" y="5897880"/>
            <a:ext cx="457200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b="1" dirty="0">
                <a:solidFill>
                  <a:srgbClr val="F5EBD8"/>
                </a:solidFill>
                <a:latin typeface="Segoe UI"/>
                <a:cs typeface="Segoe UI"/>
              </a:rPr>
              <a:t>DA13 – DA17 Abuso, privacidad, LLM</a:t>
            </a:r>
          </a:p>
        </p:txBody>
      </p:sp>
      <p:sp>
        <p:nvSpPr>
          <p:cNvPr id="41" name="Forma 41"/>
          <p:cNvSpPr/>
          <p:nvPr/>
        </p:nvSpPr>
        <p:spPr>
          <a:xfrm>
            <a:off x="5212080" y="5897880"/>
            <a:ext cx="4023360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Límites, retención, asistente aislado</a:t>
            </a:r>
          </a:p>
        </p:txBody>
      </p:sp>
      <p:sp>
        <p:nvSpPr>
          <p:cNvPr id="42" name="Forma 42"/>
          <p:cNvSpPr/>
          <p:nvPr/>
        </p:nvSpPr>
        <p:spPr>
          <a:xfrm>
            <a:off x="9235440" y="5897880"/>
            <a:ext cx="2313432" cy="45720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00" dirty="0">
                <a:solidFill>
                  <a:srgbClr val="F5EBD8"/>
                </a:solidFill>
                <a:latin typeface="Segoe UI"/>
                <a:cs typeface="Segoe UI"/>
              </a:rPr>
              <a:t>AD24 a AD30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3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C4 NIVEL 1: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CONTEXTO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1765995" y="1737360"/>
            <a:ext cx="8629530" cy="4480560"/>
          </a:xfrm>
          <a:prstGeom prst="roundRect">
            <a:avLst>
              <a:gd name="adj" fmla="val 1800"/>
            </a:avLst>
          </a:prstGeom>
          <a:solidFill>
            <a:srgbClr val="FBF5E8"/>
          </a:solidFill>
          <a:ln w="15875">
            <a:solidFill>
              <a:srgbClr val="36457A"/>
            </a:solidFill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pic>
        <p:nvPicPr>
          <p:cNvPr id="14" name="Imagen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723" y="1847088"/>
            <a:ext cx="8410074" cy="426110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4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C4 NIVEL 2: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CONTENEDORES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2743200" y="1697187"/>
            <a:ext cx="6675120" cy="4652345"/>
          </a:xfrm>
          <a:prstGeom prst="roundRect">
            <a:avLst>
              <a:gd name="adj" fmla="val 1800"/>
            </a:avLst>
          </a:prstGeom>
          <a:solidFill>
            <a:srgbClr val="FBF5E8"/>
          </a:solidFill>
          <a:ln w="15875">
            <a:solidFill>
              <a:srgbClr val="36457A"/>
            </a:solidFill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pic>
        <p:nvPicPr>
          <p:cNvPr id="14" name="Imagen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2928" y="1806915"/>
            <a:ext cx="6455664" cy="443288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5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COMPONENTES DE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INVENTARIO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1035617" y="1783080"/>
            <a:ext cx="10090287" cy="4069080"/>
          </a:xfrm>
          <a:prstGeom prst="roundRect">
            <a:avLst>
              <a:gd name="adj" fmla="val 1800"/>
            </a:avLst>
          </a:prstGeom>
          <a:solidFill>
            <a:srgbClr val="FBF5E8"/>
          </a:solidFill>
          <a:ln w="15875">
            <a:solidFill>
              <a:srgbClr val="36457A"/>
            </a:solidFill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pic>
        <p:nvPicPr>
          <p:cNvPr id="14" name="Imagen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5345" y="1892808"/>
            <a:ext cx="9870831" cy="3849624"/>
          </a:xfrm>
          <a:prstGeom prst="rect">
            <a:avLst/>
          </a:prstGeom>
        </p:spPr>
      </p:pic>
      <p:sp>
        <p:nvSpPr>
          <p:cNvPr id="15" name="Forma 15"/>
          <p:cNvSpPr/>
          <p:nvPr/>
        </p:nvSpPr>
        <p:spPr>
          <a:xfrm>
            <a:off x="822960" y="5943600"/>
            <a:ext cx="1051560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150" dirty="0">
                <a:solidFill>
                  <a:srgbClr val="B7B3A8"/>
                </a:solidFill>
                <a:latin typeface="Segoe UI"/>
                <a:cs typeface="Segoe UI"/>
              </a:rPr>
              <a:t>FUE · SEL · TRA · AJU · expiración de reservas · auditoría; los puertos los implementa la Infraestructura.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6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COMPONENTES DE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E-COMMERCE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1001620" y="1783080"/>
            <a:ext cx="10158281" cy="4526280"/>
          </a:xfrm>
          <a:prstGeom prst="roundRect">
            <a:avLst>
              <a:gd name="adj" fmla="val 1800"/>
            </a:avLst>
          </a:prstGeom>
          <a:solidFill>
            <a:srgbClr val="FBF5E8"/>
          </a:solidFill>
          <a:ln w="15875">
            <a:solidFill>
              <a:srgbClr val="36457A"/>
            </a:solidFill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pic>
        <p:nvPicPr>
          <p:cNvPr id="14" name="Imagen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348" y="1892808"/>
            <a:ext cx="9938825" cy="430682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7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REQUISITOS POR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COMPONENTE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1737360"/>
            <a:ext cx="3383280" cy="347472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Componente (spec)</a:t>
            </a:r>
          </a:p>
        </p:txBody>
      </p:sp>
      <p:sp>
        <p:nvSpPr>
          <p:cNvPr id="14" name="Forma 14"/>
          <p:cNvSpPr/>
          <p:nvPr/>
        </p:nvSpPr>
        <p:spPr>
          <a:xfrm>
            <a:off x="4023360" y="1737360"/>
            <a:ext cx="7525512" cy="347472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Familia de requisitos que cumple</a:t>
            </a:r>
          </a:p>
        </p:txBody>
      </p:sp>
      <p:sp>
        <p:nvSpPr>
          <p:cNvPr id="15" name="Forma 15"/>
          <p:cNvSpPr/>
          <p:nvPr/>
        </p:nvSpPr>
        <p:spPr>
          <a:xfrm>
            <a:off x="640080" y="2084832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Fuentes y rutas (FUE)</a:t>
            </a:r>
          </a:p>
        </p:txBody>
      </p:sp>
      <p:sp>
        <p:nvSpPr>
          <p:cNvPr id="16" name="Forma 16"/>
          <p:cNvSpPr/>
          <p:nvPr/>
        </p:nvSpPr>
        <p:spPr>
          <a:xfrm>
            <a:off x="4023360" y="2084832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Registrar fuentes y stock; stock vendible; consulta por sucursal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2432304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Reservas y selección (SEL)</a:t>
            </a:r>
          </a:p>
        </p:txBody>
      </p:sp>
      <p:sp>
        <p:nvSpPr>
          <p:cNvPr id="18" name="Forma 18"/>
          <p:cNvSpPr/>
          <p:nvPr/>
        </p:nvSpPr>
        <p:spPr>
          <a:xfrm>
            <a:off x="4023360" y="2432304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Reservar antes de cobrar; elegir la sucursal; límites contra el acaparamiento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2779776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Traslados (TRA)</a:t>
            </a:r>
          </a:p>
        </p:txBody>
      </p:sp>
      <p:sp>
        <p:nvSpPr>
          <p:cNvPr id="20" name="Forma 20"/>
          <p:cNvSpPr/>
          <p:nvPr/>
        </p:nvSpPr>
        <p:spPr>
          <a:xfrm>
            <a:off x="4023360" y="2779776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Mover mercadería entre sucursales con estado, trazabilidad y avisos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" y="3127248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Ajustes (AJU)</a:t>
            </a:r>
          </a:p>
        </p:txBody>
      </p:sp>
      <p:sp>
        <p:nvSpPr>
          <p:cNvPr id="22" name="Forma 22"/>
          <p:cNvSpPr/>
          <p:nvPr/>
        </p:nvSpPr>
        <p:spPr>
          <a:xfrm>
            <a:off x="4023360" y="3127248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Merma, daño y conteo con motivo y responsable</a:t>
            </a:r>
          </a:p>
        </p:txBody>
      </p:sp>
      <p:sp>
        <p:nvSpPr>
          <p:cNvPr id="23" name="Forma 23"/>
          <p:cNvSpPr/>
          <p:nvPr/>
        </p:nvSpPr>
        <p:spPr>
          <a:xfrm>
            <a:off x="640080" y="3474720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Catálogo (CAT)</a:t>
            </a:r>
          </a:p>
        </p:txBody>
      </p:sp>
      <p:sp>
        <p:nvSpPr>
          <p:cNvPr id="24" name="Forma 24"/>
          <p:cNvSpPr/>
          <p:nvPr/>
        </p:nvSpPr>
        <p:spPr>
          <a:xfrm>
            <a:off x="4023360" y="3474720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Buscar y gestionar libros; licencias digitales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3822192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Carrito y pagos (CAR, PAG)</a:t>
            </a:r>
          </a:p>
        </p:txBody>
      </p:sp>
      <p:sp>
        <p:nvSpPr>
          <p:cNvPr id="26" name="Forma 26"/>
          <p:cNvSpPr/>
          <p:nvPr/>
        </p:nvSpPr>
        <p:spPr>
          <a:xfrm>
            <a:off x="4023360" y="3822192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Carrito persistente; validar stock real; cobrar una vez, sin datos de tarjeta</a:t>
            </a:r>
          </a:p>
        </p:txBody>
      </p:sp>
      <p:sp>
        <p:nvSpPr>
          <p:cNvPr id="27" name="Forma 27"/>
          <p:cNvSpPr/>
          <p:nvPr/>
        </p:nvSpPr>
        <p:spPr>
          <a:xfrm>
            <a:off x="640080" y="4169664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Pedidos (PED)</a:t>
            </a:r>
          </a:p>
        </p:txBody>
      </p:sp>
      <p:sp>
        <p:nvSpPr>
          <p:cNvPr id="28" name="Forma 28"/>
          <p:cNvSpPr/>
          <p:nvPr/>
        </p:nvSpPr>
        <p:spPr>
          <a:xfrm>
            <a:off x="4023360" y="4169664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Estados por línea, recojo, cancelación y anulación</a:t>
            </a:r>
          </a:p>
        </p:txBody>
      </p:sp>
      <p:sp>
        <p:nvSpPr>
          <p:cNvPr id="29" name="Forma 29"/>
          <p:cNvSpPr/>
          <p:nvPr/>
        </p:nvSpPr>
        <p:spPr>
          <a:xfrm>
            <a:off x="640080" y="4517136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Biblioteca digital (BIB)</a:t>
            </a:r>
          </a:p>
        </p:txBody>
      </p:sp>
      <p:sp>
        <p:nvSpPr>
          <p:cNvPr id="30" name="Forma 30"/>
          <p:cNvSpPr/>
          <p:nvPr/>
        </p:nvSpPr>
        <p:spPr>
          <a:xfrm>
            <a:off x="4023360" y="4517136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Acceso inmediato y descarga protegida</a:t>
            </a:r>
          </a:p>
        </p:txBody>
      </p:sp>
      <p:sp>
        <p:nvSpPr>
          <p:cNvPr id="31" name="Forma 31"/>
          <p:cNvSpPr/>
          <p:nvPr/>
        </p:nvSpPr>
        <p:spPr>
          <a:xfrm>
            <a:off x="640080" y="4864608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Envíos, devoluciones, reclamos</a:t>
            </a:r>
          </a:p>
        </p:txBody>
      </p:sp>
      <p:sp>
        <p:nvSpPr>
          <p:cNvPr id="32" name="Forma 32"/>
          <p:cNvSpPr/>
          <p:nvPr/>
        </p:nvSpPr>
        <p:spPr>
          <a:xfrm>
            <a:off x="4023360" y="4864608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Guías; devolver y reembolsar; Libro de Reclamaciones (ENV, DEV, REC)</a:t>
            </a:r>
          </a:p>
        </p:txBody>
      </p:sp>
      <p:sp>
        <p:nvSpPr>
          <p:cNvPr id="33" name="Forma 33"/>
          <p:cNvSpPr/>
          <p:nvPr/>
        </p:nvSpPr>
        <p:spPr>
          <a:xfrm>
            <a:off x="640080" y="5212080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Identidad (IDE)</a:t>
            </a:r>
          </a:p>
        </p:txBody>
      </p:sp>
      <p:sp>
        <p:nvSpPr>
          <p:cNvPr id="34" name="Forma 34"/>
          <p:cNvSpPr/>
          <p:nvPr/>
        </p:nvSpPr>
        <p:spPr>
          <a:xfrm>
            <a:off x="4023360" y="5212080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Autenticación, roles y sucursal, segundo factor, derechos ARCO</a:t>
            </a:r>
          </a:p>
        </p:txBody>
      </p:sp>
      <p:sp>
        <p:nvSpPr>
          <p:cNvPr id="35" name="Forma 35"/>
          <p:cNvSpPr/>
          <p:nvPr/>
        </p:nvSpPr>
        <p:spPr>
          <a:xfrm>
            <a:off x="640080" y="5559552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Asistente y Web (ASI, WEB, IND)</a:t>
            </a:r>
          </a:p>
        </p:txBody>
      </p:sp>
      <p:sp>
        <p:nvSpPr>
          <p:cNvPr id="36" name="Forma 36"/>
          <p:cNvSpPr/>
          <p:nvPr/>
        </p:nvSpPr>
        <p:spPr>
          <a:xfrm>
            <a:off x="4023360" y="5559552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Orientar con datos reales; interfaz responsiva y accesible</a:t>
            </a:r>
          </a:p>
        </p:txBody>
      </p:sp>
      <p:sp>
        <p:nvSpPr>
          <p:cNvPr id="37" name="Forma 37"/>
          <p:cNvSpPr/>
          <p:nvPr/>
        </p:nvSpPr>
        <p:spPr>
          <a:xfrm>
            <a:off x="640080" y="5907024"/>
            <a:ext cx="3383280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b="1" dirty="0">
                <a:solidFill>
                  <a:srgbClr val="F5EBD8"/>
                </a:solidFill>
                <a:latin typeface="Segoe UI"/>
                <a:cs typeface="Segoe UI"/>
              </a:rPr>
              <a:t>Transversales (NOT, AUD, SEG)</a:t>
            </a:r>
          </a:p>
        </p:txBody>
      </p:sp>
      <p:sp>
        <p:nvSpPr>
          <p:cNvPr id="38" name="Forma 38"/>
          <p:cNvSpPr/>
          <p:nvPr/>
        </p:nvSpPr>
        <p:spPr>
          <a:xfrm>
            <a:off x="4023360" y="5907024"/>
            <a:ext cx="7525512" cy="347472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150" dirty="0">
                <a:solidFill>
                  <a:srgbClr val="F5EBD8"/>
                </a:solidFill>
                <a:latin typeface="Segoe UI"/>
                <a:cs typeface="Segoe UI"/>
              </a:rPr>
              <a:t>Avisos que no bloquean; auditoría; límites y eventos de seguridad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8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SEGURIDAD Y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PRIVACIDAD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182880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14" name="Forma 14"/>
          <p:cNvSpPr/>
          <p:nvPr/>
        </p:nvSpPr>
        <p:spPr>
          <a:xfrm>
            <a:off x="822960" y="1965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AMENAZAS Y CONTROLES</a:t>
            </a:r>
          </a:p>
        </p:txBody>
      </p:sp>
      <p:sp>
        <p:nvSpPr>
          <p:cNvPr id="15" name="Forma 15"/>
          <p:cNvSpPr/>
          <p:nvPr/>
        </p:nvSpPr>
        <p:spPr>
          <a:xfrm>
            <a:off x="822960" y="237744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27 amenazas (AM) y 38 controles basados en ASVS 5.0</a:t>
            </a:r>
          </a:p>
        </p:txBody>
      </p:sp>
      <p:sp>
        <p:nvSpPr>
          <p:cNvPr id="16" name="Forma 16"/>
          <p:cNvSpPr/>
          <p:nvPr/>
        </p:nvSpPr>
        <p:spPr>
          <a:xfrm>
            <a:off x="4361688" y="182880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17" name="Forma 17"/>
          <p:cNvSpPr/>
          <p:nvPr/>
        </p:nvSpPr>
        <p:spPr>
          <a:xfrm>
            <a:off x="4544568" y="1965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AUTENTICACIÓN</a:t>
            </a:r>
          </a:p>
        </p:txBody>
      </p:sp>
      <p:sp>
        <p:nvSpPr>
          <p:cNvPr id="18" name="Forma 18"/>
          <p:cNvSpPr/>
          <p:nvPr/>
        </p:nvSpPr>
        <p:spPr>
          <a:xfrm>
            <a:off x="4544568" y="237744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Credencial de 15 min, segundo factor para el personal y alcance por sucursal</a:t>
            </a:r>
          </a:p>
        </p:txBody>
      </p:sp>
      <p:sp>
        <p:nvSpPr>
          <p:cNvPr id="19" name="Forma 19"/>
          <p:cNvSpPr/>
          <p:nvPr/>
        </p:nvSpPr>
        <p:spPr>
          <a:xfrm>
            <a:off x="8083296" y="182880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0" name="Forma 20"/>
          <p:cNvSpPr/>
          <p:nvPr/>
        </p:nvSpPr>
        <p:spPr>
          <a:xfrm>
            <a:off x="8266176" y="196596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PRIVACIDAD</a:t>
            </a:r>
          </a:p>
        </p:txBody>
      </p:sp>
      <p:sp>
        <p:nvSpPr>
          <p:cNvPr id="21" name="Forma 21"/>
          <p:cNvSpPr/>
          <p:nvPr/>
        </p:nvSpPr>
        <p:spPr>
          <a:xfrm>
            <a:off x="8266176" y="237744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Ley N.° 29733: minimización, consentimiento, derechos ARCO y retención</a:t>
            </a:r>
          </a:p>
        </p:txBody>
      </p:sp>
      <p:sp>
        <p:nvSpPr>
          <p:cNvPr id="22" name="Forma 22"/>
          <p:cNvSpPr/>
          <p:nvPr/>
        </p:nvSpPr>
        <p:spPr>
          <a:xfrm>
            <a:off x="640080" y="402336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3" name="Forma 23"/>
          <p:cNvSpPr/>
          <p:nvPr/>
        </p:nvSpPr>
        <p:spPr>
          <a:xfrm>
            <a:off x="822960" y="416052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API E INTEGRACIONES</a:t>
            </a:r>
          </a:p>
        </p:txBody>
      </p:sp>
      <p:sp>
        <p:nvSpPr>
          <p:cNvPr id="24" name="Forma 24"/>
          <p:cNvSpPr/>
          <p:nvPr/>
        </p:nvSpPr>
        <p:spPr>
          <a:xfrm>
            <a:off x="822960" y="457200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Límites de uso en el borde y en la Aplicación; secretos en variables de entorno</a:t>
            </a:r>
          </a:p>
        </p:txBody>
      </p:sp>
      <p:sp>
        <p:nvSpPr>
          <p:cNvPr id="25" name="Forma 25"/>
          <p:cNvSpPr/>
          <p:nvPr/>
        </p:nvSpPr>
        <p:spPr>
          <a:xfrm>
            <a:off x="4361688" y="402336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6" name="Forma 26"/>
          <p:cNvSpPr/>
          <p:nvPr/>
        </p:nvSpPr>
        <p:spPr>
          <a:xfrm>
            <a:off x="4544568" y="416052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ASISTENTE</a:t>
            </a:r>
          </a:p>
        </p:txBody>
      </p:sp>
      <p:sp>
        <p:nvSpPr>
          <p:cNvPr id="27" name="Forma 27"/>
          <p:cNvSpPr/>
          <p:nvPr/>
        </p:nvSpPr>
        <p:spPr>
          <a:xfrm>
            <a:off x="4544568" y="457200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Sin acceso a bases de datos; credencial de solo lectura; salida como texto</a:t>
            </a:r>
          </a:p>
        </p:txBody>
      </p:sp>
      <p:sp>
        <p:nvSpPr>
          <p:cNvPr id="28" name="Forma 28"/>
          <p:cNvSpPr/>
          <p:nvPr/>
        </p:nvSpPr>
        <p:spPr>
          <a:xfrm>
            <a:off x="8083296" y="4023360"/>
            <a:ext cx="3474720" cy="2011680"/>
          </a:xfrm>
          <a:prstGeom prst="roundRect">
            <a:avLst>
              <a:gd name="adj" fmla="val 2500"/>
            </a:avLst>
          </a:prstGeom>
          <a:solidFill>
            <a:srgbClr val="14214A"/>
          </a:solidFill>
          <a:ln w="12700">
            <a:solidFill>
              <a:srgbClr val="36457A"/>
            </a:solidFill>
          </a:ln>
        </p:spPr>
        <p:txBody>
          <a:bodyPr wrap="square" lIns="128016" tIns="128016" rIns="128016" bIns="128016" rtlCol="0" anchor="t">
            <a:noAutofit/>
          </a:bodyPr>
          <a:lstStyle/>
          <a:p>
            <a:endParaRPr lang="es-PE"/>
          </a:p>
        </p:txBody>
      </p:sp>
      <p:sp>
        <p:nvSpPr>
          <p:cNvPr id="29" name="Forma 29"/>
          <p:cNvSpPr/>
          <p:nvPr/>
        </p:nvSpPr>
        <p:spPr>
          <a:xfrm>
            <a:off x="8266176" y="416052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50" b="1" spc="80" dirty="0">
                <a:solidFill>
                  <a:srgbClr val="FF665A"/>
                </a:solidFill>
                <a:latin typeface="Segoe UI"/>
                <a:cs typeface="Segoe UI"/>
              </a:rPr>
              <a:t>OPERACIÓN</a:t>
            </a:r>
          </a:p>
        </p:txBody>
      </p:sp>
      <p:sp>
        <p:nvSpPr>
          <p:cNvPr id="30" name="Forma 30"/>
          <p:cNvSpPr/>
          <p:nvPr/>
        </p:nvSpPr>
        <p:spPr>
          <a:xfrm>
            <a:off x="8266176" y="4572000"/>
            <a:ext cx="3108960" cy="13716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450" dirty="0">
                <a:solidFill>
                  <a:srgbClr val="F5EBD8"/>
                </a:solidFill>
                <a:latin typeface="Segoe UI"/>
                <a:cs typeface="Segoe UI"/>
              </a:rPr>
              <a:t>Escaneo y SBOM en CI, respaldos cifrados y respuesta a incidentes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9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5EBD8"/>
                </a:solidFill>
                <a:latin typeface="DM Serif Display"/>
                <a:cs typeface="DM Serif Display"/>
              </a:rPr>
              <a:t>DESPLIEGUE, LÍMITES Y </a:t>
            </a: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PRUEBAS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52272" y="1783080"/>
            <a:ext cx="7016496" cy="4297680"/>
          </a:xfrm>
          <a:prstGeom prst="roundRect">
            <a:avLst>
              <a:gd name="adj" fmla="val 1800"/>
            </a:avLst>
          </a:prstGeom>
          <a:solidFill>
            <a:srgbClr val="FBF5E8"/>
          </a:solidFill>
          <a:ln w="15875">
            <a:solidFill>
              <a:srgbClr val="36457A"/>
            </a:solidFill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pic>
        <p:nvPicPr>
          <p:cNvPr id="14" name="Imagen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892808"/>
            <a:ext cx="6797040" cy="4078224"/>
          </a:xfrm>
          <a:prstGeom prst="rect">
            <a:avLst/>
          </a:prstGeom>
        </p:spPr>
      </p:pic>
      <p:sp>
        <p:nvSpPr>
          <p:cNvPr id="15" name="Forma 15"/>
          <p:cNvSpPr/>
          <p:nvPr/>
        </p:nvSpPr>
        <p:spPr>
          <a:xfrm>
            <a:off x="7955280" y="1828800"/>
            <a:ext cx="3566160" cy="42062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Oracle Free Tier: 2 OCPU y 12 GB ARM en total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Puertos 80 y 443 cerrados; entra el túnel saliente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PostgreSQL solo accesible desde la VM de aplicaciones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Pruebas: xUnit, Testcontainers, Playwright y k6</a:t>
            </a:r>
          </a:p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FF665A"/>
              </a:buClr>
              <a:buFont typeface="Arial"/>
              <a:buChar char="•"/>
            </a:pPr>
            <a:r>
              <a:rPr lang="es-PE" sz="1400" dirty="0">
                <a:solidFill>
                  <a:srgbClr val="F5EBD8"/>
                </a:solidFill>
                <a:latin typeface="Segoe UI"/>
                <a:cs typeface="Segoe UI"/>
              </a:rPr>
              <a:t>k6: objetivo, no resultado medido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rma 2"/>
          <p:cNvSpPr/>
          <p:nvPr/>
        </p:nvSpPr>
        <p:spPr>
          <a:xfrm>
            <a:off x="640080" y="155448"/>
            <a:ext cx="329184" cy="329184"/>
          </a:xfrm>
          <a:prstGeom prst="roundRect">
            <a:avLst>
              <a:gd name="adj" fmla="val 22000"/>
            </a:avLst>
          </a:prstGeom>
          <a:solidFill>
            <a:srgbClr val="FF665A"/>
          </a:solidFill>
          <a:ln>
            <a:noFill/>
          </a:ln>
        </p:spPr>
        <p:txBody>
          <a:bodyPr wrap="square" lIns="91440" tIns="91440" rIns="91440" bIns="91440" rtlCol="0" anchor="t">
            <a:noAutofit/>
          </a:bodyPr>
          <a:lstStyle/>
          <a:p>
            <a:endParaRPr lang="es-PE"/>
          </a:p>
        </p:txBody>
      </p:sp>
      <p:cxnSp>
        <p:nvCxnSpPr>
          <p:cNvPr id="3" name="Linea 3"/>
          <p:cNvCxnSpPr/>
          <p:nvPr/>
        </p:nvCxnSpPr>
        <p:spPr>
          <a:xfrm>
            <a:off x="704088" y="228600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4" name="Linea 4"/>
          <p:cNvCxnSpPr/>
          <p:nvPr/>
        </p:nvCxnSpPr>
        <p:spPr>
          <a:xfrm>
            <a:off x="905256" y="228600"/>
            <a:ext cx="0" cy="192024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5" name="Linea 5"/>
          <p:cNvCxnSpPr/>
          <p:nvPr/>
        </p:nvCxnSpPr>
        <p:spPr>
          <a:xfrm flipH="1">
            <a:off x="704088" y="420624"/>
            <a:ext cx="201168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6" name="Linea 6"/>
          <p:cNvCxnSpPr/>
          <p:nvPr/>
        </p:nvCxnSpPr>
        <p:spPr>
          <a:xfrm flipV="1">
            <a:off x="704088" y="310896"/>
            <a:ext cx="0" cy="109728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cxnSp>
        <p:nvCxnSpPr>
          <p:cNvPr id="7" name="Linea 7"/>
          <p:cNvCxnSpPr/>
          <p:nvPr/>
        </p:nvCxnSpPr>
        <p:spPr>
          <a:xfrm>
            <a:off x="704088" y="310896"/>
            <a:ext cx="118872" cy="0"/>
          </a:xfrm>
          <a:prstGeom prst="line">
            <a:avLst/>
          </a:prstGeom>
          <a:ln w="22225" cap="rnd">
            <a:solidFill>
              <a:srgbClr val="172554"/>
            </a:solidFill>
            <a:round/>
          </a:ln>
        </p:spPr>
      </p:cxnSp>
      <p:sp>
        <p:nvSpPr>
          <p:cNvPr id="8" name="Forma 8"/>
          <p:cNvSpPr/>
          <p:nvPr/>
        </p:nvSpPr>
        <p:spPr>
          <a:xfrm>
            <a:off x="1078992" y="128016"/>
            <a:ext cx="2011680" cy="38404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800" dirty="0">
                <a:solidFill>
                  <a:srgbClr val="F5EBD8"/>
                </a:solidFill>
                <a:latin typeface="DM Serif Display"/>
                <a:cs typeface="DM Serif Display"/>
              </a:rPr>
              <a:t>BabelHub</a:t>
            </a:r>
          </a:p>
        </p:txBody>
      </p:sp>
      <p:sp>
        <p:nvSpPr>
          <p:cNvPr id="9" name="Forma 9"/>
          <p:cNvSpPr/>
          <p:nvPr/>
        </p:nvSpPr>
        <p:spPr>
          <a:xfrm>
            <a:off x="10058400" y="182880"/>
            <a:ext cx="1490472" cy="274320"/>
          </a:xfrm>
          <a:prstGeom prst="roundRect">
            <a:avLst>
              <a:gd name="adj" fmla="val 50000"/>
            </a:avLst>
          </a:prstGeom>
          <a:solidFill>
            <a:srgbClr val="1B2A57"/>
          </a:solidFill>
          <a:ln w="12700">
            <a:solidFill>
              <a:srgbClr val="FF665A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b="1" dirty="0">
                <a:solidFill>
                  <a:srgbClr val="F5EBD8"/>
                </a:solidFill>
                <a:latin typeface="Segoe UI"/>
                <a:cs typeface="Segoe UI"/>
              </a:rPr>
              <a:t>RESPALDO 10</a:t>
            </a:r>
          </a:p>
        </p:txBody>
      </p:sp>
      <p:cxnSp>
        <p:nvCxnSpPr>
          <p:cNvPr id="10" name="Linea 10"/>
          <p:cNvCxnSpPr/>
          <p:nvPr/>
        </p:nvCxnSpPr>
        <p:spPr>
          <a:xfrm>
            <a:off x="640080" y="640080"/>
            <a:ext cx="10908792" cy="0"/>
          </a:xfrm>
          <a:prstGeom prst="line">
            <a:avLst/>
          </a:prstGeom>
          <a:ln w="9525" cap="rnd">
            <a:solidFill>
              <a:srgbClr val="36457A"/>
            </a:solidFill>
            <a:round/>
          </a:ln>
        </p:spPr>
      </p:cxnSp>
      <p:sp>
        <p:nvSpPr>
          <p:cNvPr id="11" name="Forma 11"/>
          <p:cNvSpPr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3200" i="1" cap="all" dirty="0">
                <a:solidFill>
                  <a:srgbClr val="FF665A"/>
                </a:solidFill>
                <a:latin typeface="DM Serif Display"/>
                <a:cs typeface="DM Serif Display"/>
              </a:rPr>
              <a:t>GLOSARIO</a:t>
            </a:r>
          </a:p>
        </p:txBody>
      </p:sp>
      <p:sp>
        <p:nvSpPr>
          <p:cNvPr id="12" name="Forma 12"/>
          <p:cNvSpPr/>
          <p:nvPr/>
        </p:nvSpPr>
        <p:spPr>
          <a:xfrm>
            <a:off x="640080" y="6473952"/>
            <a:ext cx="7315200" cy="25603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s-PE" sz="1000" dirty="0">
                <a:solidFill>
                  <a:srgbClr val="B7B3A8"/>
                </a:solidFill>
                <a:latin typeface="Segoe UI"/>
                <a:cs typeface="Segoe UI"/>
              </a:rPr>
              <a:t>Arquitectura de Software (IS-488) · UNSCH</a:t>
            </a:r>
          </a:p>
        </p:txBody>
      </p:sp>
      <p:sp>
        <p:nvSpPr>
          <p:cNvPr id="13" name="Forma 13"/>
          <p:cNvSpPr/>
          <p:nvPr/>
        </p:nvSpPr>
        <p:spPr>
          <a:xfrm>
            <a:off x="640080" y="1783080"/>
            <a:ext cx="2651760" cy="502920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Término</a:t>
            </a:r>
          </a:p>
        </p:txBody>
      </p:sp>
      <p:sp>
        <p:nvSpPr>
          <p:cNvPr id="14" name="Forma 14"/>
          <p:cNvSpPr/>
          <p:nvPr/>
        </p:nvSpPr>
        <p:spPr>
          <a:xfrm>
            <a:off x="3291840" y="1783080"/>
            <a:ext cx="8257032" cy="502920"/>
          </a:xfrm>
          <a:prstGeom prst="rect">
            <a:avLst/>
          </a:prstGeom>
          <a:solidFill>
            <a:srgbClr val="1B2A57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050" b="1" cap="all" spc="80" dirty="0">
                <a:solidFill>
                  <a:srgbClr val="B7B3A8"/>
                </a:solidFill>
                <a:latin typeface="Segoe UI"/>
                <a:cs typeface="Segoe UI"/>
              </a:rPr>
              <a:t>Significado</a:t>
            </a:r>
          </a:p>
        </p:txBody>
      </p:sp>
      <p:sp>
        <p:nvSpPr>
          <p:cNvPr id="15" name="Forma 15"/>
          <p:cNvSpPr/>
          <p:nvPr/>
        </p:nvSpPr>
        <p:spPr>
          <a:xfrm>
            <a:off x="640080" y="228600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Fuente</a:t>
            </a:r>
          </a:p>
        </p:txBody>
      </p:sp>
      <p:sp>
        <p:nvSpPr>
          <p:cNvPr id="16" name="Forma 16"/>
          <p:cNvSpPr/>
          <p:nvPr/>
        </p:nvSpPr>
        <p:spPr>
          <a:xfrm>
            <a:off x="3291840" y="228600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Lugar que guarda stock de libros impresos; cada sucursal es una fuente</a:t>
            </a:r>
          </a:p>
        </p:txBody>
      </p:sp>
      <p:sp>
        <p:nvSpPr>
          <p:cNvPr id="17" name="Forma 17"/>
          <p:cNvSpPr/>
          <p:nvPr/>
        </p:nvSpPr>
        <p:spPr>
          <a:xfrm>
            <a:off x="640080" y="278892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Stock vendible</a:t>
            </a:r>
          </a:p>
        </p:txBody>
      </p:sp>
      <p:sp>
        <p:nvSpPr>
          <p:cNvPr id="18" name="Forma 18"/>
          <p:cNvSpPr/>
          <p:nvPr/>
        </p:nvSpPr>
        <p:spPr>
          <a:xfrm>
            <a:off x="3291840" y="278892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Stock físico menos reservas activas; nunca negativo</a:t>
            </a:r>
          </a:p>
        </p:txBody>
      </p:sp>
      <p:sp>
        <p:nvSpPr>
          <p:cNvPr id="19" name="Forma 19"/>
          <p:cNvSpPr/>
          <p:nvPr/>
        </p:nvSpPr>
        <p:spPr>
          <a:xfrm>
            <a:off x="640080" y="329184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Reserva</a:t>
            </a:r>
          </a:p>
        </p:txBody>
      </p:sp>
      <p:sp>
        <p:nvSpPr>
          <p:cNvPr id="20" name="Forma 20"/>
          <p:cNvSpPr/>
          <p:nvPr/>
        </p:nvSpPr>
        <p:spPr>
          <a:xfrm>
            <a:off x="3291840" y="329184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Apartado temporal de unidades para un pedido en curso (15 minutos)</a:t>
            </a:r>
          </a:p>
        </p:txBody>
      </p:sp>
      <p:sp>
        <p:nvSpPr>
          <p:cNvPr id="21" name="Forma 21"/>
          <p:cNvSpPr/>
          <p:nvPr/>
        </p:nvSpPr>
        <p:spPr>
          <a:xfrm>
            <a:off x="640080" y="379476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Traslado</a:t>
            </a:r>
          </a:p>
        </p:txBody>
      </p:sp>
      <p:sp>
        <p:nvSpPr>
          <p:cNvPr id="22" name="Forma 22"/>
          <p:cNvSpPr/>
          <p:nvPr/>
        </p:nvSpPr>
        <p:spPr>
          <a:xfrm>
            <a:off x="3291840" y="379476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Movimiento de ejemplares entre dos fuentes, con estado y trazabilidad</a:t>
            </a:r>
          </a:p>
        </p:txBody>
      </p:sp>
      <p:sp>
        <p:nvSpPr>
          <p:cNvPr id="23" name="Forma 23"/>
          <p:cNvSpPr/>
          <p:nvPr/>
        </p:nvSpPr>
        <p:spPr>
          <a:xfrm>
            <a:off x="640080" y="429768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Idempotencia</a:t>
            </a:r>
          </a:p>
        </p:txBody>
      </p:sp>
      <p:sp>
        <p:nvSpPr>
          <p:cNvPr id="24" name="Forma 24"/>
          <p:cNvSpPr/>
          <p:nvPr/>
        </p:nvSpPr>
        <p:spPr>
          <a:xfrm>
            <a:off x="3291840" y="429768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Repetir una operación no la duplica (cobros y reservas)</a:t>
            </a:r>
          </a:p>
        </p:txBody>
      </p:sp>
      <p:sp>
        <p:nvSpPr>
          <p:cNvPr id="25" name="Forma 25"/>
          <p:cNvSpPr/>
          <p:nvPr/>
        </p:nvSpPr>
        <p:spPr>
          <a:xfrm>
            <a:off x="640080" y="480060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URL firmada</a:t>
            </a:r>
          </a:p>
        </p:txBody>
      </p:sp>
      <p:sp>
        <p:nvSpPr>
          <p:cNvPr id="26" name="Forma 26"/>
          <p:cNvSpPr/>
          <p:nvPr/>
        </p:nvSpPr>
        <p:spPr>
          <a:xfrm>
            <a:off x="3291840" y="480060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Enlace temporal (5 minutos como máximo) para descargar un archivo</a:t>
            </a:r>
          </a:p>
        </p:txBody>
      </p:sp>
      <p:sp>
        <p:nvSpPr>
          <p:cNvPr id="27" name="Forma 27"/>
          <p:cNvSpPr/>
          <p:nvPr/>
        </p:nvSpPr>
        <p:spPr>
          <a:xfrm>
            <a:off x="640080" y="530352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Spec</a:t>
            </a:r>
          </a:p>
        </p:txBody>
      </p:sp>
      <p:sp>
        <p:nvSpPr>
          <p:cNvPr id="28" name="Forma 28"/>
          <p:cNvSpPr/>
          <p:nvPr/>
        </p:nvSpPr>
        <p:spPr>
          <a:xfrm>
            <a:off x="3291840" y="530352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Descripción del comportamiento de un componente, con criterios de aceptación</a:t>
            </a:r>
          </a:p>
        </p:txBody>
      </p:sp>
      <p:sp>
        <p:nvSpPr>
          <p:cNvPr id="29" name="Forma 29"/>
          <p:cNvSpPr/>
          <p:nvPr/>
        </p:nvSpPr>
        <p:spPr>
          <a:xfrm>
            <a:off x="640080" y="5806440"/>
            <a:ext cx="2651760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b="1" dirty="0">
                <a:solidFill>
                  <a:srgbClr val="F5EBD8"/>
                </a:solidFill>
                <a:latin typeface="Segoe UI"/>
                <a:cs typeface="Segoe UI"/>
              </a:rPr>
              <a:t>C4</a:t>
            </a:r>
          </a:p>
        </p:txBody>
      </p:sp>
      <p:sp>
        <p:nvSpPr>
          <p:cNvPr id="30" name="Forma 30"/>
          <p:cNvSpPr/>
          <p:nvPr/>
        </p:nvSpPr>
        <p:spPr>
          <a:xfrm>
            <a:off x="3291840" y="5806440"/>
            <a:ext cx="8257032" cy="502920"/>
          </a:xfrm>
          <a:prstGeom prst="rect">
            <a:avLst/>
          </a:prstGeom>
          <a:solidFill>
            <a:srgbClr val="14214A"/>
          </a:solidFill>
          <a:ln w="9525">
            <a:solidFill>
              <a:srgbClr val="36457A"/>
            </a:solidFill>
          </a:ln>
        </p:spPr>
        <p:txBody>
          <a:bodyPr wrap="square" lIns="91440" tIns="91440" rIns="91440" bIns="91440" rtlCol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PE" sz="1250" dirty="0">
                <a:solidFill>
                  <a:srgbClr val="F5EBD8"/>
                </a:solidFill>
                <a:latin typeface="Segoe UI"/>
                <a:cs typeface="Segoe UI"/>
              </a:rPr>
              <a:t>Modelo de vistas de la arquitectura: contexto, contenedores y componentes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M Serif Display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2386</Words>
  <Application>Microsoft Office PowerPoint</Application>
  <PresentationFormat>Panorámica</PresentationFormat>
  <Paragraphs>561</Paragraphs>
  <Slides>25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25</vt:i4>
      </vt:variant>
    </vt:vector>
  </HeadingPairs>
  <TitlesOfParts>
    <vt:vector size="29" baseType="lpstr">
      <vt:lpstr>Arial</vt:lpstr>
      <vt:lpstr>Segoe UI</vt:lpstr>
      <vt:lpstr>DM Serif Display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BabelHub: de los requisitos a la arquitectura</dc:title>
  <dc:creator>Diego Rodrigo Amiquero Antonio</dc:creator>
  <cp:lastModifiedBy>Diego Amiquero</cp:lastModifiedBy>
  <cp:revision>1</cp:revision>
  <dcterms:created xsi:type="dcterms:W3CDTF">2026-10-16T00:00:00Z</dcterms:created>
  <dcterms:modified xsi:type="dcterms:W3CDTF">2026-10-17T02:10:19Z</dcterms:modified>
</cp:coreProperties>
</file>