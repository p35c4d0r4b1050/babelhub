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lvl1pPr>
      <a:defRPr sz="1800"/>
    </a:lvl1pPr>
  </p:defaultTextStyle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0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Img1" Type="http://schemas.openxmlformats.org/officeDocument/2006/relationships/image" Target="../media/img1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Img1" Type="http://schemas.openxmlformats.org/officeDocument/2006/relationships/image" Target="../media/img2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Img1" Type="http://schemas.openxmlformats.org/officeDocument/2006/relationships/image" Target="../media/img3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Img1" Type="http://schemas.openxmlformats.org/officeDocument/2006/relationships/image" Target="../media/img4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Img1" Type="http://schemas.openxmlformats.org/officeDocument/2006/relationships/image" Target="../media/img5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777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F665A"/>
                </a:solidFill>
                <a:latin typeface="Segoe UI"/>
                <a:cs typeface="Segoe UI"/>
              </a:rPr>
              <a:t>ARQUITECTURA DE SOFTWARE · IS-488</a:t>
            </a:r>
          </a:p>
        </p:txBody>
      </p:sp>
      <p:cxnSp>
        <p:nvCxnSpPr>
          <p:cNvPr id="3" name="Linea 3"/>
          <p:cNvCxnSpPr/>
          <p:nvPr/>
        </p:nvCxnSpPr>
        <p:spPr>
          <a:xfrm>
            <a:off x="640080" y="1234440"/>
            <a:ext cx="1097280" cy="0"/>
          </a:xfrm>
          <a:prstGeom prst="line">
            <a:avLst/>
          </a:prstGeom>
          <a:ln w="50800" cap="rnd">
            <a:solidFill>
              <a:srgbClr val="FF665A"/>
            </a:solidFill>
            <a:round/>
          </a:ln>
        </p:spPr>
      </p:cxnSp>
      <p:sp>
        <p:nvSpPr>
          <p:cNvPr id="4" name="Forma 4"/>
          <p:cNvSpPr/>
          <p:nvPr/>
        </p:nvSpPr>
        <p:spPr>
          <a:xfrm>
            <a:off x="640080" y="1463040"/>
            <a:ext cx="6858000" cy="21945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4200" dirty="0">
                <a:solidFill>
                  <a:srgbClr val="F5EBD8"/>
                </a:solidFill>
                <a:latin typeface="Georgia"/>
                <a:cs typeface="Georgia"/>
              </a:rPr>
              <a:t>BabelHub: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4200" dirty="0">
                <a:solidFill>
                  <a:srgbClr val="F5EBD8"/>
                </a:solidFill>
                <a:latin typeface="Georgia"/>
                <a:cs typeface="Georgia"/>
              </a:rPr>
              <a:t>de los requisitos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4200" dirty="0">
                <a:solidFill>
                  <a:srgbClr val="F5EBD8"/>
                </a:solidFill>
                <a:latin typeface="Georgia"/>
                <a:cs typeface="Georgia"/>
              </a:rPr>
              <a:t>a la arquitectura</a:t>
            </a:r>
          </a:p>
        </p:txBody>
      </p:sp>
      <p:sp>
        <p:nvSpPr>
          <p:cNvPr id="5" name="Forma 5"/>
          <p:cNvSpPr/>
          <p:nvPr/>
        </p:nvSpPr>
        <p:spPr>
          <a:xfrm>
            <a:off x="640080" y="3840480"/>
            <a:ext cx="621792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i="1" dirty="0">
                <a:solidFill>
                  <a:srgbClr val="B7B3A8"/>
                </a:solidFill>
                <a:latin typeface="Segoe UI"/>
                <a:cs typeface="Segoe UI"/>
              </a:rPr>
              <a:t>Tienda en línea e inventario multi-sucursal para una red de librerías</a:t>
            </a:r>
          </a:p>
        </p:txBody>
      </p:sp>
      <p:sp>
        <p:nvSpPr>
          <p:cNvPr id="6" name="Forma 6"/>
          <p:cNvSpPr/>
          <p:nvPr/>
        </p:nvSpPr>
        <p:spPr>
          <a:xfrm>
            <a:off x="640080" y="5029200"/>
            <a:ext cx="6766560" cy="12801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PE" sz="1300" dirty="0">
                <a:solidFill>
                  <a:srgbClr val="B7B3A8"/>
                </a:solidFill>
                <a:latin typeface="Segoe UI"/>
                <a:cs typeface="Segoe UI"/>
              </a:rPr>
              <a:t>Estudiante: Diego Rodrigo Amiquero Antonio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PE" sz="1300" dirty="0">
                <a:solidFill>
                  <a:srgbClr val="B7B3A8"/>
                </a:solidFill>
                <a:latin typeface="Segoe UI"/>
                <a:cs typeface="Segoe UI"/>
              </a:rPr>
              <a:t>Docente: Ing. Lizbeth Jaico Quispe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PE" sz="1300" dirty="0">
                <a:solidFill>
                  <a:srgbClr val="B7B3A8"/>
                </a:solidFill>
                <a:latin typeface="Segoe UI"/>
                <a:cs typeface="Segoe UI"/>
              </a:rPr>
              <a:t>Universidad Nacional de San Cristóbal de Huamanga · Ayacucho, 2026</a:t>
            </a:r>
          </a:p>
        </p:txBody>
      </p:sp>
      <p:cxnSp>
        <p:nvCxnSpPr>
          <p:cNvPr id="7" name="Linea 7"/>
          <p:cNvCxnSpPr/>
          <p:nvPr/>
        </p:nvCxnSpPr>
        <p:spPr>
          <a:xfrm flipH="1">
            <a:off x="10332720" y="822960"/>
            <a:ext cx="1856232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8" name="Linea 8"/>
          <p:cNvCxnSpPr/>
          <p:nvPr/>
        </p:nvCxnSpPr>
        <p:spPr>
          <a:xfrm>
            <a:off x="10332720" y="822960"/>
            <a:ext cx="0" cy="146304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9" name="Linea 9"/>
          <p:cNvCxnSpPr/>
          <p:nvPr/>
        </p:nvCxnSpPr>
        <p:spPr>
          <a:xfrm flipH="1">
            <a:off x="9144000" y="2286000"/>
            <a:ext cx="1188720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10" name="Linea 10"/>
          <p:cNvCxnSpPr/>
          <p:nvPr/>
        </p:nvCxnSpPr>
        <p:spPr>
          <a:xfrm>
            <a:off x="9144000" y="2286000"/>
            <a:ext cx="0" cy="50292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12115800" y="74980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12" name="Forma 12"/>
          <p:cNvSpPr/>
          <p:nvPr/>
        </p:nvSpPr>
        <p:spPr>
          <a:xfrm>
            <a:off x="10259568" y="74980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13" name="Forma 13"/>
          <p:cNvSpPr/>
          <p:nvPr/>
        </p:nvSpPr>
        <p:spPr>
          <a:xfrm>
            <a:off x="10259568" y="22128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14" name="Forma 14"/>
          <p:cNvSpPr/>
          <p:nvPr/>
        </p:nvSpPr>
        <p:spPr>
          <a:xfrm>
            <a:off x="9070848" y="22128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cxnSp>
        <p:nvCxnSpPr>
          <p:cNvPr id="15" name="Linea 15"/>
          <p:cNvCxnSpPr/>
          <p:nvPr/>
        </p:nvCxnSpPr>
        <p:spPr>
          <a:xfrm flipH="1">
            <a:off x="10058400" y="6035040"/>
            <a:ext cx="2130552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16" name="Linea 16"/>
          <p:cNvCxnSpPr/>
          <p:nvPr/>
        </p:nvCxnSpPr>
        <p:spPr>
          <a:xfrm flipV="1">
            <a:off x="10058400" y="4572000"/>
            <a:ext cx="0" cy="146304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17" name="Linea 17"/>
          <p:cNvCxnSpPr/>
          <p:nvPr/>
        </p:nvCxnSpPr>
        <p:spPr>
          <a:xfrm flipH="1">
            <a:off x="9144000" y="4572000"/>
            <a:ext cx="914400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18" name="Linea 18"/>
          <p:cNvCxnSpPr/>
          <p:nvPr/>
        </p:nvCxnSpPr>
        <p:spPr>
          <a:xfrm flipV="1">
            <a:off x="9144000" y="4069080"/>
            <a:ext cx="0" cy="50292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sp>
        <p:nvSpPr>
          <p:cNvPr id="19" name="Forma 19"/>
          <p:cNvSpPr/>
          <p:nvPr/>
        </p:nvSpPr>
        <p:spPr>
          <a:xfrm>
            <a:off x="12115800" y="596188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20" name="Forma 20"/>
          <p:cNvSpPr/>
          <p:nvPr/>
        </p:nvSpPr>
        <p:spPr>
          <a:xfrm>
            <a:off x="9985248" y="596188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21" name="Forma 21"/>
          <p:cNvSpPr/>
          <p:nvPr/>
        </p:nvSpPr>
        <p:spPr>
          <a:xfrm>
            <a:off x="9985248" y="44988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22" name="Forma 22"/>
          <p:cNvSpPr/>
          <p:nvPr/>
        </p:nvSpPr>
        <p:spPr>
          <a:xfrm>
            <a:off x="9070848" y="44988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cxnSp>
        <p:nvCxnSpPr>
          <p:cNvPr id="23" name="Linea 23"/>
          <p:cNvCxnSpPr/>
          <p:nvPr/>
        </p:nvCxnSpPr>
        <p:spPr>
          <a:xfrm>
            <a:off x="7863840" y="822960"/>
            <a:ext cx="0" cy="192024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24" name="Linea 24"/>
          <p:cNvCxnSpPr/>
          <p:nvPr/>
        </p:nvCxnSpPr>
        <p:spPr>
          <a:xfrm>
            <a:off x="7863840" y="2743200"/>
            <a:ext cx="640080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25" name="Linea 25"/>
          <p:cNvCxnSpPr/>
          <p:nvPr/>
        </p:nvCxnSpPr>
        <p:spPr>
          <a:xfrm>
            <a:off x="8503920" y="2743200"/>
            <a:ext cx="0" cy="45720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sp>
        <p:nvSpPr>
          <p:cNvPr id="26" name="Forma 26"/>
          <p:cNvSpPr/>
          <p:nvPr/>
        </p:nvSpPr>
        <p:spPr>
          <a:xfrm>
            <a:off x="7790688" y="74980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27" name="Forma 27"/>
          <p:cNvSpPr/>
          <p:nvPr/>
        </p:nvSpPr>
        <p:spPr>
          <a:xfrm>
            <a:off x="7790688" y="26700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28" name="Forma 28"/>
          <p:cNvSpPr/>
          <p:nvPr/>
        </p:nvSpPr>
        <p:spPr>
          <a:xfrm>
            <a:off x="8430768" y="26700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cxnSp>
        <p:nvCxnSpPr>
          <p:cNvPr id="29" name="Linea 29"/>
          <p:cNvCxnSpPr/>
          <p:nvPr/>
        </p:nvCxnSpPr>
        <p:spPr>
          <a:xfrm flipV="1">
            <a:off x="7772400" y="4297680"/>
            <a:ext cx="0" cy="173736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30" name="Linea 30"/>
          <p:cNvCxnSpPr/>
          <p:nvPr/>
        </p:nvCxnSpPr>
        <p:spPr>
          <a:xfrm>
            <a:off x="7772400" y="4297680"/>
            <a:ext cx="640080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31" name="Linea 31"/>
          <p:cNvCxnSpPr/>
          <p:nvPr/>
        </p:nvCxnSpPr>
        <p:spPr>
          <a:xfrm flipV="1">
            <a:off x="8412480" y="3794760"/>
            <a:ext cx="137160" cy="50292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sp>
        <p:nvSpPr>
          <p:cNvPr id="32" name="Forma 32"/>
          <p:cNvSpPr/>
          <p:nvPr/>
        </p:nvSpPr>
        <p:spPr>
          <a:xfrm>
            <a:off x="7699248" y="596188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33" name="Forma 33"/>
          <p:cNvSpPr/>
          <p:nvPr/>
        </p:nvSpPr>
        <p:spPr>
          <a:xfrm>
            <a:off x="7699248" y="422452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34" name="Forma 34"/>
          <p:cNvSpPr/>
          <p:nvPr/>
        </p:nvSpPr>
        <p:spPr>
          <a:xfrm>
            <a:off x="8339328" y="422452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cxnSp>
        <p:nvCxnSpPr>
          <p:cNvPr id="35" name="Linea 35"/>
          <p:cNvCxnSpPr/>
          <p:nvPr/>
        </p:nvCxnSpPr>
        <p:spPr>
          <a:xfrm flipH="1">
            <a:off x="9829800" y="3429000"/>
            <a:ext cx="2359152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sp>
        <p:nvSpPr>
          <p:cNvPr id="36" name="Forma 36"/>
          <p:cNvSpPr/>
          <p:nvPr/>
        </p:nvSpPr>
        <p:spPr>
          <a:xfrm>
            <a:off x="12115800" y="33558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37" name="Forma 37"/>
          <p:cNvSpPr/>
          <p:nvPr/>
        </p:nvSpPr>
        <p:spPr>
          <a:xfrm>
            <a:off x="8458200" y="2743200"/>
            <a:ext cx="1371600" cy="1371600"/>
          </a:xfrm>
          <a:prstGeom prst="ellipse">
            <a:avLst/>
          </a:prstGeom>
          <a:solidFill>
            <a:srgbClr val="FF665A"/>
          </a:solidFill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172554"/>
                </a:solidFill>
                <a:latin typeface="Georgia"/>
                <a:cs typeface="Georgia"/>
              </a:rPr>
              <a:t>BabelHub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nodeType="withEffect">
                                  <p:stCondLst>
                                    <p:cond delay="26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8" fill="hold" nodeType="withEffect">
                                  <p:stCondLst>
                                    <p:cond delay="27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8" fill="hold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32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8" fill="hold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CONTEXTO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Vender en línea no es suficiente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7373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8" name="Forma 8"/>
          <p:cNvSpPr/>
          <p:nvPr/>
        </p:nvSpPr>
        <p:spPr>
          <a:xfrm>
            <a:off x="822960" y="1828800"/>
            <a:ext cx="1645920" cy="10515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600" dirty="0">
                <a:solidFill>
                  <a:srgbClr val="B5352A"/>
                </a:solidFill>
                <a:latin typeface="Georgia"/>
                <a:cs typeface="Georgia"/>
              </a:rPr>
              <a:t>+91 %</a:t>
            </a:r>
          </a:p>
        </p:txBody>
      </p:sp>
      <p:sp>
        <p:nvSpPr>
          <p:cNvPr id="9" name="Forma 9"/>
          <p:cNvSpPr/>
          <p:nvPr/>
        </p:nvSpPr>
        <p:spPr>
          <a:xfrm>
            <a:off x="2514600" y="1828800"/>
            <a:ext cx="3200400" cy="10515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de los ingresos editoriales del Perú sigue siendo del libro impreso, mientras crece la venta en línea</a:t>
            </a:r>
          </a:p>
        </p:txBody>
      </p:sp>
      <p:sp>
        <p:nvSpPr>
          <p:cNvPr id="10" name="Forma 10"/>
          <p:cNvSpPr/>
          <p:nvPr/>
        </p:nvSpPr>
        <p:spPr>
          <a:xfrm>
            <a:off x="640080" y="31089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1" name="Forma 11"/>
          <p:cNvSpPr/>
          <p:nvPr/>
        </p:nvSpPr>
        <p:spPr>
          <a:xfrm>
            <a:off x="822960" y="3200400"/>
            <a:ext cx="1645920" cy="10515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600" dirty="0">
                <a:solidFill>
                  <a:srgbClr val="B5352A"/>
                </a:solidFill>
                <a:latin typeface="Georgia"/>
                <a:cs typeface="Georgia"/>
              </a:rPr>
              <a:t>35+</a:t>
            </a:r>
          </a:p>
        </p:txBody>
      </p:sp>
      <p:sp>
        <p:nvSpPr>
          <p:cNvPr id="12" name="Forma 12"/>
          <p:cNvSpPr/>
          <p:nvPr/>
        </p:nvSpPr>
        <p:spPr>
          <a:xfrm>
            <a:off x="2514600" y="3200400"/>
            <a:ext cx="3200400" cy="10515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tiendas de Crisol ya ofrecen recojo en tienda: el reto es la logística entre sedes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44805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4" name="Forma 14"/>
          <p:cNvSpPr/>
          <p:nvPr/>
        </p:nvSpPr>
        <p:spPr>
          <a:xfrm>
            <a:off x="822960" y="4572000"/>
            <a:ext cx="1645920" cy="10515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600" dirty="0">
                <a:solidFill>
                  <a:srgbClr val="B5352A"/>
                </a:solidFill>
                <a:latin typeface="Georgia"/>
                <a:cs typeface="Georgia"/>
              </a:rPr>
              <a:t>×2</a:t>
            </a:r>
          </a:p>
        </p:txBody>
      </p:sp>
      <p:sp>
        <p:nvSpPr>
          <p:cNvPr id="15" name="Forma 15"/>
          <p:cNvSpPr/>
          <p:nvPr/>
        </p:nvSpPr>
        <p:spPr>
          <a:xfrm>
            <a:off x="2514600" y="4572000"/>
            <a:ext cx="3200400" cy="10515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ventas de Buscalibre en provincias frente al promedio nacional: hay demanda fuera de Lima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5943600"/>
            <a:ext cx="5212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Fuentes: PwC (2025), Librerías Crisol y Gestión (2025).</a:t>
            </a:r>
          </a:p>
        </p:txBody>
      </p:sp>
      <p:sp>
        <p:nvSpPr>
          <p:cNvPr id="17" name="Forma 17"/>
          <p:cNvSpPr/>
          <p:nvPr/>
        </p:nvSpPr>
        <p:spPr>
          <a:xfrm>
            <a:off x="7589520" y="1783080"/>
            <a:ext cx="2926080" cy="822960"/>
          </a:xfrm>
          <a:prstGeom prst="roundRect">
            <a:avLst>
              <a:gd name="adj" fmla="val 8000"/>
            </a:avLst>
          </a:prstGeom>
          <a:solidFill>
            <a:srgbClr val="172554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b="1" dirty="0">
                <a:solidFill>
                  <a:srgbClr val="FBF5E8"/>
                </a:solidFill>
                <a:latin typeface="Segoe UI"/>
                <a:cs typeface="Segoe UI"/>
              </a:rPr>
              <a:t>Tienda en línea</a:t>
            </a:r>
          </a:p>
        </p:txBody>
      </p:sp>
      <p:cxnSp>
        <p:nvCxnSpPr>
          <p:cNvPr id="18" name="Linea 18"/>
          <p:cNvCxnSpPr/>
          <p:nvPr/>
        </p:nvCxnSpPr>
        <p:spPr>
          <a:xfrm flipH="1">
            <a:off x="6784848" y="2606040"/>
            <a:ext cx="2267712" cy="1325880"/>
          </a:xfrm>
          <a:prstGeom prst="line">
            <a:avLst/>
          </a:prstGeom>
          <a:ln w="22225" cap="rnd">
            <a:solidFill>
              <a:srgbClr val="1A6F80"/>
            </a:solidFill>
            <a:round/>
          </a:ln>
        </p:spPr>
      </p:cxnSp>
      <p:sp>
        <p:nvSpPr>
          <p:cNvPr id="19" name="Forma 19"/>
          <p:cNvSpPr/>
          <p:nvPr/>
        </p:nvSpPr>
        <p:spPr>
          <a:xfrm>
            <a:off x="6309360" y="3931920"/>
            <a:ext cx="950976" cy="8229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172554"/>
            </a:solidFill>
          </a:ln>
        </p:spPr>
        <p:txBody>
          <a:bodyPr wrap="square" lIns="36576" tIns="36576" rIns="36576" bIns="3657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Lima</a:t>
            </a:r>
          </a:p>
        </p:txBody>
      </p:sp>
      <p:cxnSp>
        <p:nvCxnSpPr>
          <p:cNvPr id="20" name="Linea 20"/>
          <p:cNvCxnSpPr/>
          <p:nvPr/>
        </p:nvCxnSpPr>
        <p:spPr>
          <a:xfrm flipH="1">
            <a:off x="7845552" y="2606040"/>
            <a:ext cx="1207008" cy="1325880"/>
          </a:xfrm>
          <a:prstGeom prst="line">
            <a:avLst/>
          </a:prstGeom>
          <a:ln w="22225" cap="rnd">
            <a:solidFill>
              <a:srgbClr val="1A6F80"/>
            </a:solidFill>
            <a:round/>
          </a:ln>
        </p:spPr>
      </p:cxnSp>
      <p:sp>
        <p:nvSpPr>
          <p:cNvPr id="21" name="Forma 21"/>
          <p:cNvSpPr/>
          <p:nvPr/>
        </p:nvSpPr>
        <p:spPr>
          <a:xfrm>
            <a:off x="7370064" y="3931920"/>
            <a:ext cx="950976" cy="8229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172554"/>
            </a:solidFill>
          </a:ln>
        </p:spPr>
        <p:txBody>
          <a:bodyPr wrap="square" lIns="36576" tIns="36576" rIns="36576" bIns="3657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Cusco</a:t>
            </a:r>
          </a:p>
        </p:txBody>
      </p:sp>
      <p:cxnSp>
        <p:nvCxnSpPr>
          <p:cNvPr id="22" name="Linea 22"/>
          <p:cNvCxnSpPr/>
          <p:nvPr/>
        </p:nvCxnSpPr>
        <p:spPr>
          <a:xfrm flipH="1">
            <a:off x="8906256" y="2606040"/>
            <a:ext cx="146304" cy="1325880"/>
          </a:xfrm>
          <a:prstGeom prst="line">
            <a:avLst/>
          </a:prstGeom>
          <a:ln w="22225" cap="rnd">
            <a:solidFill>
              <a:srgbClr val="1A6F80"/>
            </a:solidFill>
            <a:round/>
          </a:ln>
        </p:spPr>
      </p:cxnSp>
      <p:sp>
        <p:nvSpPr>
          <p:cNvPr id="23" name="Forma 23"/>
          <p:cNvSpPr/>
          <p:nvPr/>
        </p:nvSpPr>
        <p:spPr>
          <a:xfrm>
            <a:off x="8430768" y="3931920"/>
            <a:ext cx="950976" cy="8229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172554"/>
            </a:solidFill>
          </a:ln>
        </p:spPr>
        <p:txBody>
          <a:bodyPr wrap="square" lIns="36576" tIns="36576" rIns="36576" bIns="3657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Arequipa</a:t>
            </a:r>
          </a:p>
        </p:txBody>
      </p:sp>
      <p:cxnSp>
        <p:nvCxnSpPr>
          <p:cNvPr id="24" name="Linea 24"/>
          <p:cNvCxnSpPr/>
          <p:nvPr/>
        </p:nvCxnSpPr>
        <p:spPr>
          <a:xfrm>
            <a:off x="9052560" y="2606040"/>
            <a:ext cx="914400" cy="1325880"/>
          </a:xfrm>
          <a:prstGeom prst="line">
            <a:avLst/>
          </a:prstGeom>
          <a:ln w="22225" cap="rnd">
            <a:solidFill>
              <a:srgbClr val="1A6F80"/>
            </a:solidFill>
            <a:round/>
          </a:ln>
        </p:spPr>
      </p:cxnSp>
      <p:sp>
        <p:nvSpPr>
          <p:cNvPr id="25" name="Forma 25"/>
          <p:cNvSpPr/>
          <p:nvPr/>
        </p:nvSpPr>
        <p:spPr>
          <a:xfrm>
            <a:off x="9491472" y="3931920"/>
            <a:ext cx="950976" cy="8229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172554"/>
            </a:solidFill>
          </a:ln>
        </p:spPr>
        <p:txBody>
          <a:bodyPr wrap="square" lIns="36576" tIns="36576" rIns="36576" bIns="3657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Trujillo</a:t>
            </a:r>
          </a:p>
        </p:txBody>
      </p:sp>
      <p:cxnSp>
        <p:nvCxnSpPr>
          <p:cNvPr id="26" name="Linea 26"/>
          <p:cNvCxnSpPr/>
          <p:nvPr/>
        </p:nvCxnSpPr>
        <p:spPr>
          <a:xfrm>
            <a:off x="9052560" y="2606040"/>
            <a:ext cx="1975104" cy="1325880"/>
          </a:xfrm>
          <a:prstGeom prst="line">
            <a:avLst/>
          </a:prstGeom>
          <a:ln w="22225" cap="rnd">
            <a:solidFill>
              <a:srgbClr val="1A6F80"/>
            </a:solidFill>
            <a:round/>
          </a:ln>
        </p:spPr>
      </p:cxnSp>
      <p:sp>
        <p:nvSpPr>
          <p:cNvPr id="27" name="Forma 27"/>
          <p:cNvSpPr/>
          <p:nvPr/>
        </p:nvSpPr>
        <p:spPr>
          <a:xfrm>
            <a:off x="10552176" y="3931920"/>
            <a:ext cx="950976" cy="8229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172554"/>
            </a:solidFill>
          </a:ln>
        </p:spPr>
        <p:txBody>
          <a:bodyPr wrap="square" lIns="36576" tIns="36576" rIns="36576" bIns="3657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Piura</a:t>
            </a:r>
          </a:p>
        </p:txBody>
      </p:sp>
      <p:sp>
        <p:nvSpPr>
          <p:cNvPr id="28" name="Forma 28"/>
          <p:cNvSpPr/>
          <p:nvPr/>
        </p:nvSpPr>
        <p:spPr>
          <a:xfrm>
            <a:off x="6309360" y="4800600"/>
            <a:ext cx="5212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i="1" dirty="0">
                <a:solidFill>
                  <a:srgbClr val="1A6F80"/>
                </a:solidFill>
                <a:latin typeface="Segoe UI"/>
                <a:cs typeface="Segoe UI"/>
              </a:rPr>
              <a:t>cada sucursal guarda su propio stock</a:t>
            </a:r>
          </a:p>
        </p:txBody>
      </p:sp>
      <p:sp>
        <p:nvSpPr>
          <p:cNvPr id="29" name="Forma 29"/>
          <p:cNvSpPr/>
          <p:nvPr/>
        </p:nvSpPr>
        <p:spPr>
          <a:xfrm>
            <a:off x="6309360" y="5074920"/>
            <a:ext cx="5212080" cy="9144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B5352A"/>
                </a:solidFill>
                <a:latin typeface="Segoe UI"/>
                <a:cs typeface="Segoe UI"/>
              </a:rPr>
              <a:t>Multi-Source Inventory</a:t>
            </a: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 (Adobe Commerce): cada tienda es una </a:t>
            </a:r>
            <a:r>
              <a:rPr lang="es-PE" sz="1400" b="1" dirty="0">
                <a:solidFill>
                  <a:srgbClr val="B5352A"/>
                </a:solidFill>
                <a:latin typeface="Segoe UI"/>
                <a:cs typeface="Segoe UI"/>
              </a:rPr>
              <a:t>fuente</a:t>
            </a: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 de stock; funciona bien de 1 a 20 fuentes.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FF7A6E"/>
                </a:solidFill>
                <a:latin typeface="Segoe UI"/>
                <a:cs typeface="Segoe UI"/>
              </a:rPr>
              <a:t>EL PROBLEMA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F5EBD8"/>
                </a:solidFill>
                <a:latin typeface="Georgia"/>
                <a:cs typeface="Georgia"/>
              </a:rPr>
              <a:t>La última unidad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3A4A7A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600200"/>
            <a:ext cx="10881360" cy="10972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800" i="1" dirty="0">
                <a:solidFill>
                  <a:srgbClr val="F5EBD8"/>
                </a:solidFill>
                <a:latin typeface="Georgia"/>
                <a:cs typeface="Georgia"/>
              </a:rPr>
              <a:t>¿Qué ocurre si dos clientes intentan comprar el último ejemplar?</a:t>
            </a:r>
          </a:p>
        </p:txBody>
      </p:sp>
      <p:sp>
        <p:nvSpPr>
          <p:cNvPr id="8" name="Forma 8"/>
          <p:cNvSpPr/>
          <p:nvPr/>
        </p:nvSpPr>
        <p:spPr>
          <a:xfrm>
            <a:off x="640080" y="3017520"/>
            <a:ext cx="3474720" cy="283464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38100">
            <a:solidFill>
              <a:srgbClr val="FF665A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9" name="Forma 9"/>
          <p:cNvSpPr/>
          <p:nvPr/>
        </p:nvSpPr>
        <p:spPr>
          <a:xfrm>
            <a:off x="868680" y="3200400"/>
            <a:ext cx="91440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600" dirty="0">
                <a:solidFill>
                  <a:srgbClr val="FF665A"/>
                </a:solidFill>
                <a:latin typeface="Georgia"/>
                <a:cs typeface="Georgia"/>
              </a:rPr>
              <a:t>1</a:t>
            </a:r>
          </a:p>
        </p:txBody>
      </p:sp>
      <p:sp>
        <p:nvSpPr>
          <p:cNvPr id="10" name="Forma 10"/>
          <p:cNvSpPr/>
          <p:nvPr/>
        </p:nvSpPr>
        <p:spPr>
          <a:xfrm>
            <a:off x="868680" y="4023360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200" dirty="0">
                <a:solidFill>
                  <a:srgbClr val="F5EBD8"/>
                </a:solidFill>
                <a:latin typeface="Georgia"/>
                <a:cs typeface="Georgia"/>
              </a:rPr>
              <a:t>Sobreventa</a:t>
            </a:r>
          </a:p>
        </p:txBody>
      </p:sp>
      <p:sp>
        <p:nvSpPr>
          <p:cNvPr id="11" name="Forma 11"/>
          <p:cNvSpPr/>
          <p:nvPr/>
        </p:nvSpPr>
        <p:spPr>
          <a:xfrm>
            <a:off x="868680" y="4572000"/>
            <a:ext cx="3017520" cy="10972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B7B3A8"/>
                </a:solidFill>
                <a:latin typeface="Segoe UI"/>
                <a:cs typeface="Segoe UI"/>
              </a:rPr>
              <a:t>Se ofrece un libro que ya no está disponible.</a:t>
            </a:r>
          </a:p>
        </p:txBody>
      </p:sp>
      <p:sp>
        <p:nvSpPr>
          <p:cNvPr id="12" name="Forma 12"/>
          <p:cNvSpPr/>
          <p:nvPr/>
        </p:nvSpPr>
        <p:spPr>
          <a:xfrm>
            <a:off x="4361688" y="3017520"/>
            <a:ext cx="3474720" cy="283464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15875">
            <a:solidFill>
              <a:srgbClr val="36C8D4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3" name="Forma 13"/>
          <p:cNvSpPr/>
          <p:nvPr/>
        </p:nvSpPr>
        <p:spPr>
          <a:xfrm>
            <a:off x="4590288" y="3200400"/>
            <a:ext cx="91440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600" dirty="0">
                <a:solidFill>
                  <a:srgbClr val="36C8D4"/>
                </a:solidFill>
                <a:latin typeface="Georgia"/>
                <a:cs typeface="Georgia"/>
              </a:rPr>
              <a:t>2</a:t>
            </a:r>
          </a:p>
        </p:txBody>
      </p:sp>
      <p:sp>
        <p:nvSpPr>
          <p:cNvPr id="14" name="Forma 14"/>
          <p:cNvSpPr/>
          <p:nvPr/>
        </p:nvSpPr>
        <p:spPr>
          <a:xfrm>
            <a:off x="4590288" y="4023360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200" dirty="0">
                <a:solidFill>
                  <a:srgbClr val="F5EBD8"/>
                </a:solidFill>
                <a:latin typeface="Georgia"/>
                <a:cs typeface="Georgia"/>
              </a:rPr>
              <a:t>Venta perdida</a:t>
            </a:r>
          </a:p>
        </p:txBody>
      </p:sp>
      <p:sp>
        <p:nvSpPr>
          <p:cNvPr id="15" name="Forma 15"/>
          <p:cNvSpPr/>
          <p:nvPr/>
        </p:nvSpPr>
        <p:spPr>
          <a:xfrm>
            <a:off x="4590288" y="4572000"/>
            <a:ext cx="3017520" cy="10972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B7B3A8"/>
                </a:solidFill>
                <a:latin typeface="Segoe UI"/>
                <a:cs typeface="Segoe UI"/>
              </a:rPr>
              <a:t>No se aprovecha el stock de otra sucursal.</a:t>
            </a:r>
          </a:p>
        </p:txBody>
      </p:sp>
      <p:sp>
        <p:nvSpPr>
          <p:cNvPr id="16" name="Forma 16"/>
          <p:cNvSpPr/>
          <p:nvPr/>
        </p:nvSpPr>
        <p:spPr>
          <a:xfrm>
            <a:off x="8083296" y="3017520"/>
            <a:ext cx="3474720" cy="283464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15875">
            <a:solidFill>
              <a:srgbClr val="A78BFA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7" name="Forma 17"/>
          <p:cNvSpPr/>
          <p:nvPr/>
        </p:nvSpPr>
        <p:spPr>
          <a:xfrm>
            <a:off x="8311896" y="3200400"/>
            <a:ext cx="91440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600" dirty="0">
                <a:solidFill>
                  <a:srgbClr val="A78BFA"/>
                </a:solidFill>
                <a:latin typeface="Georgia"/>
                <a:cs typeface="Georgia"/>
              </a:rPr>
              <a:t>3</a:t>
            </a:r>
          </a:p>
        </p:txBody>
      </p:sp>
      <p:sp>
        <p:nvSpPr>
          <p:cNvPr id="18" name="Forma 18"/>
          <p:cNvSpPr/>
          <p:nvPr/>
        </p:nvSpPr>
        <p:spPr>
          <a:xfrm>
            <a:off x="8311896" y="4023360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200" dirty="0">
                <a:solidFill>
                  <a:srgbClr val="F5EBD8"/>
                </a:solidFill>
                <a:latin typeface="Georgia"/>
                <a:cs typeface="Georgia"/>
              </a:rPr>
              <a:t>Incertidumbre</a:t>
            </a:r>
          </a:p>
        </p:txBody>
      </p:sp>
      <p:sp>
        <p:nvSpPr>
          <p:cNvPr id="19" name="Forma 19"/>
          <p:cNvSpPr/>
          <p:nvPr/>
        </p:nvSpPr>
        <p:spPr>
          <a:xfrm>
            <a:off x="8311896" y="4572000"/>
            <a:ext cx="3017520" cy="10972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B7B3A8"/>
                </a:solidFill>
                <a:latin typeface="Segoe UI"/>
                <a:cs typeface="Segoe UI"/>
              </a:rPr>
              <a:t>El cliente no sabe en qué estado está su pedido durante un traslado.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RESTRICCIONES Y ALCANCE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Poco costo, red pequeña, mucho por proteger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691640"/>
            <a:ext cx="5349240" cy="155448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8" name="Forma 8"/>
          <p:cNvSpPr/>
          <p:nvPr/>
        </p:nvSpPr>
        <p:spPr>
          <a:xfrm>
            <a:off x="822960" y="1783080"/>
            <a:ext cx="228600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4000" dirty="0">
                <a:solidFill>
                  <a:srgbClr val="B5352A"/>
                </a:solidFill>
                <a:latin typeface="Georgia"/>
                <a:cs typeface="Georgia"/>
              </a:rPr>
              <a:t>2 OCPU</a:t>
            </a:r>
          </a:p>
        </p:txBody>
      </p:sp>
      <p:sp>
        <p:nvSpPr>
          <p:cNvPr id="9" name="Forma 9"/>
          <p:cNvSpPr/>
          <p:nvPr/>
        </p:nvSpPr>
        <p:spPr>
          <a:xfrm>
            <a:off x="3200400" y="1783080"/>
            <a:ext cx="26517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12 GB de RAM ARM en total (Oracle Free Tier), sin servicios de pago</a:t>
            </a:r>
          </a:p>
        </p:txBody>
      </p:sp>
      <p:sp>
        <p:nvSpPr>
          <p:cNvPr id="10" name="Forma 10"/>
          <p:cNvSpPr/>
          <p:nvPr/>
        </p:nvSpPr>
        <p:spPr>
          <a:xfrm>
            <a:off x="6172200" y="1691640"/>
            <a:ext cx="5349240" cy="155448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1" name="Forma 11"/>
          <p:cNvSpPr/>
          <p:nvPr/>
        </p:nvSpPr>
        <p:spPr>
          <a:xfrm>
            <a:off x="6355080" y="1783080"/>
            <a:ext cx="228600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4000" dirty="0">
                <a:solidFill>
                  <a:srgbClr val="B5352A"/>
                </a:solidFill>
                <a:latin typeface="Georgia"/>
                <a:cs typeface="Georgia"/>
              </a:rPr>
              <a:t>5–10</a:t>
            </a:r>
          </a:p>
        </p:txBody>
      </p:sp>
      <p:sp>
        <p:nvSpPr>
          <p:cNvPr id="12" name="Forma 12"/>
          <p:cNvSpPr/>
          <p:nvPr/>
        </p:nvSpPr>
        <p:spPr>
          <a:xfrm>
            <a:off x="8732520" y="1783080"/>
            <a:ext cx="26517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sucursales al inicio; hasta unas 20 sin rediseñar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347472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5B6490"/>
                </a:solidFill>
                <a:latin typeface="Segoe UI"/>
                <a:cs typeface="Segoe UI"/>
              </a:rPr>
              <a:t>Cuatro servicios actuales</a:t>
            </a:r>
          </a:p>
        </p:txBody>
      </p:sp>
      <p:sp>
        <p:nvSpPr>
          <p:cNvPr id="14" name="Forma 14"/>
          <p:cNvSpPr/>
          <p:nvPr/>
        </p:nvSpPr>
        <p:spPr>
          <a:xfrm>
            <a:off x="640080" y="3886200"/>
            <a:ext cx="2606040" cy="132588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172554"/>
                </a:solidFill>
                <a:latin typeface="Segoe UI"/>
                <a:cs typeface="Segoe UI"/>
              </a:rPr>
              <a:t>E-commerce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vender, cobrar y entregar</a:t>
            </a:r>
          </a:p>
        </p:txBody>
      </p:sp>
      <p:sp>
        <p:nvSpPr>
          <p:cNvPr id="15" name="Forma 15"/>
          <p:cNvSpPr/>
          <p:nvPr/>
        </p:nvSpPr>
        <p:spPr>
          <a:xfrm>
            <a:off x="3383280" y="3886200"/>
            <a:ext cx="2606040" cy="132588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38100">
            <a:solidFill>
              <a:srgbClr val="FF665A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172554"/>
                </a:solidFill>
                <a:latin typeface="Segoe UI"/>
                <a:cs typeface="Segoe UI"/>
              </a:rPr>
              <a:t>Inventario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stock real y traslados</a:t>
            </a:r>
          </a:p>
        </p:txBody>
      </p:sp>
      <p:sp>
        <p:nvSpPr>
          <p:cNvPr id="16" name="Forma 16"/>
          <p:cNvSpPr/>
          <p:nvPr/>
        </p:nvSpPr>
        <p:spPr>
          <a:xfrm>
            <a:off x="6126480" y="3886200"/>
            <a:ext cx="2606040" cy="132588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172554"/>
                </a:solidFill>
                <a:latin typeface="Segoe UI"/>
                <a:cs typeface="Segoe UI"/>
              </a:rPr>
              <a:t>Identidad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quién accede y a qué sucursal</a:t>
            </a:r>
          </a:p>
        </p:txBody>
      </p:sp>
      <p:sp>
        <p:nvSpPr>
          <p:cNvPr id="17" name="Forma 17"/>
          <p:cNvSpPr/>
          <p:nvPr/>
        </p:nvSpPr>
        <p:spPr>
          <a:xfrm>
            <a:off x="8869680" y="3886200"/>
            <a:ext cx="2606040" cy="132588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172554"/>
                </a:solidFill>
                <a:latin typeface="Segoe UI"/>
                <a:cs typeface="Segoe UI"/>
              </a:rPr>
              <a:t>Asistente de Compra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recomienda con IA, solo lectura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544068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5B6490"/>
                </a:solidFill>
                <a:latin typeface="Segoe UI"/>
                <a:cs typeface="Segoe UI"/>
              </a:rPr>
              <a:t>La web es solo cliente de los servicios · libros impresos y digitales · analítica y reportes (RF21) quedan para una fase posterior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LA SOLUCIÓN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Dos sistemas centrales, interoperables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60020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EBDDBF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BabelHub.Web · aplicación web, cliente de los servicios</a:t>
            </a:r>
          </a:p>
        </p:txBody>
      </p:sp>
      <p:sp>
        <p:nvSpPr>
          <p:cNvPr id="8" name="Forma 8"/>
          <p:cNvSpPr/>
          <p:nvPr/>
        </p:nvSpPr>
        <p:spPr>
          <a:xfrm>
            <a:off x="640080" y="2514600"/>
            <a:ext cx="4937760" cy="25146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31750">
            <a:solidFill>
              <a:srgbClr val="5B3FC4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9" name="Forma 9"/>
          <p:cNvSpPr/>
          <p:nvPr/>
        </p:nvSpPr>
        <p:spPr>
          <a:xfrm>
            <a:off x="868680" y="2606040"/>
            <a:ext cx="44805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000" dirty="0">
                <a:solidFill>
                  <a:srgbClr val="172554"/>
                </a:solidFill>
                <a:latin typeface="Georgia"/>
                <a:cs typeface="Georgia"/>
              </a:rPr>
              <a:t>Inventario Multi-Sucursal</a:t>
            </a:r>
          </a:p>
        </p:txBody>
      </p:sp>
      <p:sp>
        <p:nvSpPr>
          <p:cNvPr id="10" name="Forma 10"/>
          <p:cNvSpPr/>
          <p:nvPr/>
        </p:nvSpPr>
        <p:spPr>
          <a:xfrm>
            <a:off x="868680" y="3108960"/>
            <a:ext cx="4480560" cy="10058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Cada sucursal es una fuente de stock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Reservas y selección de fuente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Traslados y ajustes auditables</a:t>
            </a:r>
          </a:p>
        </p:txBody>
      </p:sp>
      <p:sp>
        <p:nvSpPr>
          <p:cNvPr id="11" name="Forma 11"/>
          <p:cNvSpPr/>
          <p:nvPr/>
        </p:nvSpPr>
        <p:spPr>
          <a:xfrm>
            <a:off x="868680" y="4206240"/>
            <a:ext cx="4480560" cy="594360"/>
          </a:xfrm>
          <a:prstGeom prst="roundRect">
            <a:avLst>
              <a:gd name="adj" fmla="val 8000"/>
            </a:avLst>
          </a:prstGeom>
          <a:solidFill>
            <a:srgbClr val="357018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FFFFFF"/>
                </a:solidFill>
                <a:latin typeface="Segoe UI"/>
                <a:cs typeface="Segoe UI"/>
              </a:rPr>
              <a:t>Stock vendible = stock físico − reservas activas</a:t>
            </a:r>
          </a:p>
        </p:txBody>
      </p:sp>
      <p:sp>
        <p:nvSpPr>
          <p:cNvPr id="12" name="Forma 12"/>
          <p:cNvSpPr/>
          <p:nvPr/>
        </p:nvSpPr>
        <p:spPr>
          <a:xfrm>
            <a:off x="6583680" y="2514600"/>
            <a:ext cx="4937760" cy="25146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31750">
            <a:solidFill>
              <a:srgbClr val="FF665A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3" name="Forma 13"/>
          <p:cNvSpPr/>
          <p:nvPr/>
        </p:nvSpPr>
        <p:spPr>
          <a:xfrm>
            <a:off x="6812280" y="2606040"/>
            <a:ext cx="44805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000" dirty="0">
                <a:solidFill>
                  <a:srgbClr val="172554"/>
                </a:solidFill>
                <a:latin typeface="Georgia"/>
                <a:cs typeface="Georgia"/>
              </a:rPr>
              <a:t>E-commerce</a:t>
            </a:r>
          </a:p>
        </p:txBody>
      </p:sp>
      <p:sp>
        <p:nvSpPr>
          <p:cNvPr id="14" name="Forma 14"/>
          <p:cNvSpPr/>
          <p:nvPr/>
        </p:nvSpPr>
        <p:spPr>
          <a:xfrm>
            <a:off x="6812280" y="3108960"/>
            <a:ext cx="4480560" cy="1737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Catálogo impreso y digital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Carrito, checkout y pagos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Pedidos, entregas y biblioteca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Devoluciones y reclamos</a:t>
            </a:r>
          </a:p>
        </p:txBody>
      </p:sp>
      <p:cxnSp>
        <p:nvCxnSpPr>
          <p:cNvPr id="15" name="Linea 15"/>
          <p:cNvCxnSpPr/>
          <p:nvPr/>
        </p:nvCxnSpPr>
        <p:spPr>
          <a:xfrm>
            <a:off x="5623560" y="3520440"/>
            <a:ext cx="914400" cy="0"/>
          </a:xfrm>
          <a:prstGeom prst="line">
            <a:avLst/>
          </a:prstGeom>
          <a:ln w="31750" cap="rnd">
            <a:solidFill>
              <a:srgbClr val="1A6F80"/>
            </a:solidFill>
            <a:round/>
            <a:tailEnd type="triangle" w="med" len="med"/>
          </a:ln>
        </p:spPr>
      </p:cxnSp>
      <p:cxnSp>
        <p:nvCxnSpPr>
          <p:cNvPr id="16" name="Linea 16"/>
          <p:cNvCxnSpPr/>
          <p:nvPr/>
        </p:nvCxnSpPr>
        <p:spPr>
          <a:xfrm flipH="1">
            <a:off x="5623560" y="4023360"/>
            <a:ext cx="914400" cy="0"/>
          </a:xfrm>
          <a:prstGeom prst="line">
            <a:avLst/>
          </a:prstGeom>
          <a:ln w="3175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17" name="Forma 17"/>
          <p:cNvSpPr/>
          <p:nvPr/>
        </p:nvSpPr>
        <p:spPr>
          <a:xfrm>
            <a:off x="5532120" y="3063240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1A6F80"/>
                </a:solidFill>
                <a:latin typeface="Segoe UI"/>
                <a:cs typeface="Segoe UI"/>
              </a:rPr>
              <a:t>REST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5349240"/>
            <a:ext cx="4937760" cy="86868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D9C9A5"/>
            </a:solidFill>
            <a:prstDash val="dash"/>
          </a:ln>
        </p:spPr>
        <p:txBody>
          <a:bodyPr wrap="square" lIns="128016" tIns="128016" rIns="128016" bIns="128016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172554"/>
                </a:solidFill>
                <a:latin typeface="Segoe UI"/>
                <a:cs typeface="Segoe UI"/>
              </a:rPr>
              <a:t>Identidad</a:t>
            </a:r>
            <a:r>
              <a:rPr lang="es-PE" sz="1350" dirty="0">
                <a:solidFill>
                  <a:srgbClr val="172554"/>
                </a:solidFill>
                <a:latin typeface="Segoe UI"/>
                <a:cs typeface="Segoe UI"/>
              </a:rPr>
              <a:t> · roles, alcance por sucursal y segundo factor</a:t>
            </a:r>
          </a:p>
        </p:txBody>
      </p:sp>
      <p:sp>
        <p:nvSpPr>
          <p:cNvPr id="19" name="Forma 19"/>
          <p:cNvSpPr/>
          <p:nvPr/>
        </p:nvSpPr>
        <p:spPr>
          <a:xfrm>
            <a:off x="6583680" y="5349240"/>
            <a:ext cx="4937760" cy="86868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D9C9A5"/>
            </a:solidFill>
            <a:prstDash val="dash"/>
          </a:ln>
        </p:spPr>
        <p:txBody>
          <a:bodyPr wrap="square" lIns="128016" tIns="128016" rIns="128016" bIns="128016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172554"/>
                </a:solidFill>
                <a:latin typeface="Segoe UI"/>
                <a:cs typeface="Segoe UI"/>
              </a:rPr>
              <a:t>Asistente de Compra</a:t>
            </a:r>
            <a:r>
              <a:rPr lang="es-PE" sz="1350" dirty="0">
                <a:solidFill>
                  <a:srgbClr val="172554"/>
                </a:solidFill>
                <a:latin typeface="Segoe UI"/>
                <a:cs typeface="Segoe UI"/>
              </a:rPr>
              <a:t> · recomendaciones con IA, solo lectura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FF7A6E"/>
                </a:solidFill>
                <a:latin typeface="Segoe UI"/>
                <a:cs typeface="Segoe UI"/>
              </a:rPr>
              <a:t>LA REGLA CLAVE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F5EBD8"/>
                </a:solidFill>
                <a:latin typeface="Georgia"/>
                <a:cs typeface="Georgia"/>
              </a:rPr>
              <a:t>Reservar antes de cobrar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3A4A7A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6</a:t>
            </a:r>
          </a:p>
        </p:txBody>
      </p:sp>
      <p:cxnSp>
        <p:nvCxnSpPr>
          <p:cNvPr id="7" name="Linea 7"/>
          <p:cNvCxnSpPr/>
          <p:nvPr/>
        </p:nvCxnSpPr>
        <p:spPr>
          <a:xfrm>
            <a:off x="822960" y="3154680"/>
            <a:ext cx="10515600" cy="0"/>
          </a:xfrm>
          <a:prstGeom prst="line">
            <a:avLst/>
          </a:prstGeom>
          <a:ln w="38100" cap="rnd">
            <a:solidFill>
              <a:srgbClr val="36C8D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444752" y="2862072"/>
            <a:ext cx="585216" cy="585216"/>
          </a:xfrm>
          <a:prstGeom prst="ellipse">
            <a:avLst/>
          </a:prstGeom>
          <a:solidFill>
            <a:srgbClr val="1B2A57"/>
          </a:solidFill>
          <a:ln w="15875">
            <a:solidFill>
              <a:srgbClr val="36C8D4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b="1" dirty="0">
                <a:solidFill>
                  <a:srgbClr val="F5EBD8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9" name="Forma 9"/>
          <p:cNvSpPr/>
          <p:nvPr/>
        </p:nvSpPr>
        <p:spPr>
          <a:xfrm>
            <a:off x="667512" y="3611880"/>
            <a:ext cx="2139696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F5EBD8"/>
                </a:solidFill>
                <a:latin typeface="Segoe UI"/>
                <a:cs typeface="Segoe UI"/>
              </a:rPr>
              <a:t>Confirma el pedido</a:t>
            </a:r>
          </a:p>
        </p:txBody>
      </p:sp>
      <p:sp>
        <p:nvSpPr>
          <p:cNvPr id="10" name="Forma 10"/>
          <p:cNvSpPr/>
          <p:nvPr/>
        </p:nvSpPr>
        <p:spPr>
          <a:xfrm>
            <a:off x="731520" y="4023360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El cliente decide comprar.</a:t>
            </a:r>
          </a:p>
        </p:txBody>
      </p:sp>
      <p:sp>
        <p:nvSpPr>
          <p:cNvPr id="11" name="Forma 11"/>
          <p:cNvSpPr/>
          <p:nvPr/>
        </p:nvSpPr>
        <p:spPr>
          <a:xfrm>
            <a:off x="3639312" y="2862072"/>
            <a:ext cx="585216" cy="585216"/>
          </a:xfrm>
          <a:prstGeom prst="ellipse">
            <a:avLst/>
          </a:prstGeom>
          <a:solidFill>
            <a:srgbClr val="FF665A"/>
          </a:solidFill>
          <a:ln w="15875">
            <a:solidFill>
              <a:srgbClr val="36C8D4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b="1" dirty="0">
                <a:solidFill>
                  <a:srgbClr val="172554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2" name="Forma 12"/>
          <p:cNvSpPr/>
          <p:nvPr/>
        </p:nvSpPr>
        <p:spPr>
          <a:xfrm>
            <a:off x="2862072" y="3611880"/>
            <a:ext cx="2139696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F5EBD8"/>
                </a:solidFill>
                <a:latin typeface="Segoe UI"/>
                <a:cs typeface="Segoe UI"/>
              </a:rPr>
              <a:t>Reserva temporal</a:t>
            </a:r>
          </a:p>
        </p:txBody>
      </p:sp>
      <p:sp>
        <p:nvSpPr>
          <p:cNvPr id="13" name="Forma 13"/>
          <p:cNvSpPr/>
          <p:nvPr/>
        </p:nvSpPr>
        <p:spPr>
          <a:xfrm>
            <a:off x="2926080" y="4023360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E-commerce pide a Inventario apartar las unidades por 15 minutos.</a:t>
            </a:r>
          </a:p>
        </p:txBody>
      </p:sp>
      <p:sp>
        <p:nvSpPr>
          <p:cNvPr id="14" name="Forma 14"/>
          <p:cNvSpPr/>
          <p:nvPr/>
        </p:nvSpPr>
        <p:spPr>
          <a:xfrm>
            <a:off x="5833872" y="2862072"/>
            <a:ext cx="585216" cy="585216"/>
          </a:xfrm>
          <a:prstGeom prst="ellipse">
            <a:avLst/>
          </a:prstGeom>
          <a:solidFill>
            <a:srgbClr val="1B2A57"/>
          </a:solidFill>
          <a:ln w="15875">
            <a:solidFill>
              <a:srgbClr val="36C8D4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b="1" dirty="0">
                <a:solidFill>
                  <a:srgbClr val="F5EBD8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5" name="Forma 15"/>
          <p:cNvSpPr/>
          <p:nvPr/>
        </p:nvSpPr>
        <p:spPr>
          <a:xfrm>
            <a:off x="5056632" y="3611880"/>
            <a:ext cx="2139696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F5EBD8"/>
                </a:solidFill>
                <a:latin typeface="Segoe UI"/>
                <a:cs typeface="Segoe UI"/>
              </a:rPr>
              <a:t>Valida y asigna</a:t>
            </a:r>
          </a:p>
        </p:txBody>
      </p:sp>
      <p:sp>
        <p:nvSpPr>
          <p:cNvPr id="16" name="Forma 16"/>
          <p:cNvSpPr/>
          <p:nvPr/>
        </p:nvSpPr>
        <p:spPr>
          <a:xfrm>
            <a:off x="5120640" y="4023360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Inventario comprueba el stock y elige la fuente.</a:t>
            </a:r>
          </a:p>
        </p:txBody>
      </p:sp>
      <p:sp>
        <p:nvSpPr>
          <p:cNvPr id="17" name="Forma 17"/>
          <p:cNvSpPr/>
          <p:nvPr/>
        </p:nvSpPr>
        <p:spPr>
          <a:xfrm>
            <a:off x="8028432" y="2862072"/>
            <a:ext cx="585216" cy="585216"/>
          </a:xfrm>
          <a:prstGeom prst="ellipse">
            <a:avLst/>
          </a:prstGeom>
          <a:solidFill>
            <a:srgbClr val="1B2A57"/>
          </a:solidFill>
          <a:ln w="15875">
            <a:solidFill>
              <a:srgbClr val="36C8D4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b="1" dirty="0">
                <a:solidFill>
                  <a:srgbClr val="F5EBD8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18" name="Forma 18"/>
          <p:cNvSpPr/>
          <p:nvPr/>
        </p:nvSpPr>
        <p:spPr>
          <a:xfrm>
            <a:off x="7251192" y="3611880"/>
            <a:ext cx="2139696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F5EBD8"/>
                </a:solidFill>
                <a:latin typeface="Segoe UI"/>
                <a:cs typeface="Segoe UI"/>
              </a:rPr>
              <a:t>Pago</a:t>
            </a:r>
          </a:p>
        </p:txBody>
      </p:sp>
      <p:sp>
        <p:nvSpPr>
          <p:cNvPr id="19" name="Forma 19"/>
          <p:cNvSpPr/>
          <p:nvPr/>
        </p:nvSpPr>
        <p:spPr>
          <a:xfrm>
            <a:off x="7315200" y="4023360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Culqi cobra con clave de idempotencia.</a:t>
            </a:r>
          </a:p>
        </p:txBody>
      </p:sp>
      <p:sp>
        <p:nvSpPr>
          <p:cNvPr id="20" name="Forma 20"/>
          <p:cNvSpPr/>
          <p:nvPr/>
        </p:nvSpPr>
        <p:spPr>
          <a:xfrm>
            <a:off x="10222992" y="2862072"/>
            <a:ext cx="585216" cy="585216"/>
          </a:xfrm>
          <a:prstGeom prst="ellipse">
            <a:avLst/>
          </a:prstGeom>
          <a:solidFill>
            <a:srgbClr val="1B2A57"/>
          </a:solidFill>
          <a:ln w="15875">
            <a:solidFill>
              <a:srgbClr val="36C8D4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b="1" dirty="0">
                <a:solidFill>
                  <a:srgbClr val="F5EBD8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21" name="Forma 21"/>
          <p:cNvSpPr/>
          <p:nvPr/>
        </p:nvSpPr>
        <p:spPr>
          <a:xfrm>
            <a:off x="9445752" y="3611880"/>
            <a:ext cx="2139696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F5EBD8"/>
                </a:solidFill>
                <a:latin typeface="Segoe UI"/>
                <a:cs typeface="Segoe UI"/>
              </a:rPr>
              <a:t>Reserva confirmada</a:t>
            </a:r>
          </a:p>
        </p:txBody>
      </p:sp>
      <p:sp>
        <p:nvSpPr>
          <p:cNvPr id="22" name="Forma 22"/>
          <p:cNvSpPr/>
          <p:nvPr/>
        </p:nvSpPr>
        <p:spPr>
          <a:xfrm>
            <a:off x="9509760" y="4023360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Con el pago aprobado, la reserva se confirma.</a:t>
            </a:r>
          </a:p>
        </p:txBody>
      </p:sp>
      <p:cxnSp>
        <p:nvCxnSpPr>
          <p:cNvPr id="23" name="Linea 23"/>
          <p:cNvCxnSpPr/>
          <p:nvPr/>
        </p:nvCxnSpPr>
        <p:spPr>
          <a:xfrm>
            <a:off x="3931920" y="2423160"/>
            <a:ext cx="6583680" cy="0"/>
          </a:xfrm>
          <a:prstGeom prst="line">
            <a:avLst/>
          </a:prstGeom>
          <a:ln w="31750" cap="rnd">
            <a:solidFill>
              <a:srgbClr val="FF665A"/>
            </a:solidFill>
            <a:prstDash val="dash"/>
            <a:round/>
          </a:ln>
        </p:spPr>
      </p:cxnSp>
      <p:sp>
        <p:nvSpPr>
          <p:cNvPr id="24" name="Forma 24"/>
          <p:cNvSpPr/>
          <p:nvPr/>
        </p:nvSpPr>
        <p:spPr>
          <a:xfrm>
            <a:off x="3931920" y="1965960"/>
            <a:ext cx="65836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FF7A6E"/>
                </a:solidFill>
                <a:latin typeface="Segoe UI"/>
                <a:cs typeface="Segoe UI"/>
              </a:rPr>
              <a:t>ventana de 15 minutos</a:t>
            </a:r>
          </a:p>
        </p:txBody>
      </p:sp>
      <p:sp>
        <p:nvSpPr>
          <p:cNvPr id="25" name="Forma 25"/>
          <p:cNvSpPr/>
          <p:nvPr/>
        </p:nvSpPr>
        <p:spPr>
          <a:xfrm>
            <a:off x="640080" y="5257800"/>
            <a:ext cx="3474720" cy="86868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25400">
            <a:solidFill>
              <a:srgbClr val="A9E85E"/>
            </a:solidFill>
          </a:ln>
        </p:spPr>
        <p:txBody>
          <a:bodyPr wrap="square" lIns="128016" tIns="128016" rIns="128016" bIns="12801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F5EBD8"/>
                </a:solidFill>
                <a:latin typeface="Segoe UI"/>
                <a:cs typeface="Segoe UI"/>
              </a:rPr>
              <a:t>Stock vendible nunca negativo</a:t>
            </a:r>
          </a:p>
        </p:txBody>
      </p:sp>
      <p:sp>
        <p:nvSpPr>
          <p:cNvPr id="26" name="Forma 26"/>
          <p:cNvSpPr/>
          <p:nvPr/>
        </p:nvSpPr>
        <p:spPr>
          <a:xfrm>
            <a:off x="4361688" y="5257800"/>
            <a:ext cx="3474720" cy="86868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25400">
            <a:solidFill>
              <a:srgbClr val="36C8D4"/>
            </a:solidFill>
          </a:ln>
        </p:spPr>
        <p:txBody>
          <a:bodyPr wrap="square" lIns="128016" tIns="128016" rIns="128016" bIns="12801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F5EBD8"/>
                </a:solidFill>
                <a:latin typeface="Segoe UI"/>
                <a:cs typeface="Segoe UI"/>
              </a:rPr>
              <a:t>Un cobro, aunque se repita la operación</a:t>
            </a:r>
          </a:p>
        </p:txBody>
      </p:sp>
      <p:sp>
        <p:nvSpPr>
          <p:cNvPr id="27" name="Forma 27"/>
          <p:cNvSpPr/>
          <p:nvPr/>
        </p:nvSpPr>
        <p:spPr>
          <a:xfrm>
            <a:off x="8083296" y="5257800"/>
            <a:ext cx="3474720" cy="86868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25400">
            <a:solidFill>
              <a:srgbClr val="FF665A"/>
            </a:solidFill>
          </a:ln>
        </p:spPr>
        <p:txBody>
          <a:bodyPr wrap="square" lIns="128016" tIns="128016" rIns="128016" bIns="12801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F5EBD8"/>
                </a:solidFill>
                <a:latin typeface="Segoe UI"/>
                <a:cs typeface="Segoe UI"/>
              </a:rPr>
              <a:t>Si no se completa, la reserva expira o se libera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TRAZABILIDAD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De la necesidad a la decisión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7</a:t>
            </a:r>
          </a:p>
        </p:txBody>
      </p:sp>
      <p:sp>
        <p:nvSpPr>
          <p:cNvPr id="7" name="Forma 7"/>
          <p:cNvSpPr/>
          <p:nvPr/>
        </p:nvSpPr>
        <p:spPr>
          <a:xfrm>
            <a:off x="658368" y="1828800"/>
            <a:ext cx="1371600" cy="26517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8" name="Forma 8"/>
          <p:cNvSpPr/>
          <p:nvPr/>
        </p:nvSpPr>
        <p:spPr>
          <a:xfrm>
            <a:off x="749808" y="19385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B5352A"/>
                </a:solidFill>
                <a:latin typeface="Segoe UI"/>
                <a:cs typeface="Segoe UI"/>
              </a:rPr>
              <a:t>NECESIDAD</a:t>
            </a:r>
          </a:p>
        </p:txBody>
      </p:sp>
      <p:sp>
        <p:nvSpPr>
          <p:cNvPr id="9" name="Forma 9"/>
          <p:cNvSpPr/>
          <p:nvPr/>
        </p:nvSpPr>
        <p:spPr>
          <a:xfrm>
            <a:off x="749808" y="2286000"/>
            <a:ext cx="1188720" cy="1737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172554"/>
                </a:solidFill>
                <a:latin typeface="Segoe UI"/>
                <a:cs typeface="Segoe UI"/>
              </a:rPr>
              <a:t>Conocer el stock real</a:t>
            </a:r>
          </a:p>
        </p:txBody>
      </p:sp>
      <p:sp>
        <p:nvSpPr>
          <p:cNvPr id="10" name="Forma 10"/>
          <p:cNvSpPr/>
          <p:nvPr/>
        </p:nvSpPr>
        <p:spPr>
          <a:xfrm>
            <a:off x="749808" y="3611880"/>
            <a:ext cx="118872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5B6490"/>
                </a:solidFill>
                <a:latin typeface="Segoe UI"/>
                <a:cs typeface="Segoe UI"/>
              </a:rPr>
              <a:t>NN01 · NN06</a:t>
            </a:r>
          </a:p>
        </p:txBody>
      </p:sp>
      <p:cxnSp>
        <p:nvCxnSpPr>
          <p:cNvPr id="11" name="Linea 11"/>
          <p:cNvCxnSpPr/>
          <p:nvPr/>
        </p:nvCxnSpPr>
        <p:spPr>
          <a:xfrm>
            <a:off x="2029968" y="3154680"/>
            <a:ext cx="210312" cy="0"/>
          </a:xfrm>
          <a:prstGeom prst="line">
            <a:avLst/>
          </a:prstGeom>
          <a:ln w="28575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12" name="Forma 12"/>
          <p:cNvSpPr/>
          <p:nvPr/>
        </p:nvSpPr>
        <p:spPr>
          <a:xfrm>
            <a:off x="2240280" y="1828800"/>
            <a:ext cx="1371600" cy="26517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3" name="Forma 13"/>
          <p:cNvSpPr/>
          <p:nvPr/>
        </p:nvSpPr>
        <p:spPr>
          <a:xfrm>
            <a:off x="2331720" y="19385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B5352A"/>
                </a:solidFill>
                <a:latin typeface="Segoe UI"/>
                <a:cs typeface="Segoe UI"/>
              </a:rPr>
              <a:t>REQUISITO</a:t>
            </a:r>
          </a:p>
        </p:txBody>
      </p:sp>
      <p:sp>
        <p:nvSpPr>
          <p:cNvPr id="14" name="Forma 14"/>
          <p:cNvSpPr/>
          <p:nvPr/>
        </p:nvSpPr>
        <p:spPr>
          <a:xfrm>
            <a:off x="2331720" y="2286000"/>
            <a:ext cx="1188720" cy="1737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172554"/>
                </a:solidFill>
                <a:latin typeface="Segoe UI"/>
                <a:cs typeface="Segoe UI"/>
              </a:rPr>
              <a:t>Stock vendible y reserva</a:t>
            </a:r>
          </a:p>
        </p:txBody>
      </p:sp>
      <p:sp>
        <p:nvSpPr>
          <p:cNvPr id="15" name="Forma 15"/>
          <p:cNvSpPr/>
          <p:nvPr/>
        </p:nvSpPr>
        <p:spPr>
          <a:xfrm>
            <a:off x="2331720" y="3611880"/>
            <a:ext cx="118872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5B6490"/>
                </a:solidFill>
                <a:latin typeface="Segoe UI"/>
                <a:cs typeface="Segoe UI"/>
              </a:rPr>
              <a:t>RF13 · RF14 · RNF01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3611880" y="3154680"/>
            <a:ext cx="210312" cy="0"/>
          </a:xfrm>
          <a:prstGeom prst="line">
            <a:avLst/>
          </a:prstGeom>
          <a:ln w="28575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17" name="Forma 17"/>
          <p:cNvSpPr/>
          <p:nvPr/>
        </p:nvSpPr>
        <p:spPr>
          <a:xfrm>
            <a:off x="3822192" y="1828800"/>
            <a:ext cx="1371600" cy="26517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8" name="Forma 18"/>
          <p:cNvSpPr/>
          <p:nvPr/>
        </p:nvSpPr>
        <p:spPr>
          <a:xfrm>
            <a:off x="3913632" y="19385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B5352A"/>
                </a:solidFill>
                <a:latin typeface="Segoe UI"/>
                <a:cs typeface="Segoe UI"/>
              </a:rPr>
              <a:t>ATRIBUTO</a:t>
            </a:r>
          </a:p>
        </p:txBody>
      </p:sp>
      <p:sp>
        <p:nvSpPr>
          <p:cNvPr id="19" name="Forma 19"/>
          <p:cNvSpPr/>
          <p:nvPr/>
        </p:nvSpPr>
        <p:spPr>
          <a:xfrm>
            <a:off x="3913632" y="2286000"/>
            <a:ext cx="1188720" cy="1737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172554"/>
                </a:solidFill>
                <a:latin typeface="Segoe UI"/>
                <a:cs typeface="Segoe UI"/>
              </a:rPr>
              <a:t>Consistencia crítica</a:t>
            </a:r>
          </a:p>
        </p:txBody>
      </p:sp>
      <p:sp>
        <p:nvSpPr>
          <p:cNvPr id="20" name="Forma 20"/>
          <p:cNvSpPr/>
          <p:nvPr/>
        </p:nvSpPr>
        <p:spPr>
          <a:xfrm>
            <a:off x="3913632" y="3611880"/>
            <a:ext cx="118872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5B6490"/>
                </a:solidFill>
                <a:latin typeface="Segoe UI"/>
                <a:cs typeface="Segoe UI"/>
              </a:rPr>
              <a:t>AC01: 0 casos de stock negativo</a:t>
            </a:r>
          </a:p>
        </p:txBody>
      </p:sp>
      <p:cxnSp>
        <p:nvCxnSpPr>
          <p:cNvPr id="21" name="Linea 21"/>
          <p:cNvCxnSpPr/>
          <p:nvPr/>
        </p:nvCxnSpPr>
        <p:spPr>
          <a:xfrm>
            <a:off x="5193792" y="3154680"/>
            <a:ext cx="210312" cy="0"/>
          </a:xfrm>
          <a:prstGeom prst="line">
            <a:avLst/>
          </a:prstGeom>
          <a:ln w="28575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22" name="Forma 22"/>
          <p:cNvSpPr/>
          <p:nvPr/>
        </p:nvSpPr>
        <p:spPr>
          <a:xfrm>
            <a:off x="5404104" y="1828800"/>
            <a:ext cx="1371600" cy="26517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23" name="Forma 23"/>
          <p:cNvSpPr/>
          <p:nvPr/>
        </p:nvSpPr>
        <p:spPr>
          <a:xfrm>
            <a:off x="5495544" y="19385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B5352A"/>
                </a:solidFill>
                <a:latin typeface="Segoe UI"/>
                <a:cs typeface="Segoe UI"/>
              </a:rPr>
              <a:t>DRIVER</a:t>
            </a:r>
          </a:p>
        </p:txBody>
      </p:sp>
      <p:sp>
        <p:nvSpPr>
          <p:cNvPr id="24" name="Forma 24"/>
          <p:cNvSpPr/>
          <p:nvPr/>
        </p:nvSpPr>
        <p:spPr>
          <a:xfrm>
            <a:off x="5495544" y="2286000"/>
            <a:ext cx="1188720" cy="1737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172554"/>
                </a:solidFill>
                <a:latin typeface="Segoe UI"/>
                <a:cs typeface="Segoe UI"/>
              </a:rPr>
              <a:t>Evitar la sobreventa</a:t>
            </a:r>
          </a:p>
        </p:txBody>
      </p:sp>
      <p:sp>
        <p:nvSpPr>
          <p:cNvPr id="25" name="Forma 25"/>
          <p:cNvSpPr/>
          <p:nvPr/>
        </p:nvSpPr>
        <p:spPr>
          <a:xfrm>
            <a:off x="5495544" y="3611880"/>
            <a:ext cx="118872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5B6490"/>
                </a:solidFill>
                <a:latin typeface="Segoe UI"/>
                <a:cs typeface="Segoe UI"/>
              </a:rPr>
              <a:t>DA01</a:t>
            </a:r>
          </a:p>
        </p:txBody>
      </p:sp>
      <p:cxnSp>
        <p:nvCxnSpPr>
          <p:cNvPr id="26" name="Linea 26"/>
          <p:cNvCxnSpPr/>
          <p:nvPr/>
        </p:nvCxnSpPr>
        <p:spPr>
          <a:xfrm>
            <a:off x="6775704" y="3154680"/>
            <a:ext cx="210312" cy="0"/>
          </a:xfrm>
          <a:prstGeom prst="line">
            <a:avLst/>
          </a:prstGeom>
          <a:ln w="28575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27" name="Forma 27"/>
          <p:cNvSpPr/>
          <p:nvPr/>
        </p:nvSpPr>
        <p:spPr>
          <a:xfrm>
            <a:off x="6986016" y="1828800"/>
            <a:ext cx="1371600" cy="26517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38100">
            <a:solidFill>
              <a:srgbClr val="FF665A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28" name="Forma 28"/>
          <p:cNvSpPr/>
          <p:nvPr/>
        </p:nvSpPr>
        <p:spPr>
          <a:xfrm>
            <a:off x="7077456" y="19385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B5352A"/>
                </a:solidFill>
                <a:latin typeface="Segoe UI"/>
                <a:cs typeface="Segoe UI"/>
              </a:rPr>
              <a:t>DECISIONES</a:t>
            </a:r>
          </a:p>
        </p:txBody>
      </p:sp>
      <p:sp>
        <p:nvSpPr>
          <p:cNvPr id="29" name="Forma 29"/>
          <p:cNvSpPr/>
          <p:nvPr/>
        </p:nvSpPr>
        <p:spPr>
          <a:xfrm>
            <a:off x="7077456" y="2286000"/>
            <a:ext cx="1188720" cy="1737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172554"/>
                </a:solidFill>
                <a:latin typeface="Segoe UI"/>
                <a:cs typeface="Segoe UI"/>
              </a:rPr>
              <a:t>Inventario separado, BD propia, reserva temporal y control de concurrencia</a:t>
            </a:r>
          </a:p>
        </p:txBody>
      </p:sp>
      <p:sp>
        <p:nvSpPr>
          <p:cNvPr id="30" name="Forma 30"/>
          <p:cNvSpPr/>
          <p:nvPr/>
        </p:nvSpPr>
        <p:spPr>
          <a:xfrm>
            <a:off x="7077456" y="3611880"/>
            <a:ext cx="118872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5B6490"/>
                </a:solidFill>
                <a:latin typeface="Segoe UI"/>
                <a:cs typeface="Segoe UI"/>
              </a:rPr>
              <a:t>AD01 · AD03 · AD08 · AD23</a:t>
            </a:r>
          </a:p>
        </p:txBody>
      </p:sp>
      <p:cxnSp>
        <p:nvCxnSpPr>
          <p:cNvPr id="31" name="Linea 31"/>
          <p:cNvCxnSpPr/>
          <p:nvPr/>
        </p:nvCxnSpPr>
        <p:spPr>
          <a:xfrm>
            <a:off x="8357616" y="3154680"/>
            <a:ext cx="210312" cy="0"/>
          </a:xfrm>
          <a:prstGeom prst="line">
            <a:avLst/>
          </a:prstGeom>
          <a:ln w="28575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32" name="Forma 32"/>
          <p:cNvSpPr/>
          <p:nvPr/>
        </p:nvSpPr>
        <p:spPr>
          <a:xfrm>
            <a:off x="8567928" y="1828800"/>
            <a:ext cx="1371600" cy="26517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33" name="Forma 33"/>
          <p:cNvSpPr/>
          <p:nvPr/>
        </p:nvSpPr>
        <p:spPr>
          <a:xfrm>
            <a:off x="8659368" y="19385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B5352A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34" name="Forma 34"/>
          <p:cNvSpPr/>
          <p:nvPr/>
        </p:nvSpPr>
        <p:spPr>
          <a:xfrm>
            <a:off x="8659368" y="2286000"/>
            <a:ext cx="1188720" cy="1737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172554"/>
                </a:solidFill>
                <a:latin typeface="Segoe UI"/>
                <a:cs typeface="Segoe UI"/>
              </a:rPr>
              <a:t>Servicio de Inventario transaccional</a:t>
            </a:r>
          </a:p>
        </p:txBody>
      </p:sp>
      <p:sp>
        <p:nvSpPr>
          <p:cNvPr id="35" name="Forma 35"/>
          <p:cNvSpPr/>
          <p:nvPr/>
        </p:nvSpPr>
        <p:spPr>
          <a:xfrm>
            <a:off x="8659368" y="3611880"/>
            <a:ext cx="118872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5B6490"/>
                </a:solidFill>
                <a:latin typeface="Segoe UI"/>
                <a:cs typeface="Segoe UI"/>
              </a:rPr>
              <a:t>Basada en servicios</a:t>
            </a:r>
          </a:p>
        </p:txBody>
      </p:sp>
      <p:cxnSp>
        <p:nvCxnSpPr>
          <p:cNvPr id="36" name="Linea 36"/>
          <p:cNvCxnSpPr/>
          <p:nvPr/>
        </p:nvCxnSpPr>
        <p:spPr>
          <a:xfrm>
            <a:off x="9939528" y="3154680"/>
            <a:ext cx="210312" cy="0"/>
          </a:xfrm>
          <a:prstGeom prst="line">
            <a:avLst/>
          </a:prstGeom>
          <a:ln w="28575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37" name="Forma 37"/>
          <p:cNvSpPr/>
          <p:nvPr/>
        </p:nvSpPr>
        <p:spPr>
          <a:xfrm>
            <a:off x="10149840" y="1828800"/>
            <a:ext cx="1371600" cy="26517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38" name="Forma 38"/>
          <p:cNvSpPr/>
          <p:nvPr/>
        </p:nvSpPr>
        <p:spPr>
          <a:xfrm>
            <a:off x="10241280" y="19385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B5352A"/>
                </a:solidFill>
                <a:latin typeface="Segoe UI"/>
                <a:cs typeface="Segoe UI"/>
              </a:rPr>
              <a:t>SPEC</a:t>
            </a:r>
          </a:p>
        </p:txBody>
      </p:sp>
      <p:sp>
        <p:nvSpPr>
          <p:cNvPr id="39" name="Forma 39"/>
          <p:cNvSpPr/>
          <p:nvPr/>
        </p:nvSpPr>
        <p:spPr>
          <a:xfrm>
            <a:off x="10241280" y="2286000"/>
            <a:ext cx="1188720" cy="1737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172554"/>
                </a:solidFill>
                <a:latin typeface="Segoe UI"/>
                <a:cs typeface="Segoe UI"/>
              </a:rPr>
              <a:t>Reservas y selección de fuente</a:t>
            </a:r>
          </a:p>
        </p:txBody>
      </p:sp>
      <p:sp>
        <p:nvSpPr>
          <p:cNvPr id="40" name="Forma 40"/>
          <p:cNvSpPr/>
          <p:nvPr/>
        </p:nvSpPr>
        <p:spPr>
          <a:xfrm>
            <a:off x="10241280" y="3611880"/>
            <a:ext cx="118872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5B6490"/>
                </a:solidFill>
                <a:latin typeface="Segoe UI"/>
                <a:cs typeface="Segoe UI"/>
              </a:rPr>
              <a:t>prefijo SEL</a:t>
            </a:r>
          </a:p>
        </p:txBody>
      </p:sp>
      <p:sp>
        <p:nvSpPr>
          <p:cNvPr id="41" name="Forma 41"/>
          <p:cNvSpPr/>
          <p:nvPr/>
        </p:nvSpPr>
        <p:spPr>
          <a:xfrm>
            <a:off x="640080" y="4892040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200" i="1" dirty="0">
                <a:solidFill>
                  <a:srgbClr val="172554"/>
                </a:solidFill>
                <a:latin typeface="Georgia"/>
                <a:cs typeface="Georgia"/>
              </a:rPr>
              <a:t>Una necesidad, siete pasos trazables</a:t>
            </a:r>
          </a:p>
        </p:txBody>
      </p:sp>
      <p:sp>
        <p:nvSpPr>
          <p:cNvPr id="42" name="Forma 42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5B6490"/>
                </a:solidFill>
                <a:latin typeface="Segoe UI"/>
                <a:cs typeface="Segoe UI"/>
              </a:rPr>
              <a:t>Este es el hilo de la sobreventa; las 19 specs aprobadas siguen la misma cadena.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ARQUITECTURA RESULTANTE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Servicios de grano grueso, capas por dentro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8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60020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EBDDBF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BabelHub.Web · cliente de los servicios</a:t>
            </a:r>
          </a:p>
        </p:txBody>
      </p:sp>
      <p:cxnSp>
        <p:nvCxnSpPr>
          <p:cNvPr id="8" name="Linea 8"/>
          <p:cNvCxnSpPr/>
          <p:nvPr/>
        </p:nvCxnSpPr>
        <p:spPr>
          <a:xfrm>
            <a:off x="1920240" y="2103120"/>
            <a:ext cx="0" cy="457200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9" name="Forma 9"/>
          <p:cNvSpPr/>
          <p:nvPr/>
        </p:nvSpPr>
        <p:spPr>
          <a:xfrm>
            <a:off x="640080" y="2606040"/>
            <a:ext cx="2560320" cy="118872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172554"/>
                </a:solidFill>
                <a:latin typeface="Segoe UI"/>
                <a:cs typeface="Segoe UI"/>
              </a:rPr>
              <a:t>E-commerce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catálogo, carrito, pagos, pedidos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4663440" y="2103120"/>
            <a:ext cx="0" cy="457200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11" name="Forma 11"/>
          <p:cNvSpPr/>
          <p:nvPr/>
        </p:nvSpPr>
        <p:spPr>
          <a:xfrm>
            <a:off x="3383280" y="2606040"/>
            <a:ext cx="2560320" cy="118872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38100">
            <a:solidFill>
              <a:srgbClr val="FF665A"/>
            </a:solidFill>
          </a:ln>
        </p:spPr>
        <p:txBody>
          <a:bodyPr wrap="square" lIns="128016" tIns="128016" rIns="128016" bIns="12801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172554"/>
                </a:solidFill>
                <a:latin typeface="Segoe UI"/>
                <a:cs typeface="Segoe UI"/>
              </a:rPr>
              <a:t>Inventario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stock, reservas, traslados</a:t>
            </a:r>
          </a:p>
        </p:txBody>
      </p:sp>
      <p:cxnSp>
        <p:nvCxnSpPr>
          <p:cNvPr id="12" name="Linea 12"/>
          <p:cNvCxnSpPr/>
          <p:nvPr/>
        </p:nvCxnSpPr>
        <p:spPr>
          <a:xfrm>
            <a:off x="7406640" y="2103120"/>
            <a:ext cx="0" cy="457200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13" name="Forma 13"/>
          <p:cNvSpPr/>
          <p:nvPr/>
        </p:nvSpPr>
        <p:spPr>
          <a:xfrm>
            <a:off x="6126480" y="2606040"/>
            <a:ext cx="2560320" cy="118872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172554"/>
                </a:solidFill>
                <a:latin typeface="Segoe UI"/>
                <a:cs typeface="Segoe UI"/>
              </a:rPr>
              <a:t>Identidad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usuarios, roles y sucursal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10149840" y="2103120"/>
            <a:ext cx="0" cy="457200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15" name="Forma 15"/>
          <p:cNvSpPr/>
          <p:nvPr/>
        </p:nvSpPr>
        <p:spPr>
          <a:xfrm>
            <a:off x="8869680" y="2606040"/>
            <a:ext cx="2560320" cy="118872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172554"/>
                </a:solidFill>
                <a:latin typeface="Segoe UI"/>
                <a:cs typeface="Segoe UI"/>
              </a:rPr>
              <a:t>Asistente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recomienda, solo lectura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402336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5B6490"/>
                </a:solidFill>
                <a:latin typeface="Segoe UI"/>
                <a:cs typeface="Segoe UI"/>
              </a:rPr>
              <a:t>Dentro de cada servicio: Clean Architecture</a:t>
            </a:r>
          </a:p>
        </p:txBody>
      </p:sp>
      <p:sp>
        <p:nvSpPr>
          <p:cNvPr id="17" name="Forma 17"/>
          <p:cNvSpPr/>
          <p:nvPr/>
        </p:nvSpPr>
        <p:spPr>
          <a:xfrm>
            <a:off x="640080" y="4389120"/>
            <a:ext cx="4754880" cy="420624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Presentación / Api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4873752"/>
            <a:ext cx="4754880" cy="420624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Aplicación · casos de uso y puertos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5358384"/>
            <a:ext cx="4754880" cy="420624"/>
          </a:xfrm>
          <a:prstGeom prst="roundRect">
            <a:avLst>
              <a:gd name="adj" fmla="val 8000"/>
            </a:avLst>
          </a:prstGeom>
          <a:solidFill>
            <a:srgbClr val="FF665A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Dominio · reglas del negocio</a:t>
            </a:r>
          </a:p>
        </p:txBody>
      </p:sp>
      <p:sp>
        <p:nvSpPr>
          <p:cNvPr id="20" name="Forma 20"/>
          <p:cNvSpPr/>
          <p:nvPr/>
        </p:nvSpPr>
        <p:spPr>
          <a:xfrm>
            <a:off x="640080" y="5843016"/>
            <a:ext cx="4754880" cy="420624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Infraestructura · implementa los puertos</a:t>
            </a:r>
          </a:p>
        </p:txBody>
      </p:sp>
      <p:cxnSp>
        <p:nvCxnSpPr>
          <p:cNvPr id="21" name="Linea 21"/>
          <p:cNvCxnSpPr/>
          <p:nvPr/>
        </p:nvCxnSpPr>
        <p:spPr>
          <a:xfrm>
            <a:off x="5669280" y="4526280"/>
            <a:ext cx="0" cy="1371600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22" name="Forma 22"/>
          <p:cNvSpPr/>
          <p:nvPr/>
        </p:nvSpPr>
        <p:spPr>
          <a:xfrm>
            <a:off x="5760720" y="4892040"/>
            <a:ext cx="64008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1A6F80"/>
                </a:solidFill>
                <a:latin typeface="Segoe UI"/>
                <a:cs typeface="Segoe UI"/>
              </a:rPr>
              <a:t>hacia el dominio</a:t>
            </a:r>
          </a:p>
        </p:txBody>
      </p:sp>
      <p:sp>
        <p:nvSpPr>
          <p:cNvPr id="23" name="Forma 23"/>
          <p:cNvSpPr/>
          <p:nvPr/>
        </p:nvSpPr>
        <p:spPr>
          <a:xfrm>
            <a:off x="6675120" y="4023360"/>
            <a:ext cx="4846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b="1" dirty="0">
                <a:solidFill>
                  <a:srgbClr val="B5352A"/>
                </a:solidFill>
                <a:latin typeface="Segoe UI"/>
                <a:cs typeface="Segoe UI"/>
              </a:rPr>
              <a:t>Basada en servicios</a:t>
            </a:r>
            <a:r>
              <a:rPr lang="es-PE" sz="1600" dirty="0">
                <a:solidFill>
                  <a:srgbClr val="172554"/>
                </a:solidFill>
                <a:latin typeface="Segoe UI"/>
                <a:cs typeface="Segoe UI"/>
              </a:rPr>
              <a:t> de granularidad gruesa, con </a:t>
            </a:r>
            <a:r>
              <a:rPr lang="es-PE" sz="1600" b="1" dirty="0">
                <a:solidFill>
                  <a:srgbClr val="B5352A"/>
                </a:solidFill>
                <a:latin typeface="Segoe UI"/>
                <a:cs typeface="Segoe UI"/>
              </a:rPr>
              <a:t>REST síncrono</a:t>
            </a:r>
            <a:r>
              <a:rPr lang="es-PE" sz="1600" dirty="0">
                <a:solidFill>
                  <a:srgbClr val="172554"/>
                </a:solidFill>
                <a:latin typeface="Segoe UI"/>
                <a:cs typeface="Segoe UI"/>
              </a:rPr>
              <a:t> y una base de datos por sistema.</a:t>
            </a:r>
          </a:p>
        </p:txBody>
      </p:sp>
      <p:sp>
        <p:nvSpPr>
          <p:cNvPr id="24" name="Forma 24"/>
          <p:cNvSpPr/>
          <p:nvPr/>
        </p:nvSpPr>
        <p:spPr>
          <a:xfrm>
            <a:off x="6675120" y="4892040"/>
            <a:ext cx="4846320" cy="347472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D9C9A5"/>
            </a:solidFill>
          </a:ln>
        </p:spPr>
        <p:txBody>
          <a:bodyPr wrap="square" lIns="36576" tIns="36576" rIns="36576" bIns="36576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172554"/>
                </a:solidFill>
                <a:latin typeface="Segoe UI"/>
                <a:cs typeface="Segoe UI"/>
              </a:rPr>
              <a:t>✕ Monolito: mezcla venta e inventario</a:t>
            </a:r>
          </a:p>
        </p:txBody>
      </p:sp>
      <p:sp>
        <p:nvSpPr>
          <p:cNvPr id="25" name="Forma 25"/>
          <p:cNvSpPr/>
          <p:nvPr/>
        </p:nvSpPr>
        <p:spPr>
          <a:xfrm>
            <a:off x="6675120" y="5303520"/>
            <a:ext cx="4846320" cy="347472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D9C9A5"/>
            </a:solidFill>
          </a:ln>
        </p:spPr>
        <p:txBody>
          <a:bodyPr wrap="square" lIns="36576" tIns="36576" rIns="36576" bIns="36576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172554"/>
                </a:solidFill>
                <a:latin typeface="Segoe UI"/>
                <a:cs typeface="Segoe UI"/>
              </a:rPr>
              <a:t>✕ Microservicios finos: no caben en 12 GB</a:t>
            </a:r>
          </a:p>
        </p:txBody>
      </p:sp>
      <p:sp>
        <p:nvSpPr>
          <p:cNvPr id="26" name="Forma 26"/>
          <p:cNvSpPr/>
          <p:nvPr/>
        </p:nvSpPr>
        <p:spPr>
          <a:xfrm>
            <a:off x="6675120" y="5715000"/>
            <a:ext cx="4846320" cy="347472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D9C9A5"/>
            </a:solidFill>
          </a:ln>
        </p:spPr>
        <p:txBody>
          <a:bodyPr wrap="square" lIns="36576" tIns="36576" rIns="36576" bIns="36576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172554"/>
                </a:solidFill>
                <a:latin typeface="Segoe UI"/>
                <a:cs typeface="Segoe UI"/>
              </a:rPr>
              <a:t>✕ Eventos: innecesarios a esta escala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MODELO C4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Tres niveles de zoom sobre la misma arquitectura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9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691640"/>
            <a:ext cx="3474720" cy="393192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8" name="Forma 8"/>
          <p:cNvSpPr/>
          <p:nvPr/>
        </p:nvSpPr>
        <p:spPr>
          <a:xfrm>
            <a:off x="822960" y="178308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NIVEL 1 · CONTEXTO</a:t>
            </a:r>
          </a:p>
        </p:txBody>
      </p:sp>
      <p:sp>
        <p:nvSpPr>
          <p:cNvPr id="9" name="Forma 9"/>
          <p:cNvSpPr/>
          <p:nvPr/>
        </p:nvSpPr>
        <p:spPr>
          <a:xfrm>
            <a:off x="822960" y="4846320"/>
            <a:ext cx="310896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i="1" dirty="0">
                <a:solidFill>
                  <a:srgbClr val="172554"/>
                </a:solidFill>
                <a:latin typeface="Segoe UI"/>
                <a:cs typeface="Segoe UI"/>
              </a:rPr>
              <a:t>¿Quién usa el sistema y con qué se relaciona?</a:t>
            </a:r>
          </a:p>
        </p:txBody>
      </p:sp>
      <p:sp>
        <p:nvSpPr>
          <p:cNvPr id="10" name="Forma 10"/>
          <p:cNvSpPr/>
          <p:nvPr/>
        </p:nvSpPr>
        <p:spPr>
          <a:xfrm>
            <a:off x="4361688" y="1691640"/>
            <a:ext cx="3474720" cy="393192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1" name="Forma 11"/>
          <p:cNvSpPr/>
          <p:nvPr/>
        </p:nvSpPr>
        <p:spPr>
          <a:xfrm>
            <a:off x="4544568" y="178308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NIVEL 2 · CONTENEDORES</a:t>
            </a:r>
          </a:p>
        </p:txBody>
      </p:sp>
      <p:sp>
        <p:nvSpPr>
          <p:cNvPr id="12" name="Forma 12"/>
          <p:cNvSpPr/>
          <p:nvPr/>
        </p:nvSpPr>
        <p:spPr>
          <a:xfrm>
            <a:off x="4544568" y="4846320"/>
            <a:ext cx="310896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i="1" dirty="0">
                <a:solidFill>
                  <a:srgbClr val="172554"/>
                </a:solidFill>
                <a:latin typeface="Segoe UI"/>
                <a:cs typeface="Segoe UI"/>
              </a:rPr>
              <a:t>¿Qué piezas se despliegan?</a:t>
            </a:r>
          </a:p>
        </p:txBody>
      </p:sp>
      <p:sp>
        <p:nvSpPr>
          <p:cNvPr id="13" name="Forma 13"/>
          <p:cNvSpPr/>
          <p:nvPr/>
        </p:nvSpPr>
        <p:spPr>
          <a:xfrm>
            <a:off x="8083296" y="1691640"/>
            <a:ext cx="3474720" cy="393192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4" name="Forma 14"/>
          <p:cNvSpPr/>
          <p:nvPr/>
        </p:nvSpPr>
        <p:spPr>
          <a:xfrm>
            <a:off x="8266176" y="178308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NIVEL 3 · COMPONENTES</a:t>
            </a:r>
          </a:p>
        </p:txBody>
      </p:sp>
      <p:sp>
        <p:nvSpPr>
          <p:cNvPr id="15" name="Forma 15"/>
          <p:cNvSpPr/>
          <p:nvPr/>
        </p:nvSpPr>
        <p:spPr>
          <a:xfrm>
            <a:off x="8266176" y="4846320"/>
            <a:ext cx="310896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i="1" dirty="0">
                <a:solidFill>
                  <a:srgbClr val="172554"/>
                </a:solidFill>
                <a:latin typeface="Segoe UI"/>
                <a:cs typeface="Segoe UI"/>
              </a:rPr>
              <a:t>¿Qué módulos tiene cada servicio?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1188720" y="2788920"/>
            <a:ext cx="1188720" cy="548640"/>
          </a:xfrm>
          <a:prstGeom prst="line">
            <a:avLst/>
          </a:prstGeom>
          <a:ln w="19050" cap="rnd">
            <a:solidFill>
              <a:srgbClr val="1A6F80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868680" y="2286000"/>
            <a:ext cx="658368" cy="50292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172554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172554"/>
                </a:solidFill>
                <a:latin typeface="Segoe UI"/>
                <a:cs typeface="Segoe UI"/>
              </a:rPr>
              <a:t>Cliente</a:t>
            </a:r>
          </a:p>
        </p:txBody>
      </p:sp>
      <p:cxnSp>
        <p:nvCxnSpPr>
          <p:cNvPr id="18" name="Linea 18"/>
          <p:cNvCxnSpPr/>
          <p:nvPr/>
        </p:nvCxnSpPr>
        <p:spPr>
          <a:xfrm>
            <a:off x="1956816" y="2788920"/>
            <a:ext cx="420624" cy="548640"/>
          </a:xfrm>
          <a:prstGeom prst="line">
            <a:avLst/>
          </a:prstGeom>
          <a:ln w="19050" cap="rnd">
            <a:solidFill>
              <a:srgbClr val="1A6F80"/>
            </a:solidFill>
            <a:round/>
          </a:ln>
        </p:spPr>
      </p:cxnSp>
      <p:sp>
        <p:nvSpPr>
          <p:cNvPr id="19" name="Forma 19"/>
          <p:cNvSpPr/>
          <p:nvPr/>
        </p:nvSpPr>
        <p:spPr>
          <a:xfrm>
            <a:off x="1636776" y="2286000"/>
            <a:ext cx="658368" cy="50292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172554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172554"/>
                </a:solidFill>
                <a:latin typeface="Segoe UI"/>
                <a:cs typeface="Segoe UI"/>
              </a:rPr>
              <a:t>Sucursal</a:t>
            </a:r>
          </a:p>
        </p:txBody>
      </p:sp>
      <p:cxnSp>
        <p:nvCxnSpPr>
          <p:cNvPr id="20" name="Linea 20"/>
          <p:cNvCxnSpPr/>
          <p:nvPr/>
        </p:nvCxnSpPr>
        <p:spPr>
          <a:xfrm flipH="1">
            <a:off x="2377440" y="2788920"/>
            <a:ext cx="347472" cy="548640"/>
          </a:xfrm>
          <a:prstGeom prst="line">
            <a:avLst/>
          </a:prstGeom>
          <a:ln w="19050" cap="rnd">
            <a:solidFill>
              <a:srgbClr val="1A6F80"/>
            </a:solidFill>
            <a:round/>
          </a:ln>
        </p:spPr>
      </p:cxnSp>
      <p:sp>
        <p:nvSpPr>
          <p:cNvPr id="21" name="Forma 21"/>
          <p:cNvSpPr/>
          <p:nvPr/>
        </p:nvSpPr>
        <p:spPr>
          <a:xfrm>
            <a:off x="2404872" y="2286000"/>
            <a:ext cx="658368" cy="50292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172554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172554"/>
                </a:solidFill>
                <a:latin typeface="Segoe UI"/>
                <a:cs typeface="Segoe UI"/>
              </a:rPr>
              <a:t>Logíst.</a:t>
            </a:r>
          </a:p>
        </p:txBody>
      </p:sp>
      <p:cxnSp>
        <p:nvCxnSpPr>
          <p:cNvPr id="22" name="Linea 22"/>
          <p:cNvCxnSpPr/>
          <p:nvPr/>
        </p:nvCxnSpPr>
        <p:spPr>
          <a:xfrm flipH="1">
            <a:off x="2377440" y="2788920"/>
            <a:ext cx="1115568" cy="548640"/>
          </a:xfrm>
          <a:prstGeom prst="line">
            <a:avLst/>
          </a:prstGeom>
          <a:ln w="19050" cap="rnd">
            <a:solidFill>
              <a:srgbClr val="1A6F80"/>
            </a:solidFill>
            <a:round/>
          </a:ln>
        </p:spPr>
      </p:cxnSp>
      <p:sp>
        <p:nvSpPr>
          <p:cNvPr id="23" name="Forma 23"/>
          <p:cNvSpPr/>
          <p:nvPr/>
        </p:nvSpPr>
        <p:spPr>
          <a:xfrm>
            <a:off x="3172968" y="2286000"/>
            <a:ext cx="658368" cy="50292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172554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172554"/>
                </a:solidFill>
                <a:latin typeface="Segoe UI"/>
                <a:cs typeface="Segoe UI"/>
              </a:rPr>
              <a:t>Admin</a:t>
            </a:r>
          </a:p>
        </p:txBody>
      </p:sp>
      <p:sp>
        <p:nvSpPr>
          <p:cNvPr id="24" name="Forma 24"/>
          <p:cNvSpPr/>
          <p:nvPr/>
        </p:nvSpPr>
        <p:spPr>
          <a:xfrm>
            <a:off x="1737360" y="3246120"/>
            <a:ext cx="1280160" cy="731520"/>
          </a:xfrm>
          <a:prstGeom prst="ellipse">
            <a:avLst/>
          </a:prstGeom>
          <a:solidFill>
            <a:srgbClr val="FF665A"/>
          </a:solidFill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BabelHub</a:t>
            </a:r>
          </a:p>
        </p:txBody>
      </p:sp>
      <p:cxnSp>
        <p:nvCxnSpPr>
          <p:cNvPr id="25" name="Linea 25"/>
          <p:cNvCxnSpPr/>
          <p:nvPr/>
        </p:nvCxnSpPr>
        <p:spPr>
          <a:xfrm flipH="1">
            <a:off x="1325880" y="3977640"/>
            <a:ext cx="1051560" cy="320040"/>
          </a:xfrm>
          <a:prstGeom prst="line">
            <a:avLst/>
          </a:prstGeom>
          <a:ln w="19050" cap="rnd">
            <a:solidFill>
              <a:srgbClr val="357018"/>
            </a:solidFill>
            <a:round/>
          </a:ln>
        </p:spPr>
      </p:cxnSp>
      <p:sp>
        <p:nvSpPr>
          <p:cNvPr id="26" name="Forma 26"/>
          <p:cNvSpPr/>
          <p:nvPr/>
        </p:nvSpPr>
        <p:spPr>
          <a:xfrm>
            <a:off x="960120" y="4297680"/>
            <a:ext cx="777240" cy="41148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9050">
            <a:solidFill>
              <a:srgbClr val="357018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172554"/>
                </a:solidFill>
                <a:latin typeface="Segoe UI"/>
                <a:cs typeface="Segoe UI"/>
              </a:rPr>
              <a:t>Culqi</a:t>
            </a:r>
          </a:p>
        </p:txBody>
      </p:sp>
      <p:cxnSp>
        <p:nvCxnSpPr>
          <p:cNvPr id="27" name="Linea 27"/>
          <p:cNvCxnSpPr/>
          <p:nvPr/>
        </p:nvCxnSpPr>
        <p:spPr>
          <a:xfrm flipH="1">
            <a:off x="2331720" y="3977640"/>
            <a:ext cx="45720" cy="320040"/>
          </a:xfrm>
          <a:prstGeom prst="line">
            <a:avLst/>
          </a:prstGeom>
          <a:ln w="19050" cap="rnd">
            <a:solidFill>
              <a:srgbClr val="357018"/>
            </a:solidFill>
            <a:round/>
          </a:ln>
        </p:spPr>
      </p:cxnSp>
      <p:sp>
        <p:nvSpPr>
          <p:cNvPr id="28" name="Forma 28"/>
          <p:cNvSpPr/>
          <p:nvPr/>
        </p:nvSpPr>
        <p:spPr>
          <a:xfrm>
            <a:off x="1965960" y="4297680"/>
            <a:ext cx="777240" cy="41148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9050">
            <a:solidFill>
              <a:srgbClr val="357018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172554"/>
                </a:solidFill>
                <a:latin typeface="Segoe UI"/>
                <a:cs typeface="Segoe UI"/>
              </a:rPr>
              <a:t>WhatsApp</a:t>
            </a:r>
          </a:p>
        </p:txBody>
      </p:sp>
      <p:cxnSp>
        <p:nvCxnSpPr>
          <p:cNvPr id="29" name="Linea 29"/>
          <p:cNvCxnSpPr/>
          <p:nvPr/>
        </p:nvCxnSpPr>
        <p:spPr>
          <a:xfrm>
            <a:off x="2377440" y="3977640"/>
            <a:ext cx="960120" cy="320040"/>
          </a:xfrm>
          <a:prstGeom prst="line">
            <a:avLst/>
          </a:prstGeom>
          <a:ln w="19050" cap="rnd">
            <a:solidFill>
              <a:srgbClr val="357018"/>
            </a:solidFill>
            <a:round/>
          </a:ln>
        </p:spPr>
      </p:cxnSp>
      <p:sp>
        <p:nvSpPr>
          <p:cNvPr id="30" name="Forma 30"/>
          <p:cNvSpPr/>
          <p:nvPr/>
        </p:nvSpPr>
        <p:spPr>
          <a:xfrm>
            <a:off x="2971800" y="4297680"/>
            <a:ext cx="777240" cy="41148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9050">
            <a:solidFill>
              <a:srgbClr val="357018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172554"/>
                </a:solidFill>
                <a:latin typeface="Segoe UI"/>
                <a:cs typeface="Segoe UI"/>
              </a:rPr>
              <a:t>Almacén</a:t>
            </a:r>
          </a:p>
        </p:txBody>
      </p:sp>
      <p:sp>
        <p:nvSpPr>
          <p:cNvPr id="31" name="Forma 31"/>
          <p:cNvSpPr/>
          <p:nvPr/>
        </p:nvSpPr>
        <p:spPr>
          <a:xfrm>
            <a:off x="4590288" y="2286000"/>
            <a:ext cx="914400" cy="530352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172554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172554"/>
                </a:solidFill>
                <a:latin typeface="Segoe UI"/>
                <a:cs typeface="Segoe UI"/>
              </a:rPr>
              <a:t>Web</a:t>
            </a:r>
          </a:p>
        </p:txBody>
      </p:sp>
      <p:sp>
        <p:nvSpPr>
          <p:cNvPr id="32" name="Forma 32"/>
          <p:cNvSpPr/>
          <p:nvPr/>
        </p:nvSpPr>
        <p:spPr>
          <a:xfrm>
            <a:off x="5614416" y="2286000"/>
            <a:ext cx="914400" cy="530352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172554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172554"/>
                </a:solidFill>
                <a:latin typeface="Segoe UI"/>
                <a:cs typeface="Segoe UI"/>
              </a:rPr>
              <a:t>E-commerce</a:t>
            </a:r>
          </a:p>
        </p:txBody>
      </p:sp>
      <p:sp>
        <p:nvSpPr>
          <p:cNvPr id="33" name="Forma 33"/>
          <p:cNvSpPr/>
          <p:nvPr/>
        </p:nvSpPr>
        <p:spPr>
          <a:xfrm>
            <a:off x="6638544" y="2286000"/>
            <a:ext cx="914400" cy="530352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31750">
            <a:solidFill>
              <a:srgbClr val="FF665A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172554"/>
                </a:solidFill>
                <a:latin typeface="Segoe UI"/>
                <a:cs typeface="Segoe UI"/>
              </a:rPr>
              <a:t>Inventario</a:t>
            </a:r>
          </a:p>
        </p:txBody>
      </p:sp>
      <p:sp>
        <p:nvSpPr>
          <p:cNvPr id="34" name="Forma 34"/>
          <p:cNvSpPr/>
          <p:nvPr/>
        </p:nvSpPr>
        <p:spPr>
          <a:xfrm>
            <a:off x="4590288" y="2971800"/>
            <a:ext cx="914400" cy="530352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172554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172554"/>
                </a:solidFill>
                <a:latin typeface="Segoe UI"/>
                <a:cs typeface="Segoe UI"/>
              </a:rPr>
              <a:t>Identidad</a:t>
            </a:r>
          </a:p>
        </p:txBody>
      </p:sp>
      <p:sp>
        <p:nvSpPr>
          <p:cNvPr id="35" name="Forma 35"/>
          <p:cNvSpPr/>
          <p:nvPr/>
        </p:nvSpPr>
        <p:spPr>
          <a:xfrm>
            <a:off x="5614416" y="2971800"/>
            <a:ext cx="914400" cy="530352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172554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172554"/>
                </a:solidFill>
                <a:latin typeface="Segoe UI"/>
                <a:cs typeface="Segoe UI"/>
              </a:rPr>
              <a:t>Asistente</a:t>
            </a:r>
          </a:p>
        </p:txBody>
      </p:sp>
      <p:sp>
        <p:nvSpPr>
          <p:cNvPr id="36" name="Forma 36"/>
          <p:cNvSpPr/>
          <p:nvPr/>
        </p:nvSpPr>
        <p:spPr>
          <a:xfrm>
            <a:off x="6638544" y="2971800"/>
            <a:ext cx="914400" cy="530352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172554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172554"/>
                </a:solidFill>
                <a:latin typeface="Segoe UI"/>
                <a:cs typeface="Segoe UI"/>
              </a:rPr>
              <a:t>Redis</a:t>
            </a:r>
          </a:p>
        </p:txBody>
      </p:sp>
      <p:sp>
        <p:nvSpPr>
          <p:cNvPr id="37" name="Forma 37"/>
          <p:cNvSpPr/>
          <p:nvPr/>
        </p:nvSpPr>
        <p:spPr>
          <a:xfrm>
            <a:off x="4590288" y="3794760"/>
            <a:ext cx="1463040" cy="50292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172554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172554"/>
                </a:solidFill>
                <a:latin typeface="Segoe UI"/>
                <a:cs typeface="Segoe UI"/>
              </a:rPr>
              <a:t>PostgreSQL Ventas</a:t>
            </a:r>
          </a:p>
        </p:txBody>
      </p:sp>
      <p:sp>
        <p:nvSpPr>
          <p:cNvPr id="38" name="Forma 38"/>
          <p:cNvSpPr/>
          <p:nvPr/>
        </p:nvSpPr>
        <p:spPr>
          <a:xfrm>
            <a:off x="6144768" y="3794760"/>
            <a:ext cx="1463040" cy="50292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31750">
            <a:solidFill>
              <a:srgbClr val="FF665A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172554"/>
                </a:solidFill>
                <a:latin typeface="Segoe UI"/>
                <a:cs typeface="Segoe UI"/>
              </a:rPr>
              <a:t>PostgreSQL Inventario</a:t>
            </a:r>
          </a:p>
        </p:txBody>
      </p:sp>
      <p:cxnSp>
        <p:nvCxnSpPr>
          <p:cNvPr id="39" name="Linea 39"/>
          <p:cNvCxnSpPr/>
          <p:nvPr/>
        </p:nvCxnSpPr>
        <p:spPr>
          <a:xfrm>
            <a:off x="5184648" y="3520440"/>
            <a:ext cx="0" cy="246888"/>
          </a:xfrm>
          <a:prstGeom prst="line">
            <a:avLst/>
          </a:prstGeom>
          <a:ln w="19050" cap="rnd">
            <a:solidFill>
              <a:srgbClr val="1A6F80"/>
            </a:solidFill>
            <a:round/>
          </a:ln>
        </p:spPr>
      </p:cxnSp>
      <p:cxnSp>
        <p:nvCxnSpPr>
          <p:cNvPr id="40" name="Linea 40"/>
          <p:cNvCxnSpPr/>
          <p:nvPr/>
        </p:nvCxnSpPr>
        <p:spPr>
          <a:xfrm flipH="1">
            <a:off x="6876288" y="3520440"/>
            <a:ext cx="137160" cy="246888"/>
          </a:xfrm>
          <a:prstGeom prst="line">
            <a:avLst/>
          </a:prstGeom>
          <a:ln w="19050" cap="rnd">
            <a:solidFill>
              <a:srgbClr val="1A6F80"/>
            </a:solidFill>
            <a:round/>
          </a:ln>
        </p:spPr>
      </p:cxnSp>
      <p:sp>
        <p:nvSpPr>
          <p:cNvPr id="41" name="Forma 41"/>
          <p:cNvSpPr/>
          <p:nvPr/>
        </p:nvSpPr>
        <p:spPr>
          <a:xfrm>
            <a:off x="8302752" y="228600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172554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172554"/>
                </a:solidFill>
                <a:latin typeface="Segoe UI"/>
                <a:cs typeface="Segoe UI"/>
              </a:rPr>
              <a:t>Fuentes</a:t>
            </a:r>
          </a:p>
        </p:txBody>
      </p:sp>
      <p:sp>
        <p:nvSpPr>
          <p:cNvPr id="42" name="Forma 42"/>
          <p:cNvSpPr/>
          <p:nvPr/>
        </p:nvSpPr>
        <p:spPr>
          <a:xfrm>
            <a:off x="9857232" y="228600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31750">
            <a:solidFill>
              <a:srgbClr val="FF665A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172554"/>
                </a:solidFill>
                <a:latin typeface="Segoe UI"/>
                <a:cs typeface="Segoe UI"/>
              </a:rPr>
              <a:t>Reservas</a:t>
            </a:r>
          </a:p>
        </p:txBody>
      </p:sp>
      <p:sp>
        <p:nvSpPr>
          <p:cNvPr id="43" name="Forma 43"/>
          <p:cNvSpPr/>
          <p:nvPr/>
        </p:nvSpPr>
        <p:spPr>
          <a:xfrm>
            <a:off x="8302752" y="3154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172554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172554"/>
                </a:solidFill>
                <a:latin typeface="Segoe UI"/>
                <a:cs typeface="Segoe UI"/>
              </a:rPr>
              <a:t>Traslados</a:t>
            </a:r>
          </a:p>
        </p:txBody>
      </p:sp>
      <p:sp>
        <p:nvSpPr>
          <p:cNvPr id="44" name="Forma 44"/>
          <p:cNvSpPr/>
          <p:nvPr/>
        </p:nvSpPr>
        <p:spPr>
          <a:xfrm>
            <a:off x="9857232" y="3154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172554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172554"/>
                </a:solidFill>
                <a:latin typeface="Segoe UI"/>
                <a:cs typeface="Segoe UI"/>
              </a:rPr>
              <a:t>Ajustes</a:t>
            </a:r>
          </a:p>
        </p:txBody>
      </p:sp>
      <p:sp>
        <p:nvSpPr>
          <p:cNvPr id="45" name="Forma 45"/>
          <p:cNvSpPr/>
          <p:nvPr/>
        </p:nvSpPr>
        <p:spPr>
          <a:xfrm>
            <a:off x="8302752" y="4069080"/>
            <a:ext cx="2971800" cy="457200"/>
          </a:xfrm>
          <a:prstGeom prst="roundRect">
            <a:avLst>
              <a:gd name="adj" fmla="val 8000"/>
            </a:avLst>
          </a:prstGeom>
          <a:solidFill>
            <a:srgbClr val="EBDDBF"/>
          </a:solidFill>
          <a:ln w="15875">
            <a:solidFill>
              <a:srgbClr val="D9C9A5"/>
            </a:solidFill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172554"/>
                </a:solidFill>
                <a:latin typeface="Segoe UI"/>
                <a:cs typeface="Segoe UI"/>
              </a:rPr>
              <a:t>Puertos → Infraestructura</a:t>
            </a:r>
          </a:p>
        </p:txBody>
      </p:sp>
      <p:sp>
        <p:nvSpPr>
          <p:cNvPr id="46" name="Forma 46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5B6490"/>
                </a:solidFill>
                <a:latin typeface="Segoe UI"/>
                <a:cs typeface="Segoe UI"/>
              </a:rPr>
              <a:t>Los componentes del nivel 3 son módulos, no clases: cada uno corresponde a una spec.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4" fill="hold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26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276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32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CALIDAD Y SEGURIDAD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Cada táctica protege un atributo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10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69164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38100">
            <a:solidFill>
              <a:srgbClr val="FF665A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8" name="Forma 8"/>
          <p:cNvSpPr/>
          <p:nvPr/>
        </p:nvSpPr>
        <p:spPr>
          <a:xfrm>
            <a:off x="822960" y="182880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CONSISTENCIA</a:t>
            </a:r>
          </a:p>
        </p:txBody>
      </p:sp>
      <p:sp>
        <p:nvSpPr>
          <p:cNvPr id="9" name="Forma 9"/>
          <p:cNvSpPr/>
          <p:nvPr/>
        </p:nvSpPr>
        <p:spPr>
          <a:xfrm>
            <a:off x="822960" y="2194560"/>
            <a:ext cx="3108960" cy="12344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172554"/>
                </a:solidFill>
                <a:latin typeface="Segoe UI"/>
                <a:cs typeface="Segoe UI"/>
              </a:rPr>
              <a:t>Transacción, actualización condicional e idempotencia</a:t>
            </a:r>
          </a:p>
        </p:txBody>
      </p:sp>
      <p:sp>
        <p:nvSpPr>
          <p:cNvPr id="10" name="Forma 10"/>
          <p:cNvSpPr/>
          <p:nvPr/>
        </p:nvSpPr>
        <p:spPr>
          <a:xfrm>
            <a:off x="4361688" y="169164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1" name="Forma 11"/>
          <p:cNvSpPr/>
          <p:nvPr/>
        </p:nvSpPr>
        <p:spPr>
          <a:xfrm>
            <a:off x="4544568" y="182880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RENDIMIENTO</a:t>
            </a:r>
          </a:p>
        </p:txBody>
      </p:sp>
      <p:sp>
        <p:nvSpPr>
          <p:cNvPr id="12" name="Forma 12"/>
          <p:cNvSpPr/>
          <p:nvPr/>
        </p:nvSpPr>
        <p:spPr>
          <a:xfrm>
            <a:off x="4544568" y="2194560"/>
            <a:ext cx="3108960" cy="12344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172554"/>
                </a:solidFill>
                <a:latin typeface="Segoe UI"/>
                <a:cs typeface="Segoe UI"/>
              </a:rPr>
              <a:t>Redis, con validación definitiva contra la base al reservar</a:t>
            </a:r>
          </a:p>
        </p:txBody>
      </p:sp>
      <p:sp>
        <p:nvSpPr>
          <p:cNvPr id="13" name="Forma 13"/>
          <p:cNvSpPr/>
          <p:nvPr/>
        </p:nvSpPr>
        <p:spPr>
          <a:xfrm>
            <a:off x="8083296" y="169164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4" name="Forma 14"/>
          <p:cNvSpPr/>
          <p:nvPr/>
        </p:nvSpPr>
        <p:spPr>
          <a:xfrm>
            <a:off x="8266176" y="182880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DISPONIBILIDAD</a:t>
            </a:r>
          </a:p>
        </p:txBody>
      </p:sp>
      <p:sp>
        <p:nvSpPr>
          <p:cNvPr id="15" name="Forma 15"/>
          <p:cNvSpPr/>
          <p:nvPr/>
        </p:nvSpPr>
        <p:spPr>
          <a:xfrm>
            <a:off x="8266176" y="2194560"/>
            <a:ext cx="3108960" cy="12344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172554"/>
                </a:solidFill>
                <a:latin typeface="Segoe UI"/>
                <a:cs typeface="Segoe UI"/>
              </a:rPr>
              <a:t>Reinicio automático, degradación controlada y avisos no bloqueantes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370332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7" name="Forma 17"/>
          <p:cNvSpPr/>
          <p:nvPr/>
        </p:nvSpPr>
        <p:spPr>
          <a:xfrm>
            <a:off x="822960" y="38404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SEGURIDAD</a:t>
            </a:r>
          </a:p>
        </p:txBody>
      </p:sp>
      <p:sp>
        <p:nvSpPr>
          <p:cNvPr id="18" name="Forma 18"/>
          <p:cNvSpPr/>
          <p:nvPr/>
        </p:nvSpPr>
        <p:spPr>
          <a:xfrm>
            <a:off x="822960" y="4206240"/>
            <a:ext cx="3108960" cy="12344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172554"/>
                </a:solidFill>
                <a:latin typeface="Segoe UI"/>
                <a:cs typeface="Segoe UI"/>
              </a:rPr>
              <a:t>Credencial de 15 min, segundo factor, alcance por sucursal y bases sin puertos publicados</a:t>
            </a:r>
          </a:p>
        </p:txBody>
      </p:sp>
      <p:sp>
        <p:nvSpPr>
          <p:cNvPr id="19" name="Forma 19"/>
          <p:cNvSpPr/>
          <p:nvPr/>
        </p:nvSpPr>
        <p:spPr>
          <a:xfrm>
            <a:off x="4361688" y="370332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20" name="Forma 20"/>
          <p:cNvSpPr/>
          <p:nvPr/>
        </p:nvSpPr>
        <p:spPr>
          <a:xfrm>
            <a:off x="4544568" y="38404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CONTENIDO DIGITAL</a:t>
            </a:r>
          </a:p>
        </p:txBody>
      </p:sp>
      <p:sp>
        <p:nvSpPr>
          <p:cNvPr id="21" name="Forma 21"/>
          <p:cNvSpPr/>
          <p:nvPr/>
        </p:nvSpPr>
        <p:spPr>
          <a:xfrm>
            <a:off x="4544568" y="4206240"/>
            <a:ext cx="3108960" cy="12344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172554"/>
                </a:solidFill>
                <a:latin typeface="Segoe UI"/>
                <a:cs typeface="Segoe UI"/>
              </a:rPr>
              <a:t>Almacén privado y URL firmada de 5 min, con 5 descargas</a:t>
            </a:r>
          </a:p>
        </p:txBody>
      </p:sp>
      <p:sp>
        <p:nvSpPr>
          <p:cNvPr id="22" name="Forma 22"/>
          <p:cNvSpPr/>
          <p:nvPr/>
        </p:nvSpPr>
        <p:spPr>
          <a:xfrm>
            <a:off x="8083296" y="370332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23" name="Forma 23"/>
          <p:cNvSpPr/>
          <p:nvPr/>
        </p:nvSpPr>
        <p:spPr>
          <a:xfrm>
            <a:off x="8266176" y="38404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MANTENIBILIDAD</a:t>
            </a:r>
          </a:p>
        </p:txBody>
      </p:sp>
      <p:sp>
        <p:nvSpPr>
          <p:cNvPr id="24" name="Forma 24"/>
          <p:cNvSpPr/>
          <p:nvPr/>
        </p:nvSpPr>
        <p:spPr>
          <a:xfrm>
            <a:off x="8266176" y="4206240"/>
            <a:ext cx="3108960" cy="12344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172554"/>
                </a:solidFill>
                <a:latin typeface="Segoe UI"/>
                <a:cs typeface="Segoe UI"/>
              </a:rPr>
              <a:t>Capas, puertos y pruebas de arquitectura</a:t>
            </a:r>
          </a:p>
        </p:txBody>
      </p:sp>
      <p:sp>
        <p:nvSpPr>
          <p:cNvPr id="25" name="Forma 25"/>
          <p:cNvSpPr/>
          <p:nvPr/>
        </p:nvSpPr>
        <p:spPr>
          <a:xfrm>
            <a:off x="640080" y="5806440"/>
            <a:ext cx="1088136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5B6490"/>
                </a:solidFill>
                <a:latin typeface="Segoe UI"/>
                <a:cs typeface="Segoe UI"/>
              </a:rPr>
              <a:t>27 amenazas modeladas · 38 controles ASVS · Ley N.° 29733 de datos personales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DOS TIPOS DE LIBRO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Impreso y digital: reglas diferentes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11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691640"/>
            <a:ext cx="5257800" cy="777240"/>
          </a:xfrm>
          <a:prstGeom prst="roundRect">
            <a:avLst>
              <a:gd name="adj" fmla="val 8000"/>
            </a:avLst>
          </a:prstGeom>
          <a:solidFill>
            <a:srgbClr val="5B3FC4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500" b="1" dirty="0">
                <a:solidFill>
                  <a:srgbClr val="FFFFFF"/>
                </a:solidFill>
                <a:latin typeface="Segoe UI"/>
                <a:cs typeface="Segoe UI"/>
              </a:rPr>
              <a:t>IMPRESO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500" b="1" dirty="0">
                <a:solidFill>
                  <a:srgbClr val="FFFFFF"/>
                </a:solidFill>
                <a:latin typeface="Segoe UI"/>
                <a:cs typeface="Segoe UI"/>
              </a:rPr>
              <a:t>Stock, fuentes y traslados</a:t>
            </a:r>
          </a:p>
        </p:txBody>
      </p:sp>
      <p:sp>
        <p:nvSpPr>
          <p:cNvPr id="8" name="Forma 8"/>
          <p:cNvSpPr/>
          <p:nvPr/>
        </p:nvSpPr>
        <p:spPr>
          <a:xfrm>
            <a:off x="914400" y="2697480"/>
            <a:ext cx="4709160" cy="603504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37160" tIns="137160" rIns="137160" bIns="13716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Reserva de stock</a:t>
            </a:r>
          </a:p>
        </p:txBody>
      </p:sp>
      <p:cxnSp>
        <p:nvCxnSpPr>
          <p:cNvPr id="9" name="Linea 9"/>
          <p:cNvCxnSpPr/>
          <p:nvPr/>
        </p:nvCxnSpPr>
        <p:spPr>
          <a:xfrm>
            <a:off x="3268980" y="3300984"/>
            <a:ext cx="0" cy="265176"/>
          </a:xfrm>
          <a:prstGeom prst="line">
            <a:avLst/>
          </a:prstGeom>
          <a:ln w="25400" cap="rnd">
            <a:solidFill>
              <a:srgbClr val="5B3FC4"/>
            </a:solidFill>
            <a:round/>
            <a:tailEnd type="triangle" w="med" len="med"/>
          </a:ln>
        </p:spPr>
      </p:cxnSp>
      <p:sp>
        <p:nvSpPr>
          <p:cNvPr id="10" name="Forma 10"/>
          <p:cNvSpPr/>
          <p:nvPr/>
        </p:nvSpPr>
        <p:spPr>
          <a:xfrm>
            <a:off x="914400" y="3584448"/>
            <a:ext cx="4709160" cy="603504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37160" tIns="137160" rIns="137160" bIns="13716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Selección de fuente</a:t>
            </a:r>
          </a:p>
        </p:txBody>
      </p:sp>
      <p:cxnSp>
        <p:nvCxnSpPr>
          <p:cNvPr id="11" name="Linea 11"/>
          <p:cNvCxnSpPr/>
          <p:nvPr/>
        </p:nvCxnSpPr>
        <p:spPr>
          <a:xfrm>
            <a:off x="3268980" y="4187952"/>
            <a:ext cx="0" cy="265176"/>
          </a:xfrm>
          <a:prstGeom prst="line">
            <a:avLst/>
          </a:prstGeom>
          <a:ln w="25400" cap="rnd">
            <a:solidFill>
              <a:srgbClr val="5B3FC4"/>
            </a:solidFill>
            <a:round/>
            <a:tailEnd type="triangle" w="med" len="med"/>
          </a:ln>
        </p:spPr>
      </p:cxnSp>
      <p:sp>
        <p:nvSpPr>
          <p:cNvPr id="12" name="Forma 12"/>
          <p:cNvSpPr/>
          <p:nvPr/>
        </p:nvSpPr>
        <p:spPr>
          <a:xfrm>
            <a:off x="914400" y="4471416"/>
            <a:ext cx="4709160" cy="603504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37160" tIns="137160" rIns="137160" bIns="13716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Traslado, si hace falta</a:t>
            </a:r>
          </a:p>
        </p:txBody>
      </p:sp>
      <p:cxnSp>
        <p:nvCxnSpPr>
          <p:cNvPr id="13" name="Linea 13"/>
          <p:cNvCxnSpPr/>
          <p:nvPr/>
        </p:nvCxnSpPr>
        <p:spPr>
          <a:xfrm>
            <a:off x="3268980" y="5074920"/>
            <a:ext cx="0" cy="265176"/>
          </a:xfrm>
          <a:prstGeom prst="line">
            <a:avLst/>
          </a:prstGeom>
          <a:ln w="25400" cap="rnd">
            <a:solidFill>
              <a:srgbClr val="5B3FC4"/>
            </a:solidFill>
            <a:round/>
            <a:tailEnd type="triangle" w="med" len="med"/>
          </a:ln>
        </p:spPr>
      </p:cxnSp>
      <p:sp>
        <p:nvSpPr>
          <p:cNvPr id="14" name="Forma 14"/>
          <p:cNvSpPr/>
          <p:nvPr/>
        </p:nvSpPr>
        <p:spPr>
          <a:xfrm>
            <a:off x="914400" y="5358384"/>
            <a:ext cx="4709160" cy="603504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37160" tIns="137160" rIns="137160" bIns="13716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Preparación y entrega</a:t>
            </a:r>
          </a:p>
        </p:txBody>
      </p:sp>
      <p:sp>
        <p:nvSpPr>
          <p:cNvPr id="15" name="Forma 15"/>
          <p:cNvSpPr/>
          <p:nvPr/>
        </p:nvSpPr>
        <p:spPr>
          <a:xfrm>
            <a:off x="6263640" y="1691640"/>
            <a:ext cx="5257800" cy="777240"/>
          </a:xfrm>
          <a:prstGeom prst="roundRect">
            <a:avLst>
              <a:gd name="adj" fmla="val 8000"/>
            </a:avLst>
          </a:prstGeom>
          <a:solidFill>
            <a:srgbClr val="1A6F80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500" b="1" dirty="0">
                <a:solidFill>
                  <a:srgbClr val="FFFFFF"/>
                </a:solidFill>
                <a:latin typeface="Segoe UI"/>
                <a:cs typeface="Segoe UI"/>
              </a:rPr>
              <a:t>DIGITAL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500" b="1" dirty="0">
                <a:solidFill>
                  <a:srgbClr val="FFFFFF"/>
                </a:solidFill>
                <a:latin typeface="Segoe UI"/>
                <a:cs typeface="Segoe UI"/>
              </a:rPr>
              <a:t>Sin stock, sin reserva, sin traslado</a:t>
            </a:r>
          </a:p>
        </p:txBody>
      </p:sp>
      <p:sp>
        <p:nvSpPr>
          <p:cNvPr id="16" name="Forma 16"/>
          <p:cNvSpPr/>
          <p:nvPr/>
        </p:nvSpPr>
        <p:spPr>
          <a:xfrm>
            <a:off x="6537960" y="2697480"/>
            <a:ext cx="4709160" cy="603504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37160" tIns="137160" rIns="137160" bIns="13716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Licencia y territorio vigentes</a:t>
            </a:r>
          </a:p>
        </p:txBody>
      </p:sp>
      <p:cxnSp>
        <p:nvCxnSpPr>
          <p:cNvPr id="17" name="Linea 17"/>
          <p:cNvCxnSpPr/>
          <p:nvPr/>
        </p:nvCxnSpPr>
        <p:spPr>
          <a:xfrm>
            <a:off x="8892540" y="3300984"/>
            <a:ext cx="0" cy="265176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18" name="Forma 18"/>
          <p:cNvSpPr/>
          <p:nvPr/>
        </p:nvSpPr>
        <p:spPr>
          <a:xfrm>
            <a:off x="6537960" y="3584448"/>
            <a:ext cx="4709160" cy="603504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37160" tIns="137160" rIns="137160" bIns="13716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Pago aprobado</a:t>
            </a:r>
          </a:p>
        </p:txBody>
      </p:sp>
      <p:cxnSp>
        <p:nvCxnSpPr>
          <p:cNvPr id="19" name="Linea 19"/>
          <p:cNvCxnSpPr/>
          <p:nvPr/>
        </p:nvCxnSpPr>
        <p:spPr>
          <a:xfrm>
            <a:off x="8892540" y="4187952"/>
            <a:ext cx="0" cy="265176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20" name="Forma 20"/>
          <p:cNvSpPr/>
          <p:nvPr/>
        </p:nvSpPr>
        <p:spPr>
          <a:xfrm>
            <a:off x="6537960" y="4471416"/>
            <a:ext cx="4709160" cy="603504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37160" tIns="137160" rIns="137160" bIns="13716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Acceso en la biblioteca</a:t>
            </a:r>
          </a:p>
        </p:txBody>
      </p:sp>
      <p:cxnSp>
        <p:nvCxnSpPr>
          <p:cNvPr id="21" name="Linea 21"/>
          <p:cNvCxnSpPr/>
          <p:nvPr/>
        </p:nvCxnSpPr>
        <p:spPr>
          <a:xfrm>
            <a:off x="8892540" y="5074920"/>
            <a:ext cx="0" cy="265176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22" name="Forma 22"/>
          <p:cNvSpPr/>
          <p:nvPr/>
        </p:nvSpPr>
        <p:spPr>
          <a:xfrm>
            <a:off x="6537960" y="5358384"/>
            <a:ext cx="4709160" cy="603504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37160" tIns="137160" rIns="137160" bIns="13716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Descarga con URL firmada de 5 min (máx. 5)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DESPLIEGUE Y VIABILIDAD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Dos máquinas gratuitas y un borde protegido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12</a:t>
            </a:r>
          </a:p>
        </p:txBody>
      </p:sp>
      <p:sp>
        <p:nvSpPr>
          <p:cNvPr id="7" name="Forma 7"/>
          <p:cNvSpPr/>
          <p:nvPr/>
        </p:nvSpPr>
        <p:spPr>
          <a:xfrm>
            <a:off x="3108960" y="1600200"/>
            <a:ext cx="5943600" cy="594360"/>
          </a:xfrm>
          <a:prstGeom prst="roundRect">
            <a:avLst>
              <a:gd name="adj" fmla="val 8000"/>
            </a:avLst>
          </a:prstGeom>
          <a:solidFill>
            <a:srgbClr val="172554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FBF5E8"/>
                </a:solidFill>
                <a:latin typeface="Segoe UI"/>
                <a:cs typeface="Segoe UI"/>
              </a:rPr>
              <a:t>Cloudflare gratuito · DNS, TLS, WAF y túnel</a:t>
            </a:r>
          </a:p>
        </p:txBody>
      </p:sp>
      <p:cxnSp>
        <p:nvCxnSpPr>
          <p:cNvPr id="8" name="Linea 8"/>
          <p:cNvCxnSpPr/>
          <p:nvPr/>
        </p:nvCxnSpPr>
        <p:spPr>
          <a:xfrm flipH="1">
            <a:off x="3200400" y="2194560"/>
            <a:ext cx="1097280" cy="548640"/>
          </a:xfrm>
          <a:prstGeom prst="line">
            <a:avLst/>
          </a:prstGeom>
          <a:ln w="28575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9" name="Forma 9"/>
          <p:cNvSpPr/>
          <p:nvPr/>
        </p:nvSpPr>
        <p:spPr>
          <a:xfrm>
            <a:off x="640080" y="164592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i="1" dirty="0">
                <a:solidFill>
                  <a:srgbClr val="1A6F80"/>
                </a:solidFill>
                <a:latin typeface="Segoe UI"/>
                <a:cs typeface="Segoe UI"/>
              </a:rPr>
              <a:t>túnel saliente: sin puertos de entrada abiertos</a:t>
            </a:r>
          </a:p>
        </p:txBody>
      </p:sp>
      <p:sp>
        <p:nvSpPr>
          <p:cNvPr id="10" name="Forma 10"/>
          <p:cNvSpPr/>
          <p:nvPr/>
        </p:nvSpPr>
        <p:spPr>
          <a:xfrm>
            <a:off x="640080" y="2743200"/>
            <a:ext cx="5852160" cy="269748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25400">
            <a:solidFill>
              <a:srgbClr val="172554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1" name="Forma 11"/>
          <p:cNvSpPr/>
          <p:nvPr/>
        </p:nvSpPr>
        <p:spPr>
          <a:xfrm>
            <a:off x="868680" y="2834640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172554"/>
                </a:solidFill>
                <a:latin typeface="Segoe UI"/>
                <a:cs typeface="Segoe UI"/>
              </a:rPr>
              <a:t>VM de aplicaciones · ARM, 1 OCPU y 6 GB</a:t>
            </a:r>
          </a:p>
        </p:txBody>
      </p:sp>
      <p:sp>
        <p:nvSpPr>
          <p:cNvPr id="12" name="Forma 12"/>
          <p:cNvSpPr/>
          <p:nvPr/>
        </p:nvSpPr>
        <p:spPr>
          <a:xfrm>
            <a:off x="868680" y="32918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Nginx · BabelHub.Web</a:t>
            </a:r>
          </a:p>
        </p:txBody>
      </p:sp>
      <p:sp>
        <p:nvSpPr>
          <p:cNvPr id="13" name="Forma 13"/>
          <p:cNvSpPr/>
          <p:nvPr/>
        </p:nvSpPr>
        <p:spPr>
          <a:xfrm>
            <a:off x="868680" y="4005072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E-commerce · Inventario · Identidad · Asistente</a:t>
            </a:r>
          </a:p>
        </p:txBody>
      </p:sp>
      <p:sp>
        <p:nvSpPr>
          <p:cNvPr id="14" name="Forma 14"/>
          <p:cNvSpPr/>
          <p:nvPr/>
        </p:nvSpPr>
        <p:spPr>
          <a:xfrm>
            <a:off x="868680" y="4718304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Redis · n8n + Evolution API (WhatsApp)</a:t>
            </a:r>
          </a:p>
        </p:txBody>
      </p:sp>
      <p:cxnSp>
        <p:nvCxnSpPr>
          <p:cNvPr id="15" name="Linea 15"/>
          <p:cNvCxnSpPr/>
          <p:nvPr/>
        </p:nvCxnSpPr>
        <p:spPr>
          <a:xfrm>
            <a:off x="6492240" y="4114800"/>
            <a:ext cx="548640" cy="0"/>
          </a:xfrm>
          <a:prstGeom prst="line">
            <a:avLst/>
          </a:prstGeom>
          <a:ln w="3175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16" name="Forma 16"/>
          <p:cNvSpPr/>
          <p:nvPr/>
        </p:nvSpPr>
        <p:spPr>
          <a:xfrm>
            <a:off x="6400800" y="365760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1A6F80"/>
                </a:solidFill>
                <a:latin typeface="Segoe UI"/>
                <a:cs typeface="Segoe UI"/>
              </a:rPr>
              <a:t>5432</a:t>
            </a:r>
          </a:p>
        </p:txBody>
      </p:sp>
      <p:sp>
        <p:nvSpPr>
          <p:cNvPr id="17" name="Forma 17"/>
          <p:cNvSpPr/>
          <p:nvPr/>
        </p:nvSpPr>
        <p:spPr>
          <a:xfrm>
            <a:off x="7040880" y="2743200"/>
            <a:ext cx="4480560" cy="269748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31750">
            <a:solidFill>
              <a:srgbClr val="FF665A"/>
            </a:solidFill>
            <a:prstDash val="dash"/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8" name="Forma 18"/>
          <p:cNvSpPr/>
          <p:nvPr/>
        </p:nvSpPr>
        <p:spPr>
          <a:xfrm>
            <a:off x="7269480" y="28346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172554"/>
                </a:solidFill>
                <a:latin typeface="Segoe UI"/>
                <a:cs typeface="Segoe UI"/>
              </a:rPr>
              <a:t>VM de datos · ARM, 1 OCPU y 6 GB</a:t>
            </a:r>
          </a:p>
        </p:txBody>
      </p:sp>
      <p:sp>
        <p:nvSpPr>
          <p:cNvPr id="19" name="Forma 19"/>
          <p:cNvSpPr/>
          <p:nvPr/>
        </p:nvSpPr>
        <p:spPr>
          <a:xfrm>
            <a:off x="7269480" y="3291840"/>
            <a:ext cx="4023360" cy="585216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PostgreSQL ventas e identidad</a:t>
            </a:r>
          </a:p>
        </p:txBody>
      </p:sp>
      <p:sp>
        <p:nvSpPr>
          <p:cNvPr id="20" name="Forma 20"/>
          <p:cNvSpPr/>
          <p:nvPr/>
        </p:nvSpPr>
        <p:spPr>
          <a:xfrm>
            <a:off x="7269480" y="4005072"/>
            <a:ext cx="4023360" cy="585216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PostgreSQL inventario</a:t>
            </a:r>
          </a:p>
        </p:txBody>
      </p:sp>
      <p:sp>
        <p:nvSpPr>
          <p:cNvPr id="21" name="Forma 21"/>
          <p:cNvSpPr/>
          <p:nvPr/>
        </p:nvSpPr>
        <p:spPr>
          <a:xfrm>
            <a:off x="7269480" y="4754880"/>
            <a:ext cx="40233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5352A"/>
                </a:solidFill>
                <a:latin typeface="Segoe UI"/>
                <a:cs typeface="Segoe UI"/>
              </a:rPr>
              <a:t>Sin acceso desde Internet: el puerto 5432 solo acepta la VM de aplicaciones</a:t>
            </a:r>
          </a:p>
        </p:txBody>
      </p:sp>
      <p:sp>
        <p:nvSpPr>
          <p:cNvPr id="22" name="Forma 22"/>
          <p:cNvSpPr/>
          <p:nvPr/>
        </p:nvSpPr>
        <p:spPr>
          <a:xfrm>
            <a:off x="640080" y="5577840"/>
            <a:ext cx="3474720" cy="6858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25400">
            <a:solidFill>
              <a:srgbClr val="357018"/>
            </a:solidFill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Respaldos cifrados diarios · RPO ≤ 24 h · RTO ≤ 4 h</a:t>
            </a:r>
          </a:p>
        </p:txBody>
      </p:sp>
      <p:sp>
        <p:nvSpPr>
          <p:cNvPr id="23" name="Forma 23"/>
          <p:cNvSpPr/>
          <p:nvPr/>
        </p:nvSpPr>
        <p:spPr>
          <a:xfrm>
            <a:off x="4361688" y="5577840"/>
            <a:ext cx="3474720" cy="6858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25400">
            <a:solidFill>
              <a:srgbClr val="5B3FC4"/>
            </a:solidFill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Cuello de botella previsto: la CPU, no la RAM</a:t>
            </a:r>
          </a:p>
        </p:txBody>
      </p:sp>
      <p:sp>
        <p:nvSpPr>
          <p:cNvPr id="24" name="Forma 24"/>
          <p:cNvSpPr/>
          <p:nvPr/>
        </p:nvSpPr>
        <p:spPr>
          <a:xfrm>
            <a:off x="8083296" y="5577840"/>
            <a:ext cx="3474720" cy="6858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25400">
            <a:solidFill>
              <a:srgbClr val="FF665A"/>
            </a:solidFill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Objetivo k6: p95 &lt; 500 ms con 50 usuarios. Aún no medido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DOCUMENTACIÓN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La documentación conecta requisitos y componentes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13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737360"/>
            <a:ext cx="1627632" cy="164592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172554"/>
                </a:solidFill>
                <a:latin typeface="Segoe UI"/>
                <a:cs typeface="Segoe UI"/>
              </a:rPr>
              <a:t>Análisis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172554"/>
                </a:solidFill>
                <a:latin typeface="Segoe UI"/>
                <a:cs typeface="Segoe UI"/>
              </a:rPr>
              <a:t>necesidades, requisitos y calidad</a:t>
            </a:r>
          </a:p>
        </p:txBody>
      </p:sp>
      <p:cxnSp>
        <p:nvCxnSpPr>
          <p:cNvPr id="8" name="Linea 8"/>
          <p:cNvCxnSpPr/>
          <p:nvPr/>
        </p:nvCxnSpPr>
        <p:spPr>
          <a:xfrm>
            <a:off x="2267712" y="2697480"/>
            <a:ext cx="219456" cy="0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9" name="Forma 9"/>
          <p:cNvSpPr/>
          <p:nvPr/>
        </p:nvSpPr>
        <p:spPr>
          <a:xfrm>
            <a:off x="2487168" y="1737360"/>
            <a:ext cx="1627632" cy="164592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172554"/>
                </a:solidFill>
                <a:latin typeface="Segoe UI"/>
                <a:cs typeface="Segoe UI"/>
              </a:rPr>
              <a:t>Arquitectura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172554"/>
                </a:solidFill>
                <a:latin typeface="Segoe UI"/>
                <a:cs typeface="Segoe UI"/>
              </a:rPr>
              <a:t>drivers, decisiones, estilo y despliegue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4114800" y="2697480"/>
            <a:ext cx="219456" cy="0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11" name="Forma 11"/>
          <p:cNvSpPr/>
          <p:nvPr/>
        </p:nvSpPr>
        <p:spPr>
          <a:xfrm>
            <a:off x="4334256" y="1737360"/>
            <a:ext cx="1627632" cy="164592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172554"/>
                </a:solidFill>
                <a:latin typeface="Segoe UI"/>
                <a:cs typeface="Segoe UI"/>
              </a:rPr>
              <a:t>Diseño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172554"/>
                </a:solidFill>
                <a:latin typeface="Segoe UI"/>
                <a:cs typeface="Segoe UI"/>
              </a:rPr>
              <a:t>capas, módulos, datos y concurrencia</a:t>
            </a:r>
          </a:p>
        </p:txBody>
      </p:sp>
      <p:cxnSp>
        <p:nvCxnSpPr>
          <p:cNvPr id="12" name="Linea 12"/>
          <p:cNvCxnSpPr/>
          <p:nvPr/>
        </p:nvCxnSpPr>
        <p:spPr>
          <a:xfrm>
            <a:off x="5961888" y="2697480"/>
            <a:ext cx="219456" cy="0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13" name="Forma 13"/>
          <p:cNvSpPr/>
          <p:nvPr/>
        </p:nvSpPr>
        <p:spPr>
          <a:xfrm>
            <a:off x="6181344" y="1737360"/>
            <a:ext cx="1627632" cy="164592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172554"/>
                </a:solidFill>
                <a:latin typeface="Segoe UI"/>
                <a:cs typeface="Segoe UI"/>
              </a:rPr>
              <a:t>Modelo C4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172554"/>
                </a:solidFill>
                <a:latin typeface="Segoe UI"/>
                <a:cs typeface="Segoe UI"/>
              </a:rPr>
              <a:t>contexto, contenedores y componentes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7808976" y="2697480"/>
            <a:ext cx="219456" cy="0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15" name="Forma 15"/>
          <p:cNvSpPr/>
          <p:nvPr/>
        </p:nvSpPr>
        <p:spPr>
          <a:xfrm>
            <a:off x="8028432" y="1737360"/>
            <a:ext cx="1627632" cy="164592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172554"/>
                </a:solidFill>
                <a:latin typeface="Segoe UI"/>
                <a:cs typeface="Segoe UI"/>
              </a:rPr>
              <a:t>Seguridad y UX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172554"/>
                </a:solidFill>
                <a:latin typeface="Segoe UI"/>
                <a:cs typeface="Segoe UI"/>
              </a:rPr>
              <a:t>amenazas, controles y accesibilidad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9656064" y="2697480"/>
            <a:ext cx="219456" cy="0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17" name="Forma 17"/>
          <p:cNvSpPr/>
          <p:nvPr/>
        </p:nvSpPr>
        <p:spPr>
          <a:xfrm>
            <a:off x="9875520" y="1737360"/>
            <a:ext cx="1627632" cy="164592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38100">
            <a:solidFill>
              <a:srgbClr val="FF665A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172554"/>
                </a:solidFill>
                <a:latin typeface="Segoe UI"/>
                <a:cs typeface="Segoe UI"/>
              </a:rPr>
              <a:t>Specs y pruebas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172554"/>
                </a:solidFill>
                <a:latin typeface="Segoe UI"/>
                <a:cs typeface="Segoe UI"/>
              </a:rPr>
              <a:t>criterios de aceptación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3931920"/>
            <a:ext cx="2926080" cy="1737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8000" dirty="0">
                <a:solidFill>
                  <a:srgbClr val="B5352A"/>
                </a:solidFill>
                <a:latin typeface="Georgia"/>
                <a:cs typeface="Georgia"/>
              </a:rPr>
              <a:t>19</a:t>
            </a:r>
          </a:p>
        </p:txBody>
      </p:sp>
      <p:sp>
        <p:nvSpPr>
          <p:cNvPr id="19" name="Forma 19"/>
          <p:cNvSpPr/>
          <p:nvPr/>
        </p:nvSpPr>
        <p:spPr>
          <a:xfrm>
            <a:off x="3108960" y="434340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200" dirty="0">
                <a:solidFill>
                  <a:srgbClr val="172554"/>
                </a:solidFill>
                <a:latin typeface="Georgia"/>
                <a:cs typeface="Georgia"/>
              </a:rPr>
              <a:t>specs aprobadas</a:t>
            </a:r>
          </a:p>
        </p:txBody>
      </p:sp>
      <p:sp>
        <p:nvSpPr>
          <p:cNvPr id="20" name="Forma 20"/>
          <p:cNvSpPr/>
          <p:nvPr/>
        </p:nvSpPr>
        <p:spPr>
          <a:xfrm>
            <a:off x="3108960" y="4846320"/>
            <a:ext cx="3291840" cy="9144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5B6490"/>
                </a:solidFill>
                <a:latin typeface="Segoe UI"/>
                <a:cs typeface="Segoe UI"/>
              </a:rPr>
              <a:t>Cada componente del nivel 3 tiene su spec, con requisitos y criterios verificables.</a:t>
            </a:r>
          </a:p>
        </p:txBody>
      </p:sp>
      <p:sp>
        <p:nvSpPr>
          <p:cNvPr id="21" name="Forma 21"/>
          <p:cNvSpPr/>
          <p:nvPr/>
        </p:nvSpPr>
        <p:spPr>
          <a:xfrm>
            <a:off x="6766560" y="4389120"/>
            <a:ext cx="1097280" cy="8229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45720" tIns="45720" rIns="45720" bIns="4572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172554"/>
                </a:solidFill>
                <a:latin typeface="Segoe UI"/>
                <a:cs typeface="Segoe UI"/>
              </a:rPr>
              <a:t>Componente</a:t>
            </a:r>
          </a:p>
        </p:txBody>
      </p:sp>
      <p:cxnSp>
        <p:nvCxnSpPr>
          <p:cNvPr id="22" name="Linea 22"/>
          <p:cNvCxnSpPr/>
          <p:nvPr/>
        </p:nvCxnSpPr>
        <p:spPr>
          <a:xfrm>
            <a:off x="7863840" y="4800600"/>
            <a:ext cx="118872" cy="0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23" name="Forma 23"/>
          <p:cNvSpPr/>
          <p:nvPr/>
        </p:nvSpPr>
        <p:spPr>
          <a:xfrm>
            <a:off x="7982712" y="4389120"/>
            <a:ext cx="1097280" cy="8229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45720" tIns="45720" rIns="45720" bIns="4572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172554"/>
                </a:solidFill>
                <a:latin typeface="Segoe UI"/>
                <a:cs typeface="Segoe UI"/>
              </a:rPr>
              <a:t>Spec</a:t>
            </a:r>
          </a:p>
        </p:txBody>
      </p:sp>
      <p:cxnSp>
        <p:nvCxnSpPr>
          <p:cNvPr id="24" name="Linea 24"/>
          <p:cNvCxnSpPr/>
          <p:nvPr/>
        </p:nvCxnSpPr>
        <p:spPr>
          <a:xfrm>
            <a:off x="9079992" y="4800600"/>
            <a:ext cx="118872" cy="0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25" name="Forma 25"/>
          <p:cNvSpPr/>
          <p:nvPr/>
        </p:nvSpPr>
        <p:spPr>
          <a:xfrm>
            <a:off x="9198864" y="4389120"/>
            <a:ext cx="1097280" cy="8229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45720" tIns="45720" rIns="45720" bIns="4572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172554"/>
                </a:solidFill>
                <a:latin typeface="Segoe UI"/>
                <a:cs typeface="Segoe UI"/>
              </a:rPr>
              <a:t>Criterio AC-XXX-NN</a:t>
            </a:r>
          </a:p>
        </p:txBody>
      </p:sp>
      <p:cxnSp>
        <p:nvCxnSpPr>
          <p:cNvPr id="26" name="Linea 26"/>
          <p:cNvCxnSpPr/>
          <p:nvPr/>
        </p:nvCxnSpPr>
        <p:spPr>
          <a:xfrm>
            <a:off x="10296144" y="4800600"/>
            <a:ext cx="118872" cy="0"/>
          </a:xfrm>
          <a:prstGeom prst="line">
            <a:avLst/>
          </a:prstGeom>
          <a:ln w="25400" cap="rnd">
            <a:solidFill>
              <a:srgbClr val="1A6F80"/>
            </a:solidFill>
            <a:round/>
            <a:tailEnd type="triangle" w="med" len="med"/>
          </a:ln>
        </p:spPr>
      </p:cxnSp>
      <p:sp>
        <p:nvSpPr>
          <p:cNvPr id="27" name="Forma 27"/>
          <p:cNvSpPr/>
          <p:nvPr/>
        </p:nvSpPr>
        <p:spPr>
          <a:xfrm>
            <a:off x="10415016" y="4389120"/>
            <a:ext cx="1097280" cy="82296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45720" tIns="45720" rIns="45720" bIns="4572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172554"/>
                </a:solidFill>
                <a:latin typeface="Segoe UI"/>
                <a:cs typeface="Segoe UI"/>
              </a:rPr>
              <a:t>Prueba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FF7A6E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F5EBD8"/>
                </a:solidFill>
                <a:latin typeface="Georgia"/>
                <a:cs typeface="Georgia"/>
              </a:rPr>
              <a:t>Volver al problema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3A4A7A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14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737360"/>
            <a:ext cx="1645920" cy="1325880"/>
          </a:xfrm>
          <a:prstGeom prst="roundRect">
            <a:avLst>
              <a:gd name="adj" fmla="val 8000"/>
            </a:avLst>
          </a:prstGeom>
          <a:solidFill>
            <a:srgbClr val="FF665A"/>
          </a:solidFill>
          <a:ln w="15875">
            <a:solidFill>
              <a:srgbClr val="36C8D4"/>
            </a:solidFill>
          </a:ln>
        </p:spPr>
        <p:txBody>
          <a:bodyPr wrap="square" lIns="128016" tIns="128016" rIns="128016" bIns="12801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172554"/>
                </a:solidFill>
                <a:latin typeface="Segoe UI"/>
                <a:cs typeface="Segoe UI"/>
              </a:rPr>
              <a:t>Sobreventa entre sucursales</a:t>
            </a:r>
          </a:p>
        </p:txBody>
      </p:sp>
      <p:cxnSp>
        <p:nvCxnSpPr>
          <p:cNvPr id="8" name="Linea 8"/>
          <p:cNvCxnSpPr/>
          <p:nvPr/>
        </p:nvCxnSpPr>
        <p:spPr>
          <a:xfrm>
            <a:off x="2286000" y="2395728"/>
            <a:ext cx="18288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9" name="Forma 9"/>
          <p:cNvSpPr/>
          <p:nvPr/>
        </p:nvSpPr>
        <p:spPr>
          <a:xfrm>
            <a:off x="2468880" y="1737360"/>
            <a:ext cx="1645920" cy="132588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15875">
            <a:solidFill>
              <a:srgbClr val="36C8D4"/>
            </a:solidFill>
          </a:ln>
        </p:spPr>
        <p:txBody>
          <a:bodyPr wrap="square" lIns="128016" tIns="128016" rIns="128016" bIns="12801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F5EBD8"/>
                </a:solidFill>
                <a:latin typeface="Segoe UI"/>
                <a:cs typeface="Segoe UI"/>
              </a:rPr>
              <a:t>Consistencia del inventario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4114800" y="2395728"/>
            <a:ext cx="18288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11" name="Forma 11"/>
          <p:cNvSpPr/>
          <p:nvPr/>
        </p:nvSpPr>
        <p:spPr>
          <a:xfrm>
            <a:off x="4297680" y="1737360"/>
            <a:ext cx="1645920" cy="132588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15875">
            <a:solidFill>
              <a:srgbClr val="36C8D4"/>
            </a:solidFill>
          </a:ln>
        </p:spPr>
        <p:txBody>
          <a:bodyPr wrap="square" lIns="128016" tIns="128016" rIns="128016" bIns="12801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F5EBD8"/>
                </a:solidFill>
                <a:latin typeface="Segoe UI"/>
                <a:cs typeface="Segoe UI"/>
              </a:rPr>
              <a:t>Servicio y base propios</a:t>
            </a:r>
          </a:p>
        </p:txBody>
      </p:sp>
      <p:cxnSp>
        <p:nvCxnSpPr>
          <p:cNvPr id="12" name="Linea 12"/>
          <p:cNvCxnSpPr/>
          <p:nvPr/>
        </p:nvCxnSpPr>
        <p:spPr>
          <a:xfrm>
            <a:off x="5943600" y="2395728"/>
            <a:ext cx="18288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13" name="Forma 13"/>
          <p:cNvSpPr/>
          <p:nvPr/>
        </p:nvSpPr>
        <p:spPr>
          <a:xfrm>
            <a:off x="6126480" y="1737360"/>
            <a:ext cx="1645920" cy="132588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15875">
            <a:solidFill>
              <a:srgbClr val="36C8D4"/>
            </a:solidFill>
          </a:ln>
        </p:spPr>
        <p:txBody>
          <a:bodyPr wrap="square" lIns="128016" tIns="128016" rIns="128016" bIns="12801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F5EBD8"/>
                </a:solidFill>
                <a:latin typeface="Segoe UI"/>
                <a:cs typeface="Segoe UI"/>
              </a:rPr>
              <a:t>Reservas transaccionales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7772400" y="2395728"/>
            <a:ext cx="18288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15" name="Forma 15"/>
          <p:cNvSpPr/>
          <p:nvPr/>
        </p:nvSpPr>
        <p:spPr>
          <a:xfrm>
            <a:off x="7955280" y="1737360"/>
            <a:ext cx="1645920" cy="132588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15875">
            <a:solidFill>
              <a:srgbClr val="36C8D4"/>
            </a:solidFill>
          </a:ln>
        </p:spPr>
        <p:txBody>
          <a:bodyPr wrap="square" lIns="128016" tIns="128016" rIns="128016" bIns="12801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F5EBD8"/>
                </a:solidFill>
                <a:latin typeface="Segoe UI"/>
                <a:cs typeface="Segoe UI"/>
              </a:rPr>
              <a:t>Servicios con Clean Architecture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9601200" y="2395728"/>
            <a:ext cx="18288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17" name="Forma 17"/>
          <p:cNvSpPr/>
          <p:nvPr/>
        </p:nvSpPr>
        <p:spPr>
          <a:xfrm>
            <a:off x="9784080" y="1737360"/>
            <a:ext cx="1645920" cy="132588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15875">
            <a:solidFill>
              <a:srgbClr val="36C8D4"/>
            </a:solidFill>
          </a:ln>
        </p:spPr>
        <p:txBody>
          <a:bodyPr wrap="square" lIns="128016" tIns="128016" rIns="128016" bIns="128016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F5EBD8"/>
                </a:solidFill>
                <a:latin typeface="Segoe UI"/>
                <a:cs typeface="Segoe UI"/>
              </a:rPr>
              <a:t>Componentes trazables a specs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3520440"/>
            <a:ext cx="3474720" cy="237744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15875">
            <a:solidFill>
              <a:srgbClr val="3A4A7A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9" name="Forma 19"/>
          <p:cNvSpPr/>
          <p:nvPr/>
        </p:nvSpPr>
        <p:spPr>
          <a:xfrm>
            <a:off x="868680" y="361188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4400" dirty="0">
                <a:solidFill>
                  <a:srgbClr val="FF665A"/>
                </a:solidFill>
                <a:latin typeface="Georgia"/>
                <a:cs typeface="Georgia"/>
              </a:rPr>
              <a:t>1</a:t>
            </a:r>
          </a:p>
        </p:txBody>
      </p:sp>
      <p:sp>
        <p:nvSpPr>
          <p:cNvPr id="20" name="Forma 20"/>
          <p:cNvSpPr/>
          <p:nvPr/>
        </p:nvSpPr>
        <p:spPr>
          <a:xfrm>
            <a:off x="868680" y="452628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dirty="0">
                <a:solidFill>
                  <a:srgbClr val="F5EBD8"/>
                </a:solidFill>
                <a:latin typeface="Segoe UI"/>
                <a:cs typeface="Segoe UI"/>
              </a:rPr>
              <a:t>Separar E-commerce e Inventario protege una regla crítica del negocio.</a:t>
            </a:r>
          </a:p>
        </p:txBody>
      </p:sp>
      <p:sp>
        <p:nvSpPr>
          <p:cNvPr id="21" name="Forma 21"/>
          <p:cNvSpPr/>
          <p:nvPr/>
        </p:nvSpPr>
        <p:spPr>
          <a:xfrm>
            <a:off x="4361688" y="3520440"/>
            <a:ext cx="3474720" cy="237744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15875">
            <a:solidFill>
              <a:srgbClr val="3A4A7A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22" name="Forma 22"/>
          <p:cNvSpPr/>
          <p:nvPr/>
        </p:nvSpPr>
        <p:spPr>
          <a:xfrm>
            <a:off x="4590288" y="361188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4400" dirty="0">
                <a:solidFill>
                  <a:srgbClr val="FF665A"/>
                </a:solidFill>
                <a:latin typeface="Georgia"/>
                <a:cs typeface="Georgia"/>
              </a:rPr>
              <a:t>2</a:t>
            </a:r>
          </a:p>
        </p:txBody>
      </p:sp>
      <p:sp>
        <p:nvSpPr>
          <p:cNvPr id="23" name="Forma 23"/>
          <p:cNvSpPr/>
          <p:nvPr/>
        </p:nvSpPr>
        <p:spPr>
          <a:xfrm>
            <a:off x="4590288" y="452628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dirty="0">
                <a:solidFill>
                  <a:srgbClr val="F5EBD8"/>
                </a:solidFill>
                <a:latin typeface="Segoe UI"/>
                <a:cs typeface="Segoe UI"/>
              </a:rPr>
              <a:t>Las decisiones responden a atributos de calidad, escala y recursos limitados.</a:t>
            </a:r>
          </a:p>
        </p:txBody>
      </p:sp>
      <p:sp>
        <p:nvSpPr>
          <p:cNvPr id="24" name="Forma 24"/>
          <p:cNvSpPr/>
          <p:nvPr/>
        </p:nvSpPr>
        <p:spPr>
          <a:xfrm>
            <a:off x="8083296" y="3520440"/>
            <a:ext cx="3474720" cy="2377440"/>
          </a:xfrm>
          <a:prstGeom prst="roundRect">
            <a:avLst>
              <a:gd name="adj" fmla="val 8000"/>
            </a:avLst>
          </a:prstGeom>
          <a:solidFill>
            <a:srgbClr val="14214A"/>
          </a:solidFill>
          <a:ln w="15875">
            <a:solidFill>
              <a:srgbClr val="3A4A7A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25" name="Forma 25"/>
          <p:cNvSpPr/>
          <p:nvPr/>
        </p:nvSpPr>
        <p:spPr>
          <a:xfrm>
            <a:off x="8311896" y="361188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4400" dirty="0">
                <a:solidFill>
                  <a:srgbClr val="FF665A"/>
                </a:solidFill>
                <a:latin typeface="Georgia"/>
                <a:cs typeface="Georgia"/>
              </a:rPr>
              <a:t>3</a:t>
            </a:r>
          </a:p>
        </p:txBody>
      </p:sp>
      <p:sp>
        <p:nvSpPr>
          <p:cNvPr id="26" name="Forma 26"/>
          <p:cNvSpPr/>
          <p:nvPr/>
        </p:nvSpPr>
        <p:spPr>
          <a:xfrm>
            <a:off x="8311896" y="452628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dirty="0">
                <a:solidFill>
                  <a:srgbClr val="F5EBD8"/>
                </a:solidFill>
                <a:latin typeface="Segoe UI"/>
                <a:cs typeface="Segoe UI"/>
              </a:rPr>
              <a:t>La trazabilidad conecta el problema con componentes y criterios verificables.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28016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F665A"/>
                </a:solidFill>
                <a:latin typeface="Segoe UI"/>
                <a:cs typeface="Segoe UI"/>
              </a:rPr>
              <a:t>DIAPOSITIVAS DE RESPALDO</a:t>
            </a:r>
          </a:p>
        </p:txBody>
      </p:sp>
      <p:cxnSp>
        <p:nvCxnSpPr>
          <p:cNvPr id="3" name="Linea 3"/>
          <p:cNvCxnSpPr/>
          <p:nvPr/>
        </p:nvCxnSpPr>
        <p:spPr>
          <a:xfrm>
            <a:off x="640080" y="1737360"/>
            <a:ext cx="1097280" cy="0"/>
          </a:xfrm>
          <a:prstGeom prst="line">
            <a:avLst/>
          </a:prstGeom>
          <a:ln w="50800" cap="rnd">
            <a:solidFill>
              <a:srgbClr val="FF665A"/>
            </a:solidFill>
            <a:round/>
          </a:ln>
        </p:spPr>
      </p:cxnSp>
      <p:sp>
        <p:nvSpPr>
          <p:cNvPr id="4" name="Forma 4"/>
          <p:cNvSpPr/>
          <p:nvPr/>
        </p:nvSpPr>
        <p:spPr>
          <a:xfrm>
            <a:off x="640080" y="2011680"/>
            <a:ext cx="7315200" cy="10972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4400" dirty="0">
                <a:solidFill>
                  <a:srgbClr val="F5EBD8"/>
                </a:solidFill>
                <a:latin typeface="Georgia"/>
                <a:cs typeface="Georgia"/>
              </a:rPr>
              <a:t>Para preguntas</a:t>
            </a:r>
          </a:p>
        </p:txBody>
      </p:sp>
      <p:sp>
        <p:nvSpPr>
          <p:cNvPr id="5" name="Forma 5"/>
          <p:cNvSpPr/>
          <p:nvPr/>
        </p:nvSpPr>
        <p:spPr>
          <a:xfrm>
            <a:off x="640080" y="3383280"/>
            <a:ext cx="7315200" cy="2743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800" dirty="0">
                <a:solidFill>
                  <a:srgbClr val="B7B3A8"/>
                </a:solidFill>
                <a:latin typeface="Segoe UI"/>
                <a:cs typeface="Segoe UI"/>
              </a:rPr>
              <a:t>Evolución de la propuesta inicial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800" dirty="0">
                <a:solidFill>
                  <a:srgbClr val="B7B3A8"/>
                </a:solidFill>
                <a:latin typeface="Segoe UI"/>
                <a:cs typeface="Segoe UI"/>
              </a:rPr>
              <a:t>Drivers y decisiones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800" dirty="0">
                <a:solidFill>
                  <a:srgbClr val="B7B3A8"/>
                </a:solidFill>
                <a:latin typeface="Segoe UI"/>
                <a:cs typeface="Segoe UI"/>
              </a:rPr>
              <a:t>C4: contexto, contenedores y componentes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800" dirty="0">
                <a:solidFill>
                  <a:srgbClr val="B7B3A8"/>
                </a:solidFill>
                <a:latin typeface="Segoe UI"/>
                <a:cs typeface="Segoe UI"/>
              </a:rPr>
              <a:t>Matriz requisito–componente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800" dirty="0">
                <a:solidFill>
                  <a:srgbClr val="B7B3A8"/>
                </a:solidFill>
                <a:latin typeface="Segoe UI"/>
                <a:cs typeface="Segoe UI"/>
              </a:rPr>
              <a:t>Seguridad, despliegue y glosario</a:t>
            </a:r>
          </a:p>
        </p:txBody>
      </p:sp>
      <p:cxnSp>
        <p:nvCxnSpPr>
          <p:cNvPr id="6" name="Linea 6"/>
          <p:cNvCxnSpPr/>
          <p:nvPr/>
        </p:nvCxnSpPr>
        <p:spPr>
          <a:xfrm flipH="1">
            <a:off x="10515600" y="1371600"/>
            <a:ext cx="1673352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10515600" y="1371600"/>
            <a:ext cx="0" cy="155448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8" name="Linea 8"/>
          <p:cNvCxnSpPr/>
          <p:nvPr/>
        </p:nvCxnSpPr>
        <p:spPr>
          <a:xfrm flipH="1">
            <a:off x="9144000" y="2926080"/>
            <a:ext cx="1371600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sp>
        <p:nvSpPr>
          <p:cNvPr id="9" name="Forma 9"/>
          <p:cNvSpPr/>
          <p:nvPr/>
        </p:nvSpPr>
        <p:spPr>
          <a:xfrm>
            <a:off x="12115800" y="12984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10" name="Forma 10"/>
          <p:cNvSpPr/>
          <p:nvPr/>
        </p:nvSpPr>
        <p:spPr>
          <a:xfrm>
            <a:off x="10442448" y="12984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11" name="Forma 11"/>
          <p:cNvSpPr/>
          <p:nvPr/>
        </p:nvSpPr>
        <p:spPr>
          <a:xfrm>
            <a:off x="10442448" y="285292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12" name="Forma 12"/>
          <p:cNvSpPr/>
          <p:nvPr/>
        </p:nvSpPr>
        <p:spPr>
          <a:xfrm>
            <a:off x="9070848" y="285292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cxnSp>
        <p:nvCxnSpPr>
          <p:cNvPr id="13" name="Linea 13"/>
          <p:cNvCxnSpPr/>
          <p:nvPr/>
        </p:nvCxnSpPr>
        <p:spPr>
          <a:xfrm flipH="1">
            <a:off x="10058400" y="5486400"/>
            <a:ext cx="2130552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14" name="Linea 14"/>
          <p:cNvCxnSpPr/>
          <p:nvPr/>
        </p:nvCxnSpPr>
        <p:spPr>
          <a:xfrm flipV="1">
            <a:off x="10058400" y="4114800"/>
            <a:ext cx="0" cy="137160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15" name="Linea 15"/>
          <p:cNvCxnSpPr/>
          <p:nvPr/>
        </p:nvCxnSpPr>
        <p:spPr>
          <a:xfrm flipH="1">
            <a:off x="9144000" y="4114800"/>
            <a:ext cx="914400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sp>
        <p:nvSpPr>
          <p:cNvPr id="16" name="Forma 16"/>
          <p:cNvSpPr/>
          <p:nvPr/>
        </p:nvSpPr>
        <p:spPr>
          <a:xfrm>
            <a:off x="12115800" y="54132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17" name="Forma 17"/>
          <p:cNvSpPr/>
          <p:nvPr/>
        </p:nvSpPr>
        <p:spPr>
          <a:xfrm>
            <a:off x="9985248" y="54132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18" name="Forma 18"/>
          <p:cNvSpPr/>
          <p:nvPr/>
        </p:nvSpPr>
        <p:spPr>
          <a:xfrm>
            <a:off x="9985248" y="40416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19" name="Forma 19"/>
          <p:cNvSpPr/>
          <p:nvPr/>
        </p:nvSpPr>
        <p:spPr>
          <a:xfrm>
            <a:off x="9070848" y="40416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sp>
        <p:nvSpPr>
          <p:cNvPr id="20" name="Forma 20"/>
          <p:cNvSpPr/>
          <p:nvPr/>
        </p:nvSpPr>
        <p:spPr>
          <a:xfrm>
            <a:off x="7955280" y="2743200"/>
            <a:ext cx="1371600" cy="1554480"/>
          </a:xfrm>
          <a:prstGeom prst="ellipse">
            <a:avLst/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b="1" dirty="0">
                <a:solidFill>
                  <a:srgbClr val="172554"/>
                </a:solidFill>
                <a:latin typeface="Georgia"/>
                <a:cs typeface="Georgia"/>
              </a:rPr>
              <a:t>Respaldo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RESPALDO 1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Evolución de la propuesta inicial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16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645920"/>
            <a:ext cx="1828800" cy="548640"/>
          </a:xfrm>
          <a:prstGeom prst="rect">
            <a:avLst/>
          </a:prstGeom>
          <a:solidFill>
            <a:srgbClr val="172554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FBF5E8"/>
                </a:solidFill>
                <a:latin typeface="Segoe UI"/>
                <a:cs typeface="Segoe UI"/>
              </a:rPr>
              <a:t>Aspecto</a:t>
            </a:r>
          </a:p>
        </p:txBody>
      </p:sp>
      <p:sp>
        <p:nvSpPr>
          <p:cNvPr id="8" name="Forma 8"/>
          <p:cNvSpPr/>
          <p:nvPr/>
        </p:nvSpPr>
        <p:spPr>
          <a:xfrm>
            <a:off x="2468880" y="1645920"/>
            <a:ext cx="3840480" cy="548640"/>
          </a:xfrm>
          <a:prstGeom prst="rect">
            <a:avLst/>
          </a:prstGeom>
          <a:solidFill>
            <a:srgbClr val="172554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FBF5E8"/>
                </a:solidFill>
                <a:latin typeface="Segoe UI"/>
                <a:cs typeface="Segoe UI"/>
              </a:rPr>
              <a:t>Propuesta inicial</a:t>
            </a:r>
          </a:p>
        </p:txBody>
      </p:sp>
      <p:sp>
        <p:nvSpPr>
          <p:cNvPr id="9" name="Forma 9"/>
          <p:cNvSpPr/>
          <p:nvPr/>
        </p:nvSpPr>
        <p:spPr>
          <a:xfrm>
            <a:off x="6309360" y="1645920"/>
            <a:ext cx="5212080" cy="548640"/>
          </a:xfrm>
          <a:prstGeom prst="rect">
            <a:avLst/>
          </a:prstGeom>
          <a:solidFill>
            <a:srgbClr val="172554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FBF5E8"/>
                </a:solidFill>
                <a:latin typeface="Segoe UI"/>
                <a:cs typeface="Segoe UI"/>
              </a:rPr>
              <a:t>Estado actual</a:t>
            </a:r>
          </a:p>
        </p:txBody>
      </p:sp>
      <p:sp>
        <p:nvSpPr>
          <p:cNvPr id="10" name="Forma 10"/>
          <p:cNvSpPr/>
          <p:nvPr/>
        </p:nvSpPr>
        <p:spPr>
          <a:xfrm>
            <a:off x="640080" y="2194560"/>
            <a:ext cx="1828800" cy="548640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Servicios</a:t>
            </a:r>
          </a:p>
        </p:txBody>
      </p:sp>
      <p:sp>
        <p:nvSpPr>
          <p:cNvPr id="11" name="Forma 11"/>
          <p:cNvSpPr/>
          <p:nvPr/>
        </p:nvSpPr>
        <p:spPr>
          <a:xfrm>
            <a:off x="2468880" y="2194560"/>
            <a:ext cx="3840480" cy="548640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Ventas, Inventario y Analítica</a:t>
            </a:r>
          </a:p>
        </p:txBody>
      </p:sp>
      <p:sp>
        <p:nvSpPr>
          <p:cNvPr id="12" name="Forma 12"/>
          <p:cNvSpPr/>
          <p:nvPr/>
        </p:nvSpPr>
        <p:spPr>
          <a:xfrm>
            <a:off x="6309360" y="2194560"/>
            <a:ext cx="5212080" cy="548640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E-commerce, Inventario, Identidad y Asistente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2743200"/>
            <a:ext cx="1828800" cy="548640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Interfaz</a:t>
            </a:r>
          </a:p>
        </p:txBody>
      </p:sp>
      <p:sp>
        <p:nvSpPr>
          <p:cNvPr id="14" name="Forma 14"/>
          <p:cNvSpPr/>
          <p:nvPr/>
        </p:nvSpPr>
        <p:spPr>
          <a:xfrm>
            <a:off x="2468880" y="2743200"/>
            <a:ext cx="3840480" cy="548640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Sitio, panel y app móvil</a:t>
            </a:r>
          </a:p>
        </p:txBody>
      </p:sp>
      <p:sp>
        <p:nvSpPr>
          <p:cNvPr id="15" name="Forma 15"/>
          <p:cNvSpPr/>
          <p:nvPr/>
        </p:nvSpPr>
        <p:spPr>
          <a:xfrm>
            <a:off x="6309360" y="2743200"/>
            <a:ext cx="5212080" cy="548640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Una web con tres áreas; la app móvil, después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3291840"/>
            <a:ext cx="1828800" cy="548640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Entrada</a:t>
            </a:r>
          </a:p>
        </p:txBody>
      </p:sp>
      <p:sp>
        <p:nvSpPr>
          <p:cNvPr id="17" name="Forma 17"/>
          <p:cNvSpPr/>
          <p:nvPr/>
        </p:nvSpPr>
        <p:spPr>
          <a:xfrm>
            <a:off x="2468880" y="3291840"/>
            <a:ext cx="3840480" cy="548640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API Gateway</a:t>
            </a:r>
          </a:p>
        </p:txBody>
      </p:sp>
      <p:sp>
        <p:nvSpPr>
          <p:cNvPr id="18" name="Forma 18"/>
          <p:cNvSpPr/>
          <p:nvPr/>
        </p:nvSpPr>
        <p:spPr>
          <a:xfrm>
            <a:off x="6309360" y="3291840"/>
            <a:ext cx="5212080" cy="548640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Cloudflare (DNS, TLS, WAF, túnel) y Nginx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3840480"/>
            <a:ext cx="1828800" cy="548640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Productos</a:t>
            </a:r>
          </a:p>
        </p:txBody>
      </p:sp>
      <p:sp>
        <p:nvSpPr>
          <p:cNvPr id="20" name="Forma 20"/>
          <p:cNvSpPr/>
          <p:nvPr/>
        </p:nvSpPr>
        <p:spPr>
          <a:xfrm>
            <a:off x="2468880" y="3840480"/>
            <a:ext cx="3840480" cy="548640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Solo libros impresos</a:t>
            </a:r>
          </a:p>
        </p:txBody>
      </p:sp>
      <p:sp>
        <p:nvSpPr>
          <p:cNvPr id="21" name="Forma 21"/>
          <p:cNvSpPr/>
          <p:nvPr/>
        </p:nvSpPr>
        <p:spPr>
          <a:xfrm>
            <a:off x="6309360" y="3840480"/>
            <a:ext cx="5212080" cy="548640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Impresos y digitales, con licencias</a:t>
            </a:r>
          </a:p>
        </p:txBody>
      </p:sp>
      <p:sp>
        <p:nvSpPr>
          <p:cNvPr id="22" name="Forma 22"/>
          <p:cNvSpPr/>
          <p:nvPr/>
        </p:nvSpPr>
        <p:spPr>
          <a:xfrm>
            <a:off x="640080" y="4389120"/>
            <a:ext cx="1828800" cy="548640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Seguridad</a:t>
            </a:r>
          </a:p>
        </p:txBody>
      </p:sp>
      <p:sp>
        <p:nvSpPr>
          <p:cNvPr id="23" name="Forma 23"/>
          <p:cNvSpPr/>
          <p:nvPr/>
        </p:nvSpPr>
        <p:spPr>
          <a:xfrm>
            <a:off x="2468880" y="4389120"/>
            <a:ext cx="3840480" cy="548640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Token con sucursal, TLS, OWASP</a:t>
            </a:r>
          </a:p>
        </p:txBody>
      </p:sp>
      <p:sp>
        <p:nvSpPr>
          <p:cNvPr id="24" name="Forma 24"/>
          <p:cNvSpPr/>
          <p:nvPr/>
        </p:nvSpPr>
        <p:spPr>
          <a:xfrm>
            <a:off x="6309360" y="4389120"/>
            <a:ext cx="5212080" cy="548640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Amenazas, controles ASVS y segundo factor</a:t>
            </a:r>
          </a:p>
        </p:txBody>
      </p:sp>
      <p:sp>
        <p:nvSpPr>
          <p:cNvPr id="25" name="Forma 25"/>
          <p:cNvSpPr/>
          <p:nvPr/>
        </p:nvSpPr>
        <p:spPr>
          <a:xfrm>
            <a:off x="640080" y="4937760"/>
            <a:ext cx="1828800" cy="548640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26" name="Forma 26"/>
          <p:cNvSpPr/>
          <p:nvPr/>
        </p:nvSpPr>
        <p:spPr>
          <a:xfrm>
            <a:off x="2468880" y="4937760"/>
            <a:ext cx="3840480" cy="548640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Múltiples zonas en la nube</a:t>
            </a:r>
          </a:p>
        </p:txBody>
      </p:sp>
      <p:sp>
        <p:nvSpPr>
          <p:cNvPr id="27" name="Forma 27"/>
          <p:cNvSpPr/>
          <p:nvPr/>
        </p:nvSpPr>
        <p:spPr>
          <a:xfrm>
            <a:off x="6309360" y="4937760"/>
            <a:ext cx="5212080" cy="548640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Dos VMs ARM gratuitas y base separada</a:t>
            </a:r>
          </a:p>
        </p:txBody>
      </p:sp>
      <p:sp>
        <p:nvSpPr>
          <p:cNvPr id="28" name="Forma 28"/>
          <p:cNvSpPr/>
          <p:nvPr/>
        </p:nvSpPr>
        <p:spPr>
          <a:xfrm>
            <a:off x="640080" y="5486400"/>
            <a:ext cx="1828800" cy="548640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Método</a:t>
            </a:r>
          </a:p>
        </p:txBody>
      </p:sp>
      <p:sp>
        <p:nvSpPr>
          <p:cNvPr id="29" name="Forma 29"/>
          <p:cNvSpPr/>
          <p:nvPr/>
        </p:nvSpPr>
        <p:spPr>
          <a:xfrm>
            <a:off x="2468880" y="5486400"/>
            <a:ext cx="3840480" cy="548640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Documento de propuesta</a:t>
            </a:r>
          </a:p>
        </p:txBody>
      </p:sp>
      <p:sp>
        <p:nvSpPr>
          <p:cNvPr id="30" name="Forma 30"/>
          <p:cNvSpPr/>
          <p:nvPr/>
        </p:nvSpPr>
        <p:spPr>
          <a:xfrm>
            <a:off x="6309360" y="5486400"/>
            <a:ext cx="5212080" cy="548640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Spec-Driven Development, 19 specs</a:t>
            </a:r>
          </a:p>
        </p:txBody>
      </p:sp>
      <p:sp>
        <p:nvSpPr>
          <p:cNvPr id="31" name="Forma 31"/>
          <p:cNvSpPr/>
          <p:nvPr/>
        </p:nvSpPr>
        <p:spPr>
          <a:xfrm>
            <a:off x="640080" y="6035040"/>
            <a:ext cx="1828800" cy="548640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Sistema operativo</a:t>
            </a:r>
          </a:p>
        </p:txBody>
      </p:sp>
      <p:sp>
        <p:nvSpPr>
          <p:cNvPr id="32" name="Forma 32"/>
          <p:cNvSpPr/>
          <p:nvPr/>
        </p:nvSpPr>
        <p:spPr>
          <a:xfrm>
            <a:off x="2468880" y="6035040"/>
            <a:ext cx="3840480" cy="548640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Debian estable</a:t>
            </a:r>
          </a:p>
        </p:txBody>
      </p:sp>
      <p:sp>
        <p:nvSpPr>
          <p:cNvPr id="33" name="Forma 33"/>
          <p:cNvSpPr/>
          <p:nvPr/>
        </p:nvSpPr>
        <p:spPr>
          <a:xfrm>
            <a:off x="6309360" y="6035040"/>
            <a:ext cx="5212080" cy="548640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Ubuntu Server LTS mínimo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RESPALDO 2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Drivers y decisiones relacionadas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17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645920"/>
            <a:ext cx="4846320" cy="475488"/>
          </a:xfrm>
          <a:prstGeom prst="rect">
            <a:avLst/>
          </a:prstGeom>
          <a:solidFill>
            <a:srgbClr val="172554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BF5E8"/>
                </a:solidFill>
                <a:latin typeface="Segoe UI"/>
                <a:cs typeface="Segoe UI"/>
              </a:rPr>
              <a:t>Driver</a:t>
            </a:r>
          </a:p>
        </p:txBody>
      </p:sp>
      <p:sp>
        <p:nvSpPr>
          <p:cNvPr id="8" name="Forma 8"/>
          <p:cNvSpPr/>
          <p:nvPr/>
        </p:nvSpPr>
        <p:spPr>
          <a:xfrm>
            <a:off x="5486400" y="1645920"/>
            <a:ext cx="3840480" cy="475488"/>
          </a:xfrm>
          <a:prstGeom prst="rect">
            <a:avLst/>
          </a:prstGeom>
          <a:solidFill>
            <a:srgbClr val="172554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BF5E8"/>
                </a:solidFill>
                <a:latin typeface="Segoe UI"/>
                <a:cs typeface="Segoe UI"/>
              </a:rPr>
              <a:t>Qué exige</a:t>
            </a:r>
          </a:p>
        </p:txBody>
      </p:sp>
      <p:sp>
        <p:nvSpPr>
          <p:cNvPr id="9" name="Forma 9"/>
          <p:cNvSpPr/>
          <p:nvPr/>
        </p:nvSpPr>
        <p:spPr>
          <a:xfrm>
            <a:off x="9326880" y="1645920"/>
            <a:ext cx="2194560" cy="475488"/>
          </a:xfrm>
          <a:prstGeom prst="rect">
            <a:avLst/>
          </a:prstGeom>
          <a:solidFill>
            <a:srgbClr val="172554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BF5E8"/>
                </a:solidFill>
                <a:latin typeface="Segoe UI"/>
                <a:cs typeface="Segoe UI"/>
              </a:rPr>
              <a:t>Decisiones</a:t>
            </a:r>
          </a:p>
        </p:txBody>
      </p:sp>
      <p:sp>
        <p:nvSpPr>
          <p:cNvPr id="10" name="Forma 10"/>
          <p:cNvSpPr/>
          <p:nvPr/>
        </p:nvSpPr>
        <p:spPr>
          <a:xfrm>
            <a:off x="640080" y="2121408"/>
            <a:ext cx="484632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DA01 Evitar la sobreventa</a:t>
            </a:r>
          </a:p>
        </p:txBody>
      </p:sp>
      <p:sp>
        <p:nvSpPr>
          <p:cNvPr id="11" name="Forma 11"/>
          <p:cNvSpPr/>
          <p:nvPr/>
        </p:nvSpPr>
        <p:spPr>
          <a:xfrm>
            <a:off x="5486400" y="2121408"/>
            <a:ext cx="384048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Servicio y base propios, reservas</a:t>
            </a:r>
          </a:p>
        </p:txBody>
      </p:sp>
      <p:sp>
        <p:nvSpPr>
          <p:cNvPr id="12" name="Forma 12"/>
          <p:cNvSpPr/>
          <p:nvPr/>
        </p:nvSpPr>
        <p:spPr>
          <a:xfrm>
            <a:off x="9326880" y="2121408"/>
            <a:ext cx="219456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AD01, 03, 08, 23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2596896"/>
            <a:ext cx="4846320" cy="475488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DA02 Rendimiento en picos</a:t>
            </a:r>
          </a:p>
        </p:txBody>
      </p:sp>
      <p:sp>
        <p:nvSpPr>
          <p:cNvPr id="14" name="Forma 14"/>
          <p:cNvSpPr/>
          <p:nvPr/>
        </p:nvSpPr>
        <p:spPr>
          <a:xfrm>
            <a:off x="5486400" y="2596896"/>
            <a:ext cx="3840480" cy="475488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Caché de disponibilidad</a:t>
            </a:r>
          </a:p>
        </p:txBody>
      </p:sp>
      <p:sp>
        <p:nvSpPr>
          <p:cNvPr id="15" name="Forma 15"/>
          <p:cNvSpPr/>
          <p:nvPr/>
        </p:nvSpPr>
        <p:spPr>
          <a:xfrm>
            <a:off x="9326880" y="2596896"/>
            <a:ext cx="2194560" cy="475488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AD06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3072384"/>
            <a:ext cx="484632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DA03 Operar sin SLA</a:t>
            </a:r>
          </a:p>
        </p:txBody>
      </p:sp>
      <p:sp>
        <p:nvSpPr>
          <p:cNvPr id="17" name="Forma 17"/>
          <p:cNvSpPr/>
          <p:nvPr/>
        </p:nvSpPr>
        <p:spPr>
          <a:xfrm>
            <a:off x="5486400" y="3072384"/>
            <a:ext cx="384048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Reinicio y degradación controlada</a:t>
            </a:r>
          </a:p>
        </p:txBody>
      </p:sp>
      <p:sp>
        <p:nvSpPr>
          <p:cNvPr id="18" name="Forma 18"/>
          <p:cNvSpPr/>
          <p:nvPr/>
        </p:nvSpPr>
        <p:spPr>
          <a:xfrm>
            <a:off x="9326880" y="3072384"/>
            <a:ext cx="219456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AD10, 25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3547872"/>
            <a:ext cx="4846320" cy="475488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DA04 Sumar sucursales</a:t>
            </a:r>
          </a:p>
        </p:txBody>
      </p:sp>
      <p:sp>
        <p:nvSpPr>
          <p:cNvPr id="20" name="Forma 20"/>
          <p:cNvSpPr/>
          <p:nvPr/>
        </p:nvSpPr>
        <p:spPr>
          <a:xfrm>
            <a:off x="5486400" y="3547872"/>
            <a:ext cx="3840480" cy="475488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Sucursal como dato</a:t>
            </a:r>
          </a:p>
        </p:txBody>
      </p:sp>
      <p:sp>
        <p:nvSpPr>
          <p:cNvPr id="21" name="Forma 21"/>
          <p:cNvSpPr/>
          <p:nvPr/>
        </p:nvSpPr>
        <p:spPr>
          <a:xfrm>
            <a:off x="9326880" y="3547872"/>
            <a:ext cx="2194560" cy="475488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AD01, 03</a:t>
            </a:r>
          </a:p>
        </p:txBody>
      </p:sp>
      <p:sp>
        <p:nvSpPr>
          <p:cNvPr id="22" name="Forma 22"/>
          <p:cNvSpPr/>
          <p:nvPr/>
        </p:nvSpPr>
        <p:spPr>
          <a:xfrm>
            <a:off x="640080" y="4023360"/>
            <a:ext cx="484632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DA05 Acceso por sucursal</a:t>
            </a:r>
          </a:p>
        </p:txBody>
      </p:sp>
      <p:sp>
        <p:nvSpPr>
          <p:cNvPr id="23" name="Forma 23"/>
          <p:cNvSpPr/>
          <p:nvPr/>
        </p:nvSpPr>
        <p:spPr>
          <a:xfrm>
            <a:off x="5486400" y="4023360"/>
            <a:ext cx="384048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Identidad central, token fuera del navegador</a:t>
            </a:r>
          </a:p>
        </p:txBody>
      </p:sp>
      <p:sp>
        <p:nvSpPr>
          <p:cNvPr id="24" name="Forma 24"/>
          <p:cNvSpPr/>
          <p:nvPr/>
        </p:nvSpPr>
        <p:spPr>
          <a:xfrm>
            <a:off x="9326880" y="4023360"/>
            <a:ext cx="219456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AD05, 12, 13, 15, 18, 22</a:t>
            </a:r>
          </a:p>
        </p:txBody>
      </p:sp>
      <p:sp>
        <p:nvSpPr>
          <p:cNvPr id="25" name="Forma 25"/>
          <p:cNvSpPr/>
          <p:nvPr/>
        </p:nvSpPr>
        <p:spPr>
          <a:xfrm>
            <a:off x="640080" y="4498848"/>
            <a:ext cx="4846320" cy="475488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DA06 Integraciones externas</a:t>
            </a:r>
          </a:p>
        </p:txBody>
      </p:sp>
      <p:sp>
        <p:nvSpPr>
          <p:cNvPr id="26" name="Forma 26"/>
          <p:cNvSpPr/>
          <p:nvPr/>
        </p:nvSpPr>
        <p:spPr>
          <a:xfrm>
            <a:off x="5486400" y="4498848"/>
            <a:ext cx="3840480" cy="475488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Puertos por proveedor</a:t>
            </a:r>
          </a:p>
        </p:txBody>
      </p:sp>
      <p:sp>
        <p:nvSpPr>
          <p:cNvPr id="27" name="Forma 27"/>
          <p:cNvSpPr/>
          <p:nvPr/>
        </p:nvSpPr>
        <p:spPr>
          <a:xfrm>
            <a:off x="9326880" y="4498848"/>
            <a:ext cx="2194560" cy="475488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AD07, 09, 16, 17</a:t>
            </a:r>
          </a:p>
        </p:txBody>
      </p:sp>
      <p:sp>
        <p:nvSpPr>
          <p:cNvPr id="28" name="Forma 28"/>
          <p:cNvSpPr/>
          <p:nvPr/>
        </p:nvSpPr>
        <p:spPr>
          <a:xfrm>
            <a:off x="640080" y="4974336"/>
            <a:ext cx="484632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DA09 Recursos gratuitos ARM</a:t>
            </a:r>
          </a:p>
        </p:txBody>
      </p:sp>
      <p:sp>
        <p:nvSpPr>
          <p:cNvPr id="29" name="Forma 29"/>
          <p:cNvSpPr/>
          <p:nvPr/>
        </p:nvSpPr>
        <p:spPr>
          <a:xfrm>
            <a:off x="5486400" y="4974336"/>
            <a:ext cx="384048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Pocos servicios, imágenes multi-arch</a:t>
            </a:r>
          </a:p>
        </p:txBody>
      </p:sp>
      <p:sp>
        <p:nvSpPr>
          <p:cNvPr id="30" name="Forma 30"/>
          <p:cNvSpPr/>
          <p:nvPr/>
        </p:nvSpPr>
        <p:spPr>
          <a:xfrm>
            <a:off x="9326880" y="4974336"/>
            <a:ext cx="219456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AD02, 10, 11</a:t>
            </a:r>
          </a:p>
        </p:txBody>
      </p:sp>
      <p:sp>
        <p:nvSpPr>
          <p:cNvPr id="31" name="Forma 31"/>
          <p:cNvSpPr/>
          <p:nvPr/>
        </p:nvSpPr>
        <p:spPr>
          <a:xfrm>
            <a:off x="640080" y="5449824"/>
            <a:ext cx="4846320" cy="475488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DA12 Libros digitales</a:t>
            </a:r>
          </a:p>
        </p:txBody>
      </p:sp>
      <p:sp>
        <p:nvSpPr>
          <p:cNvPr id="32" name="Forma 32"/>
          <p:cNvSpPr/>
          <p:nvPr/>
        </p:nvSpPr>
        <p:spPr>
          <a:xfrm>
            <a:off x="5486400" y="5449824"/>
            <a:ext cx="3840480" cy="475488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Almacén de objetos y URL firmada</a:t>
            </a:r>
          </a:p>
        </p:txBody>
      </p:sp>
      <p:sp>
        <p:nvSpPr>
          <p:cNvPr id="33" name="Forma 33"/>
          <p:cNvSpPr/>
          <p:nvPr/>
        </p:nvSpPr>
        <p:spPr>
          <a:xfrm>
            <a:off x="9326880" y="5449824"/>
            <a:ext cx="2194560" cy="475488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AD19, 20</a:t>
            </a:r>
          </a:p>
        </p:txBody>
      </p:sp>
      <p:sp>
        <p:nvSpPr>
          <p:cNvPr id="34" name="Forma 34"/>
          <p:cNvSpPr/>
          <p:nvPr/>
        </p:nvSpPr>
        <p:spPr>
          <a:xfrm>
            <a:off x="640080" y="5925312"/>
            <a:ext cx="484632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DA13 – DA17 Abuso, privacidad, LLM</a:t>
            </a:r>
          </a:p>
        </p:txBody>
      </p:sp>
      <p:sp>
        <p:nvSpPr>
          <p:cNvPr id="35" name="Forma 35"/>
          <p:cNvSpPr/>
          <p:nvPr/>
        </p:nvSpPr>
        <p:spPr>
          <a:xfrm>
            <a:off x="5486400" y="5925312"/>
            <a:ext cx="384048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Límites, retención, asistente aislado</a:t>
            </a:r>
          </a:p>
        </p:txBody>
      </p:sp>
      <p:sp>
        <p:nvSpPr>
          <p:cNvPr id="36" name="Forma 36"/>
          <p:cNvSpPr/>
          <p:nvPr/>
        </p:nvSpPr>
        <p:spPr>
          <a:xfrm>
            <a:off x="9326880" y="5925312"/>
            <a:ext cx="2194560" cy="475488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AD24 a AD30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RESPALDO 3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C4 nivel 1: contexto del sistema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18</a:t>
            </a:r>
          </a:p>
        </p:txBody>
      </p:sp>
      <p:sp>
        <p:nvSpPr>
          <p:cNvPr id="7" name="Forma 7"/>
          <p:cNvSpPr/>
          <p:nvPr/>
        </p:nvSpPr>
        <p:spPr>
          <a:xfrm>
            <a:off x="1737360" y="1600200"/>
            <a:ext cx="8686800" cy="4663440"/>
          </a:xfrm>
          <a:prstGeom prst="rect">
            <a:avLst/>
          </a:prstGeom>
          <a:solidFill>
            <a:srgbClr val="FFFFFF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pic>
        <p:nvPicPr>
          <p:cNvPr id="8" name="Imagen 8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2240280" y="1645920"/>
            <a:ext cx="7680960" cy="3895344"/>
          </a:xfrm>
          <a:prstGeom prst="rect">
            <a:avLst/>
          </a:prstGeom>
        </p:spPr>
      </p:pic>
      <p:sp>
        <p:nvSpPr>
          <p:cNvPr id="9" name="Forma 9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endParaRPr lang="es-PE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RESPALDO 4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C4 nivel 2: contenedores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19</a:t>
            </a:r>
          </a:p>
        </p:txBody>
      </p:sp>
      <p:sp>
        <p:nvSpPr>
          <p:cNvPr id="7" name="Forma 7"/>
          <p:cNvSpPr/>
          <p:nvPr/>
        </p:nvSpPr>
        <p:spPr>
          <a:xfrm>
            <a:off x="2651760" y="1554480"/>
            <a:ext cx="6858000" cy="47091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pic>
        <p:nvPicPr>
          <p:cNvPr id="8" name="Imagen 8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2770632" y="1600200"/>
            <a:ext cx="6656832" cy="4572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RESPALDO 5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Componentes de Inventario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20</a:t>
            </a:r>
          </a:p>
        </p:txBody>
      </p:sp>
      <p:sp>
        <p:nvSpPr>
          <p:cNvPr id="7" name="Forma 7"/>
          <p:cNvSpPr/>
          <p:nvPr/>
        </p:nvSpPr>
        <p:spPr>
          <a:xfrm>
            <a:off x="822960" y="1645920"/>
            <a:ext cx="10515600" cy="44805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pic>
        <p:nvPicPr>
          <p:cNvPr id="8" name="Imagen 8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1097280" y="1737360"/>
            <a:ext cx="9966960" cy="3886200"/>
          </a:xfrm>
          <a:prstGeom prst="rect">
            <a:avLst/>
          </a:prstGeom>
        </p:spPr>
      </p:pic>
      <p:sp>
        <p:nvSpPr>
          <p:cNvPr id="9" name="Forma 9"/>
          <p:cNvSpPr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5B6490"/>
                </a:solidFill>
                <a:latin typeface="Segoe UI"/>
                <a:cs typeface="Segoe UI"/>
              </a:rPr>
              <a:t>FUE · SEL · TRA · AJU · expiración de reservas · auditoría; los puertos los implementa la Infraestructura.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RESPALDO 6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Componentes de E-commerce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21</a:t>
            </a:r>
          </a:p>
        </p:txBody>
      </p:sp>
      <p:sp>
        <p:nvSpPr>
          <p:cNvPr id="7" name="Forma 7"/>
          <p:cNvSpPr/>
          <p:nvPr/>
        </p:nvSpPr>
        <p:spPr>
          <a:xfrm>
            <a:off x="822960" y="1645920"/>
            <a:ext cx="10515600" cy="44805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pic>
        <p:nvPicPr>
          <p:cNvPr id="8" name="Imagen 8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1188720" y="1691640"/>
            <a:ext cx="9784080" cy="423367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RESPALDO 7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Requisitos por componente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22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600200"/>
            <a:ext cx="3383280" cy="329184"/>
          </a:xfrm>
          <a:prstGeom prst="rect">
            <a:avLst/>
          </a:prstGeom>
          <a:solidFill>
            <a:srgbClr val="172554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BF5E8"/>
                </a:solidFill>
                <a:latin typeface="Segoe UI"/>
                <a:cs typeface="Segoe UI"/>
              </a:rPr>
              <a:t>Componente (spec)</a:t>
            </a:r>
          </a:p>
        </p:txBody>
      </p:sp>
      <p:sp>
        <p:nvSpPr>
          <p:cNvPr id="8" name="Forma 8"/>
          <p:cNvSpPr/>
          <p:nvPr/>
        </p:nvSpPr>
        <p:spPr>
          <a:xfrm>
            <a:off x="4023360" y="1600200"/>
            <a:ext cx="7498080" cy="329184"/>
          </a:xfrm>
          <a:prstGeom prst="rect">
            <a:avLst/>
          </a:prstGeom>
          <a:solidFill>
            <a:srgbClr val="172554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BF5E8"/>
                </a:solidFill>
                <a:latin typeface="Segoe UI"/>
                <a:cs typeface="Segoe UI"/>
              </a:rPr>
              <a:t>Familia de requisitos que cumple</a:t>
            </a:r>
          </a:p>
        </p:txBody>
      </p:sp>
      <p:sp>
        <p:nvSpPr>
          <p:cNvPr id="9" name="Forma 9"/>
          <p:cNvSpPr/>
          <p:nvPr/>
        </p:nvSpPr>
        <p:spPr>
          <a:xfrm>
            <a:off x="640080" y="1929384"/>
            <a:ext cx="3383280" cy="32918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Fuentes y rutas (FUE)</a:t>
            </a:r>
          </a:p>
        </p:txBody>
      </p:sp>
      <p:sp>
        <p:nvSpPr>
          <p:cNvPr id="10" name="Forma 10"/>
          <p:cNvSpPr/>
          <p:nvPr/>
        </p:nvSpPr>
        <p:spPr>
          <a:xfrm>
            <a:off x="4023360" y="1929384"/>
            <a:ext cx="7498080" cy="32918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Registrar fuentes y stock; stock vendible; consulta por sucursal</a:t>
            </a:r>
          </a:p>
        </p:txBody>
      </p:sp>
      <p:sp>
        <p:nvSpPr>
          <p:cNvPr id="11" name="Forma 11"/>
          <p:cNvSpPr/>
          <p:nvPr/>
        </p:nvSpPr>
        <p:spPr>
          <a:xfrm>
            <a:off x="640080" y="2258568"/>
            <a:ext cx="3383280" cy="32918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Reservas y selección (SEL)</a:t>
            </a:r>
          </a:p>
        </p:txBody>
      </p:sp>
      <p:sp>
        <p:nvSpPr>
          <p:cNvPr id="12" name="Forma 12"/>
          <p:cNvSpPr/>
          <p:nvPr/>
        </p:nvSpPr>
        <p:spPr>
          <a:xfrm>
            <a:off x="4023360" y="2258568"/>
            <a:ext cx="7498080" cy="32918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Reservar antes de cobrar; elegir la sucursal; límites contra el acaparamiento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2587752"/>
            <a:ext cx="3383280" cy="32918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Traslados (TRA)</a:t>
            </a:r>
          </a:p>
        </p:txBody>
      </p:sp>
      <p:sp>
        <p:nvSpPr>
          <p:cNvPr id="14" name="Forma 14"/>
          <p:cNvSpPr/>
          <p:nvPr/>
        </p:nvSpPr>
        <p:spPr>
          <a:xfrm>
            <a:off x="4023360" y="2587752"/>
            <a:ext cx="7498080" cy="32918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Mover mercadería entre sucursales con estado, trazabilidad y avisos</a:t>
            </a:r>
          </a:p>
        </p:txBody>
      </p:sp>
      <p:sp>
        <p:nvSpPr>
          <p:cNvPr id="15" name="Forma 15"/>
          <p:cNvSpPr/>
          <p:nvPr/>
        </p:nvSpPr>
        <p:spPr>
          <a:xfrm>
            <a:off x="640080" y="2916936"/>
            <a:ext cx="3383280" cy="32918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Ajustes (AJU)</a:t>
            </a:r>
          </a:p>
        </p:txBody>
      </p:sp>
      <p:sp>
        <p:nvSpPr>
          <p:cNvPr id="16" name="Forma 16"/>
          <p:cNvSpPr/>
          <p:nvPr/>
        </p:nvSpPr>
        <p:spPr>
          <a:xfrm>
            <a:off x="4023360" y="2916936"/>
            <a:ext cx="7498080" cy="32918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Merma, daño y conteo con motivo y responsable</a:t>
            </a:r>
          </a:p>
        </p:txBody>
      </p:sp>
      <p:sp>
        <p:nvSpPr>
          <p:cNvPr id="17" name="Forma 17"/>
          <p:cNvSpPr/>
          <p:nvPr/>
        </p:nvSpPr>
        <p:spPr>
          <a:xfrm>
            <a:off x="640080" y="3246120"/>
            <a:ext cx="3383280" cy="32918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Catálogo (CAT)</a:t>
            </a:r>
          </a:p>
        </p:txBody>
      </p:sp>
      <p:sp>
        <p:nvSpPr>
          <p:cNvPr id="18" name="Forma 18"/>
          <p:cNvSpPr/>
          <p:nvPr/>
        </p:nvSpPr>
        <p:spPr>
          <a:xfrm>
            <a:off x="4023360" y="3246120"/>
            <a:ext cx="7498080" cy="32918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Buscar y gestionar libros; licencias digitales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3575304"/>
            <a:ext cx="3383280" cy="32918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Carrito y pagos (CAR, PAG)</a:t>
            </a:r>
          </a:p>
        </p:txBody>
      </p:sp>
      <p:sp>
        <p:nvSpPr>
          <p:cNvPr id="20" name="Forma 20"/>
          <p:cNvSpPr/>
          <p:nvPr/>
        </p:nvSpPr>
        <p:spPr>
          <a:xfrm>
            <a:off x="4023360" y="3575304"/>
            <a:ext cx="7498080" cy="32918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Carrito persistente; validar stock real; cobrar una vez, sin datos de tarjeta</a:t>
            </a:r>
          </a:p>
        </p:txBody>
      </p:sp>
      <p:sp>
        <p:nvSpPr>
          <p:cNvPr id="21" name="Forma 21"/>
          <p:cNvSpPr/>
          <p:nvPr/>
        </p:nvSpPr>
        <p:spPr>
          <a:xfrm>
            <a:off x="640080" y="3904488"/>
            <a:ext cx="3383280" cy="32918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Pedidos (PED)</a:t>
            </a:r>
          </a:p>
        </p:txBody>
      </p:sp>
      <p:sp>
        <p:nvSpPr>
          <p:cNvPr id="22" name="Forma 22"/>
          <p:cNvSpPr/>
          <p:nvPr/>
        </p:nvSpPr>
        <p:spPr>
          <a:xfrm>
            <a:off x="4023360" y="3904488"/>
            <a:ext cx="7498080" cy="32918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Estados por línea, recojo, cancelación y anulación</a:t>
            </a:r>
          </a:p>
        </p:txBody>
      </p:sp>
      <p:sp>
        <p:nvSpPr>
          <p:cNvPr id="23" name="Forma 23"/>
          <p:cNvSpPr/>
          <p:nvPr/>
        </p:nvSpPr>
        <p:spPr>
          <a:xfrm>
            <a:off x="640080" y="4233672"/>
            <a:ext cx="3383280" cy="32918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Biblioteca digital (BIB)</a:t>
            </a:r>
          </a:p>
        </p:txBody>
      </p:sp>
      <p:sp>
        <p:nvSpPr>
          <p:cNvPr id="24" name="Forma 24"/>
          <p:cNvSpPr/>
          <p:nvPr/>
        </p:nvSpPr>
        <p:spPr>
          <a:xfrm>
            <a:off x="4023360" y="4233672"/>
            <a:ext cx="7498080" cy="32918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Acceso inmediato y descarga protegida</a:t>
            </a:r>
          </a:p>
        </p:txBody>
      </p:sp>
      <p:sp>
        <p:nvSpPr>
          <p:cNvPr id="25" name="Forma 25"/>
          <p:cNvSpPr/>
          <p:nvPr/>
        </p:nvSpPr>
        <p:spPr>
          <a:xfrm>
            <a:off x="640080" y="4562856"/>
            <a:ext cx="3383280" cy="32918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Envíos, devoluciones, reclamos</a:t>
            </a:r>
          </a:p>
        </p:txBody>
      </p:sp>
      <p:sp>
        <p:nvSpPr>
          <p:cNvPr id="26" name="Forma 26"/>
          <p:cNvSpPr/>
          <p:nvPr/>
        </p:nvSpPr>
        <p:spPr>
          <a:xfrm>
            <a:off x="4023360" y="4562856"/>
            <a:ext cx="7498080" cy="32918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Guías; devolver y reembolsar; Libro de Reclamaciones (ENV, DEV, REC)</a:t>
            </a:r>
          </a:p>
        </p:txBody>
      </p:sp>
      <p:sp>
        <p:nvSpPr>
          <p:cNvPr id="27" name="Forma 27"/>
          <p:cNvSpPr/>
          <p:nvPr/>
        </p:nvSpPr>
        <p:spPr>
          <a:xfrm>
            <a:off x="640080" y="4892040"/>
            <a:ext cx="3383280" cy="32918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Identidad (IDE)</a:t>
            </a:r>
          </a:p>
        </p:txBody>
      </p:sp>
      <p:sp>
        <p:nvSpPr>
          <p:cNvPr id="28" name="Forma 28"/>
          <p:cNvSpPr/>
          <p:nvPr/>
        </p:nvSpPr>
        <p:spPr>
          <a:xfrm>
            <a:off x="4023360" y="4892040"/>
            <a:ext cx="7498080" cy="32918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Autenticación, roles y sucursal, segundo factor, derechos ARCO</a:t>
            </a:r>
          </a:p>
        </p:txBody>
      </p:sp>
      <p:sp>
        <p:nvSpPr>
          <p:cNvPr id="29" name="Forma 29"/>
          <p:cNvSpPr/>
          <p:nvPr/>
        </p:nvSpPr>
        <p:spPr>
          <a:xfrm>
            <a:off x="640080" y="5221224"/>
            <a:ext cx="3383280" cy="32918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Asistente y Web (ASI, WEB, IND)</a:t>
            </a:r>
          </a:p>
        </p:txBody>
      </p:sp>
      <p:sp>
        <p:nvSpPr>
          <p:cNvPr id="30" name="Forma 30"/>
          <p:cNvSpPr/>
          <p:nvPr/>
        </p:nvSpPr>
        <p:spPr>
          <a:xfrm>
            <a:off x="4023360" y="5221224"/>
            <a:ext cx="7498080" cy="32918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Orientar con datos reales; interfaz responsiva y accesible</a:t>
            </a:r>
          </a:p>
        </p:txBody>
      </p:sp>
      <p:sp>
        <p:nvSpPr>
          <p:cNvPr id="31" name="Forma 31"/>
          <p:cNvSpPr/>
          <p:nvPr/>
        </p:nvSpPr>
        <p:spPr>
          <a:xfrm>
            <a:off x="640080" y="5550408"/>
            <a:ext cx="3383280" cy="32918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Transversales (NOT, AUD, SEG)</a:t>
            </a:r>
          </a:p>
        </p:txBody>
      </p:sp>
      <p:sp>
        <p:nvSpPr>
          <p:cNvPr id="32" name="Forma 32"/>
          <p:cNvSpPr/>
          <p:nvPr/>
        </p:nvSpPr>
        <p:spPr>
          <a:xfrm>
            <a:off x="4023360" y="5550408"/>
            <a:ext cx="7498080" cy="32918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172554"/>
                </a:solidFill>
                <a:latin typeface="Segoe UI"/>
                <a:cs typeface="Segoe UI"/>
              </a:rPr>
              <a:t>Avisos que no bloquean; auditoría; límites y eventos de seguridad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RESPALDO 8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Seguridad y privacidad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23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691640"/>
            <a:ext cx="3474720" cy="20574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8" name="Forma 8"/>
          <p:cNvSpPr/>
          <p:nvPr/>
        </p:nvSpPr>
        <p:spPr>
          <a:xfrm>
            <a:off x="822960" y="182880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AMENAZAS Y CONTROLES</a:t>
            </a:r>
          </a:p>
        </p:txBody>
      </p:sp>
      <p:sp>
        <p:nvSpPr>
          <p:cNvPr id="9" name="Forma 9"/>
          <p:cNvSpPr/>
          <p:nvPr/>
        </p:nvSpPr>
        <p:spPr>
          <a:xfrm>
            <a:off x="822960" y="224028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172554"/>
                </a:solidFill>
                <a:latin typeface="Segoe UI"/>
                <a:cs typeface="Segoe UI"/>
              </a:rPr>
              <a:t>27 amenazas (AM) y 38 controles basados en ASVS 5.0</a:t>
            </a:r>
          </a:p>
        </p:txBody>
      </p:sp>
      <p:sp>
        <p:nvSpPr>
          <p:cNvPr id="10" name="Forma 10"/>
          <p:cNvSpPr/>
          <p:nvPr/>
        </p:nvSpPr>
        <p:spPr>
          <a:xfrm>
            <a:off x="4361688" y="1691640"/>
            <a:ext cx="3474720" cy="20574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1" name="Forma 11"/>
          <p:cNvSpPr/>
          <p:nvPr/>
        </p:nvSpPr>
        <p:spPr>
          <a:xfrm>
            <a:off x="4544568" y="182880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AUTENTICACIÓN</a:t>
            </a:r>
          </a:p>
        </p:txBody>
      </p:sp>
      <p:sp>
        <p:nvSpPr>
          <p:cNvPr id="12" name="Forma 12"/>
          <p:cNvSpPr/>
          <p:nvPr/>
        </p:nvSpPr>
        <p:spPr>
          <a:xfrm>
            <a:off x="4544568" y="224028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172554"/>
                </a:solidFill>
                <a:latin typeface="Segoe UI"/>
                <a:cs typeface="Segoe UI"/>
              </a:rPr>
              <a:t>Credencial de 15 min, segundo factor para el personal y alcance por sucursal</a:t>
            </a:r>
          </a:p>
        </p:txBody>
      </p:sp>
      <p:sp>
        <p:nvSpPr>
          <p:cNvPr id="13" name="Forma 13"/>
          <p:cNvSpPr/>
          <p:nvPr/>
        </p:nvSpPr>
        <p:spPr>
          <a:xfrm>
            <a:off x="8083296" y="1691640"/>
            <a:ext cx="3474720" cy="20574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4" name="Forma 14"/>
          <p:cNvSpPr/>
          <p:nvPr/>
        </p:nvSpPr>
        <p:spPr>
          <a:xfrm>
            <a:off x="8266176" y="182880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PRIVACIDAD</a:t>
            </a:r>
          </a:p>
        </p:txBody>
      </p:sp>
      <p:sp>
        <p:nvSpPr>
          <p:cNvPr id="15" name="Forma 15"/>
          <p:cNvSpPr/>
          <p:nvPr/>
        </p:nvSpPr>
        <p:spPr>
          <a:xfrm>
            <a:off x="8266176" y="224028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172554"/>
                </a:solidFill>
                <a:latin typeface="Segoe UI"/>
                <a:cs typeface="Segoe UI"/>
              </a:rPr>
              <a:t>Ley N.° 29733: minimización, consentimiento, derechos ARCO y retención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3931920"/>
            <a:ext cx="3474720" cy="20574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17" name="Forma 17"/>
          <p:cNvSpPr/>
          <p:nvPr/>
        </p:nvSpPr>
        <p:spPr>
          <a:xfrm>
            <a:off x="822960" y="40690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API E INTEGRACIONES</a:t>
            </a:r>
          </a:p>
        </p:txBody>
      </p:sp>
      <p:sp>
        <p:nvSpPr>
          <p:cNvPr id="18" name="Forma 18"/>
          <p:cNvSpPr/>
          <p:nvPr/>
        </p:nvSpPr>
        <p:spPr>
          <a:xfrm>
            <a:off x="822960" y="448056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172554"/>
                </a:solidFill>
                <a:latin typeface="Segoe UI"/>
                <a:cs typeface="Segoe UI"/>
              </a:rPr>
              <a:t>Límites de uso en el borde y en la Aplicación; secretos en variables de entorno</a:t>
            </a:r>
          </a:p>
        </p:txBody>
      </p:sp>
      <p:sp>
        <p:nvSpPr>
          <p:cNvPr id="19" name="Forma 19"/>
          <p:cNvSpPr/>
          <p:nvPr/>
        </p:nvSpPr>
        <p:spPr>
          <a:xfrm>
            <a:off x="4361688" y="3931920"/>
            <a:ext cx="3474720" cy="20574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20" name="Forma 20"/>
          <p:cNvSpPr/>
          <p:nvPr/>
        </p:nvSpPr>
        <p:spPr>
          <a:xfrm>
            <a:off x="4544568" y="40690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ASISTENTE</a:t>
            </a:r>
          </a:p>
        </p:txBody>
      </p:sp>
      <p:sp>
        <p:nvSpPr>
          <p:cNvPr id="21" name="Forma 21"/>
          <p:cNvSpPr/>
          <p:nvPr/>
        </p:nvSpPr>
        <p:spPr>
          <a:xfrm>
            <a:off x="4544568" y="448056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172554"/>
                </a:solidFill>
                <a:latin typeface="Segoe UI"/>
                <a:cs typeface="Segoe UI"/>
              </a:rPr>
              <a:t>Sin acceso a bases de datos; credencial de solo lectura; salida como texto</a:t>
            </a:r>
          </a:p>
        </p:txBody>
      </p:sp>
      <p:sp>
        <p:nvSpPr>
          <p:cNvPr id="22" name="Forma 22"/>
          <p:cNvSpPr/>
          <p:nvPr/>
        </p:nvSpPr>
        <p:spPr>
          <a:xfrm>
            <a:off x="8083296" y="3931920"/>
            <a:ext cx="3474720" cy="2057400"/>
          </a:xfrm>
          <a:prstGeom prst="roundRect">
            <a:avLst>
              <a:gd name="adj" fmla="val 8000"/>
            </a:avLst>
          </a:prstGeom>
          <a:solidFill>
            <a:srgbClr val="F5EBD8"/>
          </a:solidFill>
          <a:ln w="15875">
            <a:solidFill>
              <a:srgbClr val="D9C9A5"/>
            </a:solidFill>
          </a:ln>
        </p:spPr>
        <p:txBody>
          <a:bodyPr wrap="square" lIns="128016" tIns="128016" rIns="128016" bIns="128016" anchor="t" rtlCol="0">
            <a:noAutofit/>
          </a:bodyPr>
          <a:lstStyle/>
          <a:p>
            <a:endParaRPr lang="es-PE"/>
          </a:p>
        </p:txBody>
      </p:sp>
      <p:sp>
        <p:nvSpPr>
          <p:cNvPr id="23" name="Forma 23"/>
          <p:cNvSpPr/>
          <p:nvPr/>
        </p:nvSpPr>
        <p:spPr>
          <a:xfrm>
            <a:off x="8266176" y="40690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OPERACIÓN</a:t>
            </a:r>
          </a:p>
        </p:txBody>
      </p:sp>
      <p:sp>
        <p:nvSpPr>
          <p:cNvPr id="24" name="Forma 24"/>
          <p:cNvSpPr/>
          <p:nvPr/>
        </p:nvSpPr>
        <p:spPr>
          <a:xfrm>
            <a:off x="8266176" y="448056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172554"/>
                </a:solidFill>
                <a:latin typeface="Segoe UI"/>
                <a:cs typeface="Segoe UI"/>
              </a:rPr>
              <a:t>Escaneo y SBOM en CI, respaldos cifrados y respuesta a incidentes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RESPALDO 9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Despliegue, límites y pruebas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24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645920"/>
            <a:ext cx="6949440" cy="4206240"/>
          </a:xfrm>
          <a:prstGeom prst="rect">
            <a:avLst/>
          </a:prstGeom>
          <a:solidFill>
            <a:srgbClr val="FFFFFF"/>
          </a:solidFill>
          <a:ln w="15875">
            <a:solidFill>
              <a:srgbClr val="D9C9A5"/>
            </a:solidFill>
          </a:ln>
        </p:spPr>
        <p:txBody>
          <a:bodyPr wrap="square" lIns="91440" tIns="91440" rIns="91440" bIns="91440" anchor="t" rtlCol="0">
            <a:noAutofit/>
          </a:bodyPr>
          <a:lstStyle/>
          <a:p>
            <a:endParaRPr lang="es-PE"/>
          </a:p>
        </p:txBody>
      </p:sp>
      <p:pic>
        <p:nvPicPr>
          <p:cNvPr id="8" name="Imagen 8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731520" y="1920240"/>
            <a:ext cx="6766560" cy="4059936"/>
          </a:xfrm>
          <a:prstGeom prst="rect">
            <a:avLst/>
          </a:prstGeom>
        </p:spPr>
      </p:pic>
      <p:sp>
        <p:nvSpPr>
          <p:cNvPr id="9" name="Forma 9"/>
          <p:cNvSpPr/>
          <p:nvPr/>
        </p:nvSpPr>
        <p:spPr>
          <a:xfrm>
            <a:off x="7863840" y="1737360"/>
            <a:ext cx="3657600" cy="42062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Oracle Free Tier: 2 OCPU y 12 GB ARM en total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Puertos 80 y 443 cerrados; entra el túnel saliente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PostgreSQL solo accesible desde la VM de aplicaciones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Pruebas: xUnit, Testcontainers, Playwright y k6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172554"/>
                </a:solidFill>
                <a:latin typeface="Segoe UI"/>
                <a:cs typeface="Segoe UI"/>
              </a:rPr>
              <a:t>k6: objetivo, no resultado medido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5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B5352A"/>
                </a:solidFill>
                <a:latin typeface="Segoe UI"/>
                <a:cs typeface="Segoe UI"/>
              </a:rPr>
              <a:t>RESPALDO 10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dirty="0">
                <a:solidFill>
                  <a:srgbClr val="172554"/>
                </a:solidFill>
                <a:latin typeface="Georgia"/>
                <a:cs typeface="Georgia"/>
              </a:rPr>
              <a:t>Glosario</a:t>
            </a:r>
          </a:p>
        </p:txBody>
      </p:sp>
      <p:cxnSp>
        <p:nvCxnSpPr>
          <p:cNvPr id="4" name="Linea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 cap="rnd">
            <a:solidFill>
              <a:srgbClr val="D9C9A5"/>
            </a:solidFill>
            <a:round/>
          </a:ln>
        </p:spPr>
      </p:cxnSp>
      <p:sp>
        <p:nvSpPr>
          <p:cNvPr id="5" name="Forma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BabelHub · Arquitectura de Software (IS-488) · UNSCH</a:t>
            </a:r>
          </a:p>
        </p:txBody>
      </p:sp>
      <p:sp>
        <p:nvSpPr>
          <p:cNvPr id="6" name="Forma 6"/>
          <p:cNvSpPr/>
          <p:nvPr/>
        </p:nvSpPr>
        <p:spPr>
          <a:xfrm>
            <a:off x="10607040" y="6446520"/>
            <a:ext cx="941832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5B6490"/>
                </a:solidFill>
                <a:latin typeface="Segoe UI"/>
                <a:cs typeface="Segoe UI"/>
              </a:rPr>
              <a:t>25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1645920"/>
            <a:ext cx="2651760" cy="512064"/>
          </a:xfrm>
          <a:prstGeom prst="rect">
            <a:avLst/>
          </a:prstGeom>
          <a:solidFill>
            <a:srgbClr val="172554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FBF5E8"/>
                </a:solidFill>
                <a:latin typeface="Segoe UI"/>
                <a:cs typeface="Segoe UI"/>
              </a:rPr>
              <a:t>Término</a:t>
            </a:r>
          </a:p>
        </p:txBody>
      </p:sp>
      <p:sp>
        <p:nvSpPr>
          <p:cNvPr id="8" name="Forma 8"/>
          <p:cNvSpPr/>
          <p:nvPr/>
        </p:nvSpPr>
        <p:spPr>
          <a:xfrm>
            <a:off x="3291840" y="1645920"/>
            <a:ext cx="8229600" cy="512064"/>
          </a:xfrm>
          <a:prstGeom prst="rect">
            <a:avLst/>
          </a:prstGeom>
          <a:solidFill>
            <a:srgbClr val="172554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FBF5E8"/>
                </a:solidFill>
                <a:latin typeface="Segoe UI"/>
                <a:cs typeface="Segoe UI"/>
              </a:rPr>
              <a:t>Significado</a:t>
            </a:r>
          </a:p>
        </p:txBody>
      </p:sp>
      <p:sp>
        <p:nvSpPr>
          <p:cNvPr id="9" name="Forma 9"/>
          <p:cNvSpPr/>
          <p:nvPr/>
        </p:nvSpPr>
        <p:spPr>
          <a:xfrm>
            <a:off x="640080" y="2157984"/>
            <a:ext cx="2651760" cy="51206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Fuente</a:t>
            </a:r>
          </a:p>
        </p:txBody>
      </p:sp>
      <p:sp>
        <p:nvSpPr>
          <p:cNvPr id="10" name="Forma 10"/>
          <p:cNvSpPr/>
          <p:nvPr/>
        </p:nvSpPr>
        <p:spPr>
          <a:xfrm>
            <a:off x="3291840" y="2157984"/>
            <a:ext cx="8229600" cy="51206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Lugar que guarda stock de libros impresos; cada sucursal es una fuente</a:t>
            </a:r>
          </a:p>
        </p:txBody>
      </p:sp>
      <p:sp>
        <p:nvSpPr>
          <p:cNvPr id="11" name="Forma 11"/>
          <p:cNvSpPr/>
          <p:nvPr/>
        </p:nvSpPr>
        <p:spPr>
          <a:xfrm>
            <a:off x="640080" y="2670048"/>
            <a:ext cx="2651760" cy="51206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Stock vendible</a:t>
            </a:r>
          </a:p>
        </p:txBody>
      </p:sp>
      <p:sp>
        <p:nvSpPr>
          <p:cNvPr id="12" name="Forma 12"/>
          <p:cNvSpPr/>
          <p:nvPr/>
        </p:nvSpPr>
        <p:spPr>
          <a:xfrm>
            <a:off x="3291840" y="2670048"/>
            <a:ext cx="8229600" cy="51206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Stock físico menos reservas activas; nunca negativo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3182112"/>
            <a:ext cx="2651760" cy="51206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Reserva</a:t>
            </a:r>
          </a:p>
        </p:txBody>
      </p:sp>
      <p:sp>
        <p:nvSpPr>
          <p:cNvPr id="14" name="Forma 14"/>
          <p:cNvSpPr/>
          <p:nvPr/>
        </p:nvSpPr>
        <p:spPr>
          <a:xfrm>
            <a:off x="3291840" y="3182112"/>
            <a:ext cx="8229600" cy="51206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Apartado temporal de unidades para un pedido en curso (15 minutos)</a:t>
            </a:r>
          </a:p>
        </p:txBody>
      </p:sp>
      <p:sp>
        <p:nvSpPr>
          <p:cNvPr id="15" name="Forma 15"/>
          <p:cNvSpPr/>
          <p:nvPr/>
        </p:nvSpPr>
        <p:spPr>
          <a:xfrm>
            <a:off x="640080" y="3694176"/>
            <a:ext cx="2651760" cy="51206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Traslado</a:t>
            </a:r>
          </a:p>
        </p:txBody>
      </p:sp>
      <p:sp>
        <p:nvSpPr>
          <p:cNvPr id="16" name="Forma 16"/>
          <p:cNvSpPr/>
          <p:nvPr/>
        </p:nvSpPr>
        <p:spPr>
          <a:xfrm>
            <a:off x="3291840" y="3694176"/>
            <a:ext cx="8229600" cy="51206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Movimiento de ejemplares entre dos fuentes, con estado y trazabilidad</a:t>
            </a:r>
          </a:p>
        </p:txBody>
      </p:sp>
      <p:sp>
        <p:nvSpPr>
          <p:cNvPr id="17" name="Forma 17"/>
          <p:cNvSpPr/>
          <p:nvPr/>
        </p:nvSpPr>
        <p:spPr>
          <a:xfrm>
            <a:off x="640080" y="4206240"/>
            <a:ext cx="2651760" cy="51206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Idempotencia</a:t>
            </a:r>
          </a:p>
        </p:txBody>
      </p:sp>
      <p:sp>
        <p:nvSpPr>
          <p:cNvPr id="18" name="Forma 18"/>
          <p:cNvSpPr/>
          <p:nvPr/>
        </p:nvSpPr>
        <p:spPr>
          <a:xfrm>
            <a:off x="3291840" y="4206240"/>
            <a:ext cx="8229600" cy="51206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Repetir una operación no la duplica (cobros y reservas)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4718304"/>
            <a:ext cx="2651760" cy="51206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URL firmada</a:t>
            </a:r>
          </a:p>
        </p:txBody>
      </p:sp>
      <p:sp>
        <p:nvSpPr>
          <p:cNvPr id="20" name="Forma 20"/>
          <p:cNvSpPr/>
          <p:nvPr/>
        </p:nvSpPr>
        <p:spPr>
          <a:xfrm>
            <a:off x="3291840" y="4718304"/>
            <a:ext cx="8229600" cy="51206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Enlace temporal (5 minutos como máximo) para descargar un archivo</a:t>
            </a:r>
          </a:p>
        </p:txBody>
      </p:sp>
      <p:sp>
        <p:nvSpPr>
          <p:cNvPr id="21" name="Forma 21"/>
          <p:cNvSpPr/>
          <p:nvPr/>
        </p:nvSpPr>
        <p:spPr>
          <a:xfrm>
            <a:off x="640080" y="5230368"/>
            <a:ext cx="2651760" cy="51206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Spec</a:t>
            </a:r>
          </a:p>
        </p:txBody>
      </p:sp>
      <p:sp>
        <p:nvSpPr>
          <p:cNvPr id="22" name="Forma 22"/>
          <p:cNvSpPr/>
          <p:nvPr/>
        </p:nvSpPr>
        <p:spPr>
          <a:xfrm>
            <a:off x="3291840" y="5230368"/>
            <a:ext cx="8229600" cy="512064"/>
          </a:xfrm>
          <a:prstGeom prst="rect">
            <a:avLst/>
          </a:prstGeom>
          <a:solidFill>
            <a:srgbClr val="F5EBD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Descripción del comportamiento de un componente, con criterios de aceptación</a:t>
            </a:r>
          </a:p>
        </p:txBody>
      </p:sp>
      <p:sp>
        <p:nvSpPr>
          <p:cNvPr id="23" name="Forma 23"/>
          <p:cNvSpPr/>
          <p:nvPr/>
        </p:nvSpPr>
        <p:spPr>
          <a:xfrm>
            <a:off x="640080" y="5742432"/>
            <a:ext cx="2651760" cy="51206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24" name="Forma 24"/>
          <p:cNvSpPr/>
          <p:nvPr/>
        </p:nvSpPr>
        <p:spPr>
          <a:xfrm>
            <a:off x="3291840" y="5742432"/>
            <a:ext cx="8229600" cy="512064"/>
          </a:xfrm>
          <a:prstGeom prst="rect">
            <a:avLst/>
          </a:prstGeom>
          <a:solidFill>
            <a:srgbClr val="FBF5E8"/>
          </a:solidFill>
          <a:ln w="9525">
            <a:solidFill>
              <a:srgbClr val="D9C9A5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300" dirty="0">
                <a:solidFill>
                  <a:srgbClr val="172554"/>
                </a:solidFill>
                <a:latin typeface="Segoe UI"/>
                <a:cs typeface="Segoe UI"/>
              </a:rPr>
              <a:t>Modelo de vistas de la arquitectura: contexto, contenedores y componentes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>
  <Application>Microsoft Office PowerPoint</Application>
  <Slides>25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BabelHub: de los requisitos a la arquitectura</dc:title>
  <dc:creator>Diego Rodrigo Amiquero Antonio</dc:creator>
  <dcterms:created xsi:type="dcterms:W3CDTF">2026-10-16T00:00:00Z</dcterms:created>
</cp:coreProperties>
</file>